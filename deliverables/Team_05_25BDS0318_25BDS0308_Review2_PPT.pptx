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05, Sharvesh Prabhu and Nithin S. Our project is SonicAtlas: an exploratory data analysis of more than one million Spotify tracks, delivered as a website that runs SQL queries inside the browser. In this review we show the finished design, the cleaned data and our first analysis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we take large public Spotify tables, clean them carefully, analyse them with the methods from our syllabus, and put everything into a website. These seven objectives are measurable, and each one maps to a notebook in our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25 published papers. This table shows five representative ones. The common gaps are: results are fixed figures that readers cannot re-slice, audio and lyrics are studied separately, data cleaning is rarely described, and generic EDA tools are not music-aware.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has two halves. On the left, Python notebooks clean the data and compute statistics, embeddings and clusters, and export small Parquet files. On the right, the browser loads DuckDB compiled to WebAssembly, which runs SQL on those files locally. So there is no server, the data stays private, and hosting on GitHub Pages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downloaded three public Kaggle datasets. 2,777 tracks had a tempo of zero, which is impossible, so we treated it as missing and used MICE. To prove MICE works we hid 5 percent of known values: its error was 57.5% lower than mean filling for energy. We flagged re-issues and outliers instead of deleting them. The genre table only matched 10.7% of tracks, and we report that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uses exactly the conventions from our tutorials. Speechiness has skewness 4.24 and excess kurtosis 22.3: most songs are sung, with a long tail of spoken tracks. Danceability is almost symmetric. Loudness is left-skewed because quiet classical and ambient tracks pull the tail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shows three trade-offs: loud songs are energetic, energetic songs are not acoustic, and happy-sounding songs are a bit more danceable. Pearson and Spearman agree, so these are not caused by outliers. On the right, parallel coordinates show each genre's fingerprint across seven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PCA's first component is an electric-versus-acoustic axis and explains 33.5% of variance. On a stratified sample of 10,000 tracks, t-SNE preserves neighbourhoods best with trustworthiness 0.98. Silhouette by genre is slightly negative for every method, which tells us genres overlap in Spotify's feature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honest status. Data, cleaning, descriptive statistics, multivariate plots, dimensionality reduction, time series and hypothesis tests are complete. The website and the remaining notebooks are in progress, and the final report and paper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steps are to complete the website pages, finish the lyrics and network analysis, run the automated profiling tools, and write the IEEE paper. These are some of the key papers we built on.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3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5B6178"/>
                </a:solidFill>
                <a:latin typeface="Calibri" pitchFamily="34" charset="0"/>
                <a:ea typeface="Calibri" pitchFamily="34" charset="-122"/>
                <a:cs typeface="Calibri" pitchFamily="34" charset="-120"/>
              </a:rPr>
              <a:t>Team 05  |  SonicAtlas  |  BACSE301 Exploratory Data Analysis</a:t>
            </a:r>
            <a:endParaRPr lang="en-US" sz="1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5486400" cy="457200"/>
          </a:xfrm>
          <a:prstGeom prst="rect">
            <a:avLst/>
          </a:prstGeom>
          <a:noFill/>
          <a:ln/>
        </p:spPr>
        <p:txBody>
          <a:bodyPr wrap="square" lIns="0" tIns="0" rIns="0" bIns="0" rtlCol="0" anchor="ctr"/>
          <a:lstStyle/>
          <a:p>
            <a:pPr indent="0" marL="0">
              <a:buNone/>
            </a:pPr>
            <a:r>
              <a:rPr lang="en-US" sz="1800" b="1" spc="600" kern="0" dirty="0">
                <a:solidFill>
                  <a:srgbClr val="F2A541"/>
                </a:solidFill>
              </a:rPr>
              <a:t>SONICATLAS</a:t>
            </a:r>
            <a:endParaRPr lang="en-US" sz="1800" dirty="0"/>
          </a:p>
        </p:txBody>
      </p:sp>
      <p:sp>
        <p:nvSpPr>
          <p:cNvPr id="3" name="Text 1"/>
          <p:cNvSpPr txBox="1"/>
          <p:nvPr/>
        </p:nvSpPr>
        <p:spPr>
          <a:xfrm>
            <a:off x="640080" y="1097280"/>
            <a:ext cx="7498080" cy="1828800"/>
          </a:xfrm>
          <a:prstGeom prst="rect">
            <a:avLst/>
          </a:prstGeom>
          <a:noFill/>
          <a:ln/>
        </p:spPr>
        <p:txBody>
          <a:bodyPr wrap="square" lIns="0" tIns="0" rIns="0" bIns="0" rtlCol="0" anchor="t"/>
          <a:lstStyle/>
          <a:p>
            <a:pPr indent="0" marL="0">
              <a:buNone/>
            </a:pPr>
            <a:r>
              <a:rPr lang="en-US" sz="3200" b="1" dirty="0">
                <a:solidFill>
                  <a:srgbClr val="FFFFFF"/>
                </a:solidFill>
              </a:rPr>
              <a:t>An Interactive In-Browser EDA Platform for Spotify Audio Features and Lyrics Across Genres and Eras</a:t>
            </a:r>
            <a:endParaRPr lang="en-US" sz="3200" dirty="0"/>
          </a:p>
        </p:txBody>
      </p:sp>
      <p:sp>
        <p:nvSpPr>
          <p:cNvPr id="4" name="Text 2"/>
          <p:cNvSpPr txBox="1"/>
          <p:nvPr/>
        </p:nvSpPr>
        <p:spPr>
          <a:xfrm>
            <a:off x="640080" y="3108960"/>
            <a:ext cx="7589520" cy="457200"/>
          </a:xfrm>
          <a:prstGeom prst="rect">
            <a:avLst/>
          </a:prstGeom>
          <a:noFill/>
          <a:ln/>
        </p:spPr>
        <p:txBody>
          <a:bodyPr wrap="square" lIns="0" tIns="0" rIns="0" bIns="0" rtlCol="0" anchor="ctr"/>
          <a:lstStyle/>
          <a:p>
            <a:pPr indent="0" marL="0">
              <a:buNone/>
            </a:pPr>
            <a:r>
              <a:rPr lang="en-US" sz="2200" b="1" dirty="0">
                <a:solidFill>
                  <a:srgbClr val="F2A541"/>
                </a:solidFill>
              </a:rPr>
              <a:t>Review-2  |  Design complete, implementation in progress</a:t>
            </a:r>
            <a:endParaRPr lang="en-US" sz="2200" dirty="0"/>
          </a:p>
        </p:txBody>
      </p:sp>
      <p:sp>
        <p:nvSpPr>
          <p:cNvPr id="5" name="Text 3"/>
          <p:cNvSpPr txBox="1"/>
          <p:nvPr/>
        </p:nvSpPr>
        <p:spPr>
          <a:xfrm>
            <a:off x="640080" y="3749040"/>
            <a:ext cx="5486400" cy="1188720"/>
          </a:xfrm>
          <a:prstGeom prst="rect">
            <a:avLst/>
          </a:prstGeom>
          <a:noFill/>
          <a:ln/>
        </p:spPr>
        <p:txBody>
          <a:bodyPr wrap="square" lIns="0" tIns="0" rIns="0" bIns="0" rtlCol="0" anchor="t"/>
          <a:lstStyle/>
          <a:p>
            <a:pPr indent="0" marL="0">
              <a:buNone/>
            </a:pPr>
            <a:r>
              <a:rPr lang="en-US" sz="1800" b="1" dirty="0">
                <a:solidFill>
                  <a:srgbClr val="FFFFFF"/>
                </a:solidFill>
              </a:rPr>
              <a:t>Team 05</a:t>
            </a:r>
            <a:endParaRPr lang="en-US" sz="1800" dirty="0"/>
          </a:p>
          <a:p>
            <a:pPr indent="0" marL="0">
              <a:buNone/>
            </a:pPr>
            <a:r>
              <a:rPr lang="en-US" sz="1800" dirty="0">
                <a:solidFill>
                  <a:srgbClr val="FFFFFF"/>
                </a:solidFill>
              </a:rPr>
              <a:t>25BDS0318  Sharvesh Prabhu</a:t>
            </a:r>
            <a:endParaRPr lang="en-US" sz="1800" dirty="0"/>
          </a:p>
          <a:p>
            <a:pPr indent="0" marL="0">
              <a:buNone/>
            </a:pPr>
            <a:r>
              <a:rPr lang="en-US" sz="1800" dirty="0">
                <a:solidFill>
                  <a:srgbClr val="FFFFFF"/>
                </a:solidFill>
              </a:rPr>
              <a:t>25BDS0308  Nithin S</a:t>
            </a:r>
            <a:endParaRPr lang="en-US" sz="1800" dirty="0"/>
          </a:p>
        </p:txBody>
      </p:sp>
      <p:sp>
        <p:nvSpPr>
          <p:cNvPr id="6" name="Text 4"/>
          <p:cNvSpPr txBox="1"/>
          <p:nvPr/>
        </p:nvSpPr>
        <p:spPr>
          <a:xfrm>
            <a:off x="640080" y="5120640"/>
            <a:ext cx="8229600" cy="1005840"/>
          </a:xfrm>
          <a:prstGeom prst="rect">
            <a:avLst/>
          </a:prstGeom>
          <a:noFill/>
          <a:ln/>
        </p:spPr>
        <p:txBody>
          <a:bodyPr wrap="square" lIns="0" tIns="0" rIns="0" bIns="0" rtlCol="0" anchor="t"/>
          <a:lstStyle/>
          <a:p>
            <a:pPr indent="0" marL="0">
              <a:buNone/>
            </a:pPr>
            <a:r>
              <a:rPr lang="en-US" sz="1500" dirty="0">
                <a:solidFill>
                  <a:srgbClr val="C9CDDB"/>
                </a:solidFill>
              </a:rPr>
              <a:t>BACSE301 Exploratory Data Analysis (Project-based Course)</a:t>
            </a:r>
            <a:endParaRPr lang="en-US" sz="1500" dirty="0"/>
          </a:p>
          <a:p>
            <a:pPr indent="0" marL="0">
              <a:buNone/>
            </a:pPr>
            <a:r>
              <a:rPr lang="en-US" sz="1500" dirty="0">
                <a:solidFill>
                  <a:srgbClr val="C9CDDB"/>
                </a:solidFill>
              </a:rPr>
              <a:t>Faculty: ____________</a:t>
            </a:r>
            <a:endParaRPr lang="en-US" sz="1500" dirty="0"/>
          </a:p>
          <a:p>
            <a:pPr indent="0" marL="0">
              <a:buNone/>
            </a:pPr>
            <a:r>
              <a:rPr lang="en-US" sz="1500" dirty="0">
                <a:solidFill>
                  <a:srgbClr val="C9CDDB"/>
                </a:solidFill>
              </a:rPr>
              <a:t>School of Computer Science and Engineering, VIT Vellore  |  October 2026</a:t>
            </a:r>
            <a:endParaRPr lang="en-US" sz="1500" dirty="0"/>
          </a:p>
        </p:txBody>
      </p:sp>
      <p:sp>
        <p:nvSpPr>
          <p:cNvPr id="7" name="Shape 5"/>
          <p:cNvSpPr/>
          <p:nvPr/>
        </p:nvSpPr>
        <p:spPr>
          <a:xfrm>
            <a:off x="8412480" y="1097280"/>
            <a:ext cx="3291840" cy="3291840"/>
          </a:xfrm>
          <a:prstGeom prst="roundRect">
            <a:avLst>
              <a:gd name="adj" fmla="val 4167"/>
            </a:avLst>
          </a:prstGeom>
          <a:solidFill>
            <a:srgbClr val="FFFFFF"/>
          </a:solidFill>
          <a:ln w="12700">
            <a:solidFill>
              <a:srgbClr val="FFFFFF"/>
            </a:solidFill>
            <a:prstDash val="solid"/>
          </a:ln>
        </p:spPr>
      </p:sp>
      <p:pic>
        <p:nvPicPr>
          <p:cNvPr id="8" name="Image 0" descr="Acoustic cluster map">    </p:cNvPr>
          <p:cNvPicPr>
            <a:picLocks noChangeAspect="1"/>
          </p:cNvPicPr>
          <p:nvPr/>
        </p:nvPicPr>
        <p:blipFill>
          <a:blip r:embed="rId1"/>
          <a:stretch>
            <a:fillRect/>
          </a:stretch>
        </p:blipFill>
        <p:spPr>
          <a:xfrm>
            <a:off x="8549640" y="1234440"/>
            <a:ext cx="3017520" cy="2665759"/>
          </a:xfrm>
          <a:prstGeom prst="rect">
            <a:avLst/>
          </a:prstGeom>
        </p:spPr>
      </p:pic>
      <p:sp>
        <p:nvSpPr>
          <p:cNvPr id="9" name="Text 6"/>
          <p:cNvSpPr txBox="1"/>
          <p:nvPr/>
        </p:nvSpPr>
        <p:spPr>
          <a:xfrm>
            <a:off x="8412480" y="4480560"/>
            <a:ext cx="3291840" cy="365760"/>
          </a:xfrm>
          <a:prstGeom prst="rect">
            <a:avLst/>
          </a:prstGeom>
          <a:noFill/>
          <a:ln/>
        </p:spPr>
        <p:txBody>
          <a:bodyPr wrap="square" lIns="0" tIns="0" rIns="0" bIns="0" rtlCol="0" anchor="ctr"/>
          <a:lstStyle/>
          <a:p>
            <a:pPr algn="ctr" indent="0" marL="0">
              <a:buNone/>
            </a:pPr>
            <a:r>
              <a:rPr lang="en-US" sz="1200" dirty="0">
                <a:solidFill>
                  <a:srgbClr val="C9CDDB"/>
                </a:solidFill>
              </a:rPr>
              <a:t>Real acoustic map of 10,000 tracks (t-SNE)</a:t>
            </a:r>
            <a:endParaRPr lang="en-US" sz="12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C9CDDB"/>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RECAP: ABSTRACT AND OBJECTIVES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We map how the sound of music changes across genres and eras</a:t>
            </a:r>
            <a:endParaRPr lang="en-US" sz="3000" dirty="0"/>
          </a:p>
        </p:txBody>
      </p:sp>
      <p:sp>
        <p:nvSpPr>
          <p:cNvPr id="4" name="Shape 2"/>
          <p:cNvSpPr/>
          <p:nvPr/>
        </p:nvSpPr>
        <p:spPr>
          <a:xfrm>
            <a:off x="457200" y="1554480"/>
            <a:ext cx="5394960" cy="4572000"/>
          </a:xfrm>
          <a:prstGeom prst="roundRect">
            <a:avLst>
              <a:gd name="adj" fmla="val 2400"/>
            </a:avLst>
          </a:prstGeom>
          <a:solidFill>
            <a:srgbClr val="EEF0F7"/>
          </a:solidFill>
          <a:ln w="12700">
            <a:solidFill>
              <a:srgbClr val="EEF0F7"/>
            </a:solidFill>
            <a:prstDash val="solid"/>
          </a:ln>
        </p:spPr>
      </p:sp>
      <p:sp>
        <p:nvSpPr>
          <p:cNvPr id="5" name="Text 3"/>
          <p:cNvSpPr txBox="1"/>
          <p:nvPr/>
        </p:nvSpPr>
        <p:spPr>
          <a:xfrm>
            <a:off x="640080" y="1664208"/>
            <a:ext cx="5029200" cy="411480"/>
          </a:xfrm>
          <a:prstGeom prst="rect">
            <a:avLst/>
          </a:prstGeom>
          <a:noFill/>
          <a:ln/>
        </p:spPr>
        <p:txBody>
          <a:bodyPr wrap="square" lIns="0" tIns="0" rIns="0" bIns="0" rtlCol="0" anchor="ctr"/>
          <a:lstStyle/>
          <a:p>
            <a:pPr indent="0" marL="0">
              <a:buNone/>
            </a:pPr>
            <a:r>
              <a:rPr lang="en-US" sz="1800" b="1" dirty="0">
                <a:solidFill>
                  <a:srgbClr val="1B1F3B"/>
                </a:solidFill>
              </a:rPr>
              <a:t>Abstract</a:t>
            </a:r>
            <a:endParaRPr lang="en-US" sz="1800" dirty="0"/>
          </a:p>
        </p:txBody>
      </p:sp>
      <p:sp>
        <p:nvSpPr>
          <p:cNvPr id="6" name="Text 4"/>
          <p:cNvSpPr txBox="1"/>
          <p:nvPr/>
        </p:nvSpPr>
        <p:spPr>
          <a:xfrm>
            <a:off x="640080" y="2103120"/>
            <a:ext cx="5029200" cy="3931920"/>
          </a:xfrm>
          <a:prstGeom prst="rect">
            <a:avLst/>
          </a:prstGeom>
          <a:noFill/>
          <a:ln/>
        </p:spPr>
        <p:txBody>
          <a:bodyPr wrap="square" lIns="0" tIns="0" rIns="0" bIns="0" rtlCol="0" anchor="t"/>
          <a:lstStyle/>
          <a:p>
            <a:pPr indent="0" marL="0">
              <a:spcAft>
                <a:spcPts val="400"/>
              </a:spcAft>
              <a:buNone/>
            </a:pPr>
            <a:r>
              <a:rPr lang="en-US" sz="1700" dirty="0">
                <a:solidFill>
                  <a:srgbClr val="1B1F3B"/>
                </a:solidFill>
              </a:rPr>
              <a:t>Public Spotify tables describe each track with audio features such as energy, valence and danceability. We clean 1,204,025 tracks (1900-2020) plus a genre table of 89,740 tracks in 114 genres and Genius lyrics, explore them with the course methods, and publish the results in a serverless, in-browser query tool.</a:t>
            </a:r>
            <a:endParaRPr lang="en-US" sz="1700" dirty="0"/>
          </a:p>
        </p:txBody>
      </p:sp>
      <p:sp>
        <p:nvSpPr>
          <p:cNvPr id="7" name="Text 5"/>
          <p:cNvSpPr txBox="1"/>
          <p:nvPr/>
        </p:nvSpPr>
        <p:spPr>
          <a:xfrm>
            <a:off x="6217920" y="1554480"/>
            <a:ext cx="5486400" cy="411480"/>
          </a:xfrm>
          <a:prstGeom prst="rect">
            <a:avLst/>
          </a:prstGeom>
          <a:noFill/>
          <a:ln/>
        </p:spPr>
        <p:txBody>
          <a:bodyPr wrap="square" lIns="0" tIns="0" rIns="0" bIns="0" rtlCol="0" anchor="ctr"/>
          <a:lstStyle/>
          <a:p>
            <a:pPr indent="0" marL="0">
              <a:buNone/>
            </a:pPr>
            <a:r>
              <a:rPr lang="en-US" sz="2000" b="1" dirty="0">
                <a:solidFill>
                  <a:srgbClr val="1B1F3B"/>
                </a:solidFill>
              </a:rPr>
              <a:t>Objectives</a:t>
            </a:r>
            <a:endParaRPr lang="en-US" sz="2000" dirty="0"/>
          </a:p>
        </p:txBody>
      </p:sp>
      <p:sp>
        <p:nvSpPr>
          <p:cNvPr id="8" name="Text 6"/>
          <p:cNvSpPr txBox="1"/>
          <p:nvPr/>
        </p:nvSpPr>
        <p:spPr>
          <a:xfrm>
            <a:off x="6217920" y="2057400"/>
            <a:ext cx="5486400" cy="4023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1B1F3B"/>
                </a:solidFill>
              </a:rPr>
              <a:t>Clean 1M+ tracks; validate MICE by masking 5% of values</a:t>
            </a:r>
            <a:endParaRPr lang="en-US" sz="1600" dirty="0"/>
          </a:p>
          <a:p>
            <a:pPr marL="342900" indent="-342900">
              <a:spcAft>
                <a:spcPts val="600"/>
              </a:spcAft>
              <a:buSzPct val="100000"/>
              <a:buFont typeface="+mj-lt"/>
              <a:buAutoNum type="arabicPeriod" startAt="1"/>
            </a:pPr>
            <a:r>
              <a:rPr lang="en-US" sz="1600" dirty="0">
                <a:solidFill>
                  <a:srgbClr val="1B1F3B"/>
                </a:solidFill>
              </a:rPr>
              <a:t>Descriptive stats in course conventions (n-1, Tukey IQR, G1, G2)</a:t>
            </a:r>
            <a:endParaRPr lang="en-US" sz="1600" dirty="0"/>
          </a:p>
          <a:p>
            <a:pPr marL="342900" indent="-342900">
              <a:spcAft>
                <a:spcPts val="600"/>
              </a:spcAft>
              <a:buSzPct val="100000"/>
              <a:buFont typeface="+mj-lt"/>
              <a:buAutoNum type="arabicPeriod" startAt="1"/>
            </a:pPr>
            <a:r>
              <a:rPr lang="en-US" sz="1600" dirty="0">
                <a:solidFill>
                  <a:srgbClr val="1B1F3B"/>
                </a:solidFill>
              </a:rPr>
              <a:t>Correlation and multivariate genre fingerprints</a:t>
            </a:r>
            <a:endParaRPr lang="en-US" sz="1600" dirty="0"/>
          </a:p>
          <a:p>
            <a:pPr marL="342900" indent="-342900">
              <a:spcAft>
                <a:spcPts val="600"/>
              </a:spcAft>
              <a:buSzPct val="100000"/>
              <a:buFont typeface="+mj-lt"/>
              <a:buAutoNum type="arabicPeriod" startAt="1"/>
            </a:pPr>
            <a:r>
              <a:rPr lang="en-US" sz="1600" dirty="0">
                <a:solidFill>
                  <a:srgbClr val="1B1F3B"/>
                </a:solidFill>
              </a:rPr>
              <a:t>Compare PCA, t-SNE, LLE, UMAP; name acoustic clusters</a:t>
            </a:r>
            <a:endParaRPr lang="en-US" sz="1600" dirty="0"/>
          </a:p>
          <a:p>
            <a:pPr marL="342900" indent="-342900">
              <a:spcAft>
                <a:spcPts val="600"/>
              </a:spcAft>
              <a:buSzPct val="100000"/>
              <a:buFont typeface="+mj-lt"/>
              <a:buAutoNum type="arabicPeriod" startAt="1"/>
            </a:pPr>
            <a:r>
              <a:rPr lang="en-US" sz="1600" dirty="0">
                <a:solidFill>
                  <a:srgbClr val="1B1F3B"/>
                </a:solidFill>
              </a:rPr>
              <a:t>Trends, STL seasonality, change points, forecast</a:t>
            </a:r>
            <a:endParaRPr lang="en-US" sz="1600" dirty="0"/>
          </a:p>
          <a:p>
            <a:pPr marL="342900" indent="-342900">
              <a:spcAft>
                <a:spcPts val="600"/>
              </a:spcAft>
              <a:buSzPct val="100000"/>
              <a:buFont typeface="+mj-lt"/>
              <a:buAutoNum type="arabicPeriod" startAt="1"/>
            </a:pPr>
            <a:r>
              <a:rPr lang="en-US" sz="1600" dirty="0">
                <a:solidFill>
                  <a:srgbClr val="1B1F3B"/>
                </a:solidFill>
              </a:rPr>
              <a:t>ANOVA, chi-square, feature selection; lyrics sentiment</a:t>
            </a:r>
            <a:endParaRPr lang="en-US" sz="1600" dirty="0"/>
          </a:p>
          <a:p>
            <a:pPr marL="342900" indent="-342900">
              <a:spcAft>
                <a:spcPts val="600"/>
              </a:spcAft>
              <a:buSzPct val="100000"/>
              <a:buFont typeface="+mj-lt"/>
              <a:buAutoNum type="arabicPeriod" startAt="1"/>
            </a:pPr>
            <a:r>
              <a:rPr lang="en-US" sz="1600" dirty="0">
                <a:solidFill>
                  <a:srgbClr val="1B1F3B"/>
                </a:solidFill>
              </a:rPr>
              <a:t>In-browser SQL with lite-data queries under 1 second</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LITERATURE SURVEY AND GAPS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Prior work is static and studies sound and words apart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47120" cy="914400"/>
        </p:xfrm>
        <a:graphic>
          <a:graphicData uri="http://schemas.openxmlformats.org/drawingml/2006/table">
            <a:tbl>
              <a:tblPr/>
              <a:tblGrid>
                <a:gridCol w="2651760"/>
                <a:gridCol w="4572000"/>
                <a:gridCol w="4023360"/>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Study</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they did</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Gap SonicAtlas addresses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J. Serrà et al. (2012)</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Tracked pitch, timbre and loudness of Western pop over 50+ years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Static figures; no genre-level or interactive view</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M. Interiano et al. (2018)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Linked audio features of 500k UK releases to chart success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No lyrics; results cannot be re-sliced by readers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C. O. Brand et al. (2019)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Measured rising negativity in song lyrics over 50 years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Lyrics only; audio mood not compared</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 van der Maaten et al. (2008)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Introduced t-SNE for 2-D maps of high-dimensional data</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Global distances unreliable; no music benchmark</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D. H. da Silva et al. (2025)</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Streamlit web app for EDA and ML on medical data</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Needs a server; not music-aware</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bl>
          </a:graphicData>
        </a:graphic>
      </p:graphicFrame>
      <p:sp>
        <p:nvSpPr>
          <p:cNvPr id="5" name="Shape 2"/>
          <p:cNvSpPr/>
          <p:nvPr/>
        </p:nvSpPr>
        <p:spPr>
          <a:xfrm>
            <a:off x="457200" y="4160520"/>
            <a:ext cx="2651760" cy="1463040"/>
          </a:xfrm>
          <a:prstGeom prst="roundRect">
            <a:avLst>
              <a:gd name="adj" fmla="val 7500"/>
            </a:avLst>
          </a:prstGeom>
          <a:solidFill>
            <a:srgbClr val="EEF0F7"/>
          </a:solidFill>
          <a:ln w="12700">
            <a:solidFill>
              <a:srgbClr val="EEF0F7"/>
            </a:solidFill>
            <a:prstDash val="solid"/>
          </a:ln>
        </p:spPr>
      </p:sp>
      <p:sp>
        <p:nvSpPr>
          <p:cNvPr id="6" name="Text 3"/>
          <p:cNvSpPr txBox="1"/>
          <p:nvPr/>
        </p:nvSpPr>
        <p:spPr>
          <a:xfrm>
            <a:off x="64008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Static results</a:t>
            </a:r>
            <a:endParaRPr lang="en-US" sz="1800" dirty="0"/>
          </a:p>
        </p:txBody>
      </p:sp>
      <p:sp>
        <p:nvSpPr>
          <p:cNvPr id="7" name="Text 4"/>
          <p:cNvSpPr txBox="1"/>
          <p:nvPr/>
        </p:nvSpPr>
        <p:spPr>
          <a:xfrm>
            <a:off x="64008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fixed figures, no re-slicing</a:t>
            </a:r>
            <a:endParaRPr lang="en-US" sz="1600" dirty="0"/>
          </a:p>
        </p:txBody>
      </p:sp>
      <p:sp>
        <p:nvSpPr>
          <p:cNvPr id="8" name="Shape 5"/>
          <p:cNvSpPr/>
          <p:nvPr/>
        </p:nvSpPr>
        <p:spPr>
          <a:xfrm>
            <a:off x="3291840" y="4160520"/>
            <a:ext cx="2651760" cy="1463040"/>
          </a:xfrm>
          <a:prstGeom prst="roundRect">
            <a:avLst>
              <a:gd name="adj" fmla="val 7500"/>
            </a:avLst>
          </a:prstGeom>
          <a:solidFill>
            <a:srgbClr val="EEF0F7"/>
          </a:solidFill>
          <a:ln w="12700">
            <a:solidFill>
              <a:srgbClr val="EEF0F7"/>
            </a:solidFill>
            <a:prstDash val="solid"/>
          </a:ln>
        </p:spPr>
      </p:sp>
      <p:sp>
        <p:nvSpPr>
          <p:cNvPr id="9" name="Text 6"/>
          <p:cNvSpPr txBox="1"/>
          <p:nvPr/>
        </p:nvSpPr>
        <p:spPr>
          <a:xfrm>
            <a:off x="347472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Sound vs words</a:t>
            </a:r>
            <a:endParaRPr lang="en-US" sz="1800" dirty="0"/>
          </a:p>
        </p:txBody>
      </p:sp>
      <p:sp>
        <p:nvSpPr>
          <p:cNvPr id="10" name="Text 7"/>
          <p:cNvSpPr txBox="1"/>
          <p:nvPr/>
        </p:nvSpPr>
        <p:spPr>
          <a:xfrm>
            <a:off x="347472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audio and lyrics never compared</a:t>
            </a:r>
            <a:endParaRPr lang="en-US" sz="1600" dirty="0"/>
          </a:p>
        </p:txBody>
      </p:sp>
      <p:sp>
        <p:nvSpPr>
          <p:cNvPr id="11" name="Shape 8"/>
          <p:cNvSpPr/>
          <p:nvPr/>
        </p:nvSpPr>
        <p:spPr>
          <a:xfrm>
            <a:off x="6126480" y="4160520"/>
            <a:ext cx="2651760" cy="1463040"/>
          </a:xfrm>
          <a:prstGeom prst="roundRect">
            <a:avLst>
              <a:gd name="adj" fmla="val 7500"/>
            </a:avLst>
          </a:prstGeom>
          <a:solidFill>
            <a:srgbClr val="EEF0F7"/>
          </a:solidFill>
          <a:ln w="12700">
            <a:solidFill>
              <a:srgbClr val="EEF0F7"/>
            </a:solidFill>
            <a:prstDash val="solid"/>
          </a:ln>
        </p:spPr>
      </p:sp>
      <p:sp>
        <p:nvSpPr>
          <p:cNvPr id="12" name="Text 9"/>
          <p:cNvSpPr txBox="1"/>
          <p:nvPr/>
        </p:nvSpPr>
        <p:spPr>
          <a:xfrm>
            <a:off x="630936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Data quality</a:t>
            </a:r>
            <a:endParaRPr lang="en-US" sz="1800" dirty="0"/>
          </a:p>
        </p:txBody>
      </p:sp>
      <p:sp>
        <p:nvSpPr>
          <p:cNvPr id="13" name="Text 10"/>
          <p:cNvSpPr txBox="1"/>
          <p:nvPr/>
        </p:nvSpPr>
        <p:spPr>
          <a:xfrm>
            <a:off x="630936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zero tempos, re-issues ignored</a:t>
            </a:r>
            <a:endParaRPr lang="en-US" sz="1600" dirty="0"/>
          </a:p>
        </p:txBody>
      </p:sp>
      <p:sp>
        <p:nvSpPr>
          <p:cNvPr id="14" name="Shape 11"/>
          <p:cNvSpPr/>
          <p:nvPr/>
        </p:nvSpPr>
        <p:spPr>
          <a:xfrm>
            <a:off x="8961120" y="4160520"/>
            <a:ext cx="2651760" cy="1463040"/>
          </a:xfrm>
          <a:prstGeom prst="roundRect">
            <a:avLst>
              <a:gd name="adj" fmla="val 7500"/>
            </a:avLst>
          </a:prstGeom>
          <a:solidFill>
            <a:srgbClr val="EEF0F7"/>
          </a:solidFill>
          <a:ln w="12700">
            <a:solidFill>
              <a:srgbClr val="EEF0F7"/>
            </a:solidFill>
            <a:prstDash val="solid"/>
          </a:ln>
        </p:spPr>
      </p:sp>
      <p:sp>
        <p:nvSpPr>
          <p:cNvPr id="15" name="Text 12"/>
          <p:cNvSpPr txBox="1"/>
          <p:nvPr/>
        </p:nvSpPr>
        <p:spPr>
          <a:xfrm>
            <a:off x="9144000" y="4270248"/>
            <a:ext cx="2286000" cy="411480"/>
          </a:xfrm>
          <a:prstGeom prst="rect">
            <a:avLst/>
          </a:prstGeom>
          <a:noFill/>
          <a:ln/>
        </p:spPr>
        <p:txBody>
          <a:bodyPr wrap="square" lIns="0" tIns="0" rIns="0" bIns="0" rtlCol="0" anchor="ctr"/>
          <a:lstStyle/>
          <a:p>
            <a:pPr indent="0" marL="0">
              <a:buNone/>
            </a:pPr>
            <a:r>
              <a:rPr lang="en-US" sz="1800" b="1" dirty="0">
                <a:solidFill>
                  <a:srgbClr val="1B1F3B"/>
                </a:solidFill>
              </a:rPr>
              <a:t>Generic tools</a:t>
            </a:r>
            <a:endParaRPr lang="en-US" sz="1800" dirty="0"/>
          </a:p>
        </p:txBody>
      </p:sp>
      <p:sp>
        <p:nvSpPr>
          <p:cNvPr id="16" name="Text 13"/>
          <p:cNvSpPr txBox="1"/>
          <p:nvPr/>
        </p:nvSpPr>
        <p:spPr>
          <a:xfrm>
            <a:off x="9144000" y="4709160"/>
            <a:ext cx="2286000" cy="822960"/>
          </a:xfrm>
          <a:prstGeom prst="rect">
            <a:avLst/>
          </a:prstGeom>
          <a:noFill/>
          <a:ln/>
        </p:spPr>
        <p:txBody>
          <a:bodyPr wrap="square" lIns="0" tIns="0" rIns="0" bIns="0" rtlCol="0" anchor="t"/>
          <a:lstStyle/>
          <a:p>
            <a:pPr indent="0" marL="0">
              <a:spcAft>
                <a:spcPts val="400"/>
              </a:spcAft>
              <a:buNone/>
            </a:pPr>
            <a:r>
              <a:rPr lang="en-US" sz="1600" dirty="0">
                <a:solidFill>
                  <a:srgbClr val="1B1F3B"/>
                </a:solidFill>
              </a:rPr>
              <a:t>not music-aware, need a server</a:t>
            </a:r>
            <a:endParaRPr lang="en-US" sz="1600" dirty="0"/>
          </a:p>
        </p:txBody>
      </p:sp>
      <p:sp>
        <p:nvSpPr>
          <p:cNvPr id="17" name="Text 14"/>
          <p:cNvSpPr txBox="1"/>
          <p:nvPr/>
        </p:nvSpPr>
        <p:spPr>
          <a:xfrm>
            <a:off x="457200" y="5897880"/>
            <a:ext cx="10972800" cy="365760"/>
          </a:xfrm>
          <a:prstGeom prst="rect">
            <a:avLst/>
          </a:prstGeom>
          <a:noFill/>
          <a:ln/>
        </p:spPr>
        <p:txBody>
          <a:bodyPr wrap="square" lIns="0" tIns="0" rIns="0" bIns="0" rtlCol="0" anchor="ctr"/>
          <a:lstStyle/>
          <a:p>
            <a:pPr indent="0" marL="0">
              <a:buNone/>
            </a:pPr>
            <a:r>
              <a:rPr lang="en-US" sz="1400" i="1" dirty="0">
                <a:solidFill>
                  <a:srgbClr val="5B6178"/>
                </a:solidFill>
              </a:rPr>
              <a:t>25 verified papers reviewed in the report (Table I).</a:t>
            </a:r>
            <a:endParaRPr lang="en-US" sz="14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PROPOSED SYSTEM AND ARCHITECTURE</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Heavy maths runs offline; querying runs in the user's browser</a:t>
            </a:r>
            <a:endParaRPr lang="en-US" sz="3000" dirty="0"/>
          </a:p>
        </p:txBody>
      </p:sp>
      <p:pic>
        <p:nvPicPr>
          <p:cNvPr id="4" name="Image 0" descr="fig_00_01_system_architecture.png">    </p:cNvPr>
          <p:cNvPicPr>
            <a:picLocks noChangeAspect="1"/>
          </p:cNvPicPr>
          <p:nvPr/>
        </p:nvPicPr>
        <p:blipFill>
          <a:blip r:embed="rId1"/>
          <a:stretch>
            <a:fillRect/>
          </a:stretch>
        </p:blipFill>
        <p:spPr>
          <a:xfrm>
            <a:off x="1812567" y="1463040"/>
            <a:ext cx="8536386" cy="4846320"/>
          </a:xfrm>
          <a:prstGeom prst="rect">
            <a:avLst/>
          </a:prstGeom>
        </p:spPr>
      </p:pic>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DATASET AND PREPROCESSING DONE</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1.2 million tracks cleaned, with every repair measured</a:t>
            </a:r>
            <a:endParaRPr lang="en-US" sz="3000" dirty="0"/>
          </a:p>
        </p:txBody>
      </p:sp>
      <p:sp>
        <p:nvSpPr>
          <p:cNvPr id="4" name="Shape 2"/>
          <p:cNvSpPr/>
          <p:nvPr/>
        </p:nvSpPr>
        <p:spPr>
          <a:xfrm>
            <a:off x="457200" y="1600200"/>
            <a:ext cx="3566160" cy="1417320"/>
          </a:xfrm>
          <a:prstGeom prst="roundRect">
            <a:avLst>
              <a:gd name="adj" fmla="val 7742"/>
            </a:avLst>
          </a:prstGeom>
          <a:solidFill>
            <a:srgbClr val="EEF0F7"/>
          </a:solidFill>
          <a:ln w="12700">
            <a:solidFill>
              <a:srgbClr val="EEF0F7"/>
            </a:solidFill>
            <a:prstDash val="solid"/>
          </a:ln>
        </p:spPr>
      </p:sp>
      <p:sp>
        <p:nvSpPr>
          <p:cNvPr id="5" name="Text 3"/>
          <p:cNvSpPr txBox="1"/>
          <p:nvPr/>
        </p:nvSpPr>
        <p:spPr>
          <a:xfrm>
            <a:off x="594360" y="1709928"/>
            <a:ext cx="3291840" cy="685800"/>
          </a:xfrm>
          <a:prstGeom prst="rect">
            <a:avLst/>
          </a:prstGeom>
          <a:noFill/>
          <a:ln/>
        </p:spPr>
        <p:txBody>
          <a:bodyPr wrap="square" lIns="0" tIns="0" rIns="0" bIns="0" rtlCol="0" anchor="ctr"/>
          <a:lstStyle/>
          <a:p>
            <a:pPr indent="0" marL="0">
              <a:buNone/>
            </a:pPr>
            <a:r>
              <a:rPr lang="en-US" sz="3200" b="1" dirty="0">
                <a:solidFill>
                  <a:srgbClr val="1B1F3B"/>
                </a:solidFill>
              </a:rPr>
              <a:t>1,204,025</a:t>
            </a:r>
            <a:endParaRPr lang="en-US" sz="3200" dirty="0"/>
          </a:p>
        </p:txBody>
      </p:sp>
      <p:sp>
        <p:nvSpPr>
          <p:cNvPr id="6" name="Text 4"/>
          <p:cNvSpPr txBox="1"/>
          <p:nvPr/>
        </p:nvSpPr>
        <p:spPr>
          <a:xfrm>
            <a:off x="594360" y="2377440"/>
            <a:ext cx="3291840" cy="566928"/>
          </a:xfrm>
          <a:prstGeom prst="rect">
            <a:avLst/>
          </a:prstGeom>
          <a:noFill/>
          <a:ln/>
        </p:spPr>
        <p:txBody>
          <a:bodyPr wrap="square" lIns="0" tIns="0" rIns="0" bIns="0" rtlCol="0" anchor="t"/>
          <a:lstStyle/>
          <a:p>
            <a:pPr indent="0" marL="0">
              <a:buNone/>
            </a:pPr>
            <a:r>
              <a:rPr lang="en-US" sz="1400" dirty="0">
                <a:solidFill>
                  <a:srgbClr val="5B6178"/>
                </a:solidFill>
              </a:rPr>
              <a:t>tracks in the main audio table</a:t>
            </a:r>
            <a:endParaRPr lang="en-US" sz="1400" dirty="0"/>
          </a:p>
        </p:txBody>
      </p:sp>
      <p:sp>
        <p:nvSpPr>
          <p:cNvPr id="7" name="Shape 5"/>
          <p:cNvSpPr/>
          <p:nvPr/>
        </p:nvSpPr>
        <p:spPr>
          <a:xfrm>
            <a:off x="4251960" y="1600200"/>
            <a:ext cx="3566160" cy="1417320"/>
          </a:xfrm>
          <a:prstGeom prst="roundRect">
            <a:avLst>
              <a:gd name="adj" fmla="val 7742"/>
            </a:avLst>
          </a:prstGeom>
          <a:solidFill>
            <a:srgbClr val="EEF0F7"/>
          </a:solidFill>
          <a:ln w="12700">
            <a:solidFill>
              <a:srgbClr val="EEF0F7"/>
            </a:solidFill>
            <a:prstDash val="solid"/>
          </a:ln>
        </p:spPr>
      </p:sp>
      <p:sp>
        <p:nvSpPr>
          <p:cNvPr id="8" name="Text 6"/>
          <p:cNvSpPr txBox="1"/>
          <p:nvPr/>
        </p:nvSpPr>
        <p:spPr>
          <a:xfrm>
            <a:off x="4389120" y="1709928"/>
            <a:ext cx="3291840" cy="685800"/>
          </a:xfrm>
          <a:prstGeom prst="rect">
            <a:avLst/>
          </a:prstGeom>
          <a:noFill/>
          <a:ln/>
        </p:spPr>
        <p:txBody>
          <a:bodyPr wrap="square" lIns="0" tIns="0" rIns="0" bIns="0" rtlCol="0" anchor="ctr"/>
          <a:lstStyle/>
          <a:p>
            <a:pPr indent="0" marL="0">
              <a:buNone/>
            </a:pPr>
            <a:r>
              <a:rPr lang="en-US" sz="3200" b="1" dirty="0">
                <a:solidFill>
                  <a:srgbClr val="1B1F3B"/>
                </a:solidFill>
              </a:rPr>
              <a:t>2,777</a:t>
            </a:r>
            <a:endParaRPr lang="en-US" sz="3200" dirty="0"/>
          </a:p>
        </p:txBody>
      </p:sp>
      <p:sp>
        <p:nvSpPr>
          <p:cNvPr id="9" name="Text 7"/>
          <p:cNvSpPr txBox="1"/>
          <p:nvPr/>
        </p:nvSpPr>
        <p:spPr>
          <a:xfrm>
            <a:off x="4389120" y="2377440"/>
            <a:ext cx="3291840" cy="566928"/>
          </a:xfrm>
          <a:prstGeom prst="rect">
            <a:avLst/>
          </a:prstGeom>
          <a:noFill/>
          <a:ln/>
        </p:spPr>
        <p:txBody>
          <a:bodyPr wrap="square" lIns="0" tIns="0" rIns="0" bIns="0" rtlCol="0" anchor="t"/>
          <a:lstStyle/>
          <a:p>
            <a:pPr indent="0" marL="0">
              <a:buNone/>
            </a:pPr>
            <a:r>
              <a:rPr lang="en-US" sz="1400" dirty="0">
                <a:solidFill>
                  <a:srgbClr val="5B6178"/>
                </a:solidFill>
              </a:rPr>
              <a:t>zero-BPM tempos imputed with MICE</a:t>
            </a:r>
            <a:endParaRPr lang="en-US" sz="1400" dirty="0"/>
          </a:p>
        </p:txBody>
      </p:sp>
      <p:sp>
        <p:nvSpPr>
          <p:cNvPr id="10" name="Shape 8"/>
          <p:cNvSpPr/>
          <p:nvPr/>
        </p:nvSpPr>
        <p:spPr>
          <a:xfrm>
            <a:off x="8046720" y="1600200"/>
            <a:ext cx="3566160" cy="1417320"/>
          </a:xfrm>
          <a:prstGeom prst="roundRect">
            <a:avLst>
              <a:gd name="adj" fmla="val 7742"/>
            </a:avLst>
          </a:prstGeom>
          <a:solidFill>
            <a:srgbClr val="EEF0F7"/>
          </a:solidFill>
          <a:ln w="12700">
            <a:solidFill>
              <a:srgbClr val="EEF0F7"/>
            </a:solidFill>
            <a:prstDash val="solid"/>
          </a:ln>
        </p:spPr>
      </p:sp>
      <p:sp>
        <p:nvSpPr>
          <p:cNvPr id="11" name="Text 9"/>
          <p:cNvSpPr txBox="1"/>
          <p:nvPr/>
        </p:nvSpPr>
        <p:spPr>
          <a:xfrm>
            <a:off x="8183880" y="1709928"/>
            <a:ext cx="3291840" cy="685800"/>
          </a:xfrm>
          <a:prstGeom prst="rect">
            <a:avLst/>
          </a:prstGeom>
          <a:noFill/>
          <a:ln/>
        </p:spPr>
        <p:txBody>
          <a:bodyPr wrap="square" lIns="0" tIns="0" rIns="0" bIns="0" rtlCol="0" anchor="ctr"/>
          <a:lstStyle/>
          <a:p>
            <a:pPr indent="0" marL="0">
              <a:buNone/>
            </a:pPr>
            <a:r>
              <a:rPr lang="en-US" sz="3200" b="1" dirty="0">
                <a:solidFill>
                  <a:srgbClr val="1B1F3B"/>
                </a:solidFill>
              </a:rPr>
              <a:t>57.5%</a:t>
            </a:r>
            <a:endParaRPr lang="en-US" sz="3200" dirty="0"/>
          </a:p>
        </p:txBody>
      </p:sp>
      <p:sp>
        <p:nvSpPr>
          <p:cNvPr id="12" name="Text 10"/>
          <p:cNvSpPr txBox="1"/>
          <p:nvPr/>
        </p:nvSpPr>
        <p:spPr>
          <a:xfrm>
            <a:off x="8183880" y="2377440"/>
            <a:ext cx="3291840" cy="566928"/>
          </a:xfrm>
          <a:prstGeom prst="rect">
            <a:avLst/>
          </a:prstGeom>
          <a:noFill/>
          <a:ln/>
        </p:spPr>
        <p:txBody>
          <a:bodyPr wrap="square" lIns="0" tIns="0" rIns="0" bIns="0" rtlCol="0" anchor="t"/>
          <a:lstStyle/>
          <a:p>
            <a:pPr indent="0" marL="0">
              <a:buNone/>
            </a:pPr>
            <a:r>
              <a:rPr lang="en-US" sz="1400" dirty="0">
                <a:solidFill>
                  <a:srgbClr val="5B6178"/>
                </a:solidFill>
              </a:rPr>
              <a:t>lower error than mean imputation (energy, 5% masked)</a:t>
            </a:r>
            <a:endParaRPr lang="en-US" sz="1400" dirty="0"/>
          </a:p>
        </p:txBody>
      </p:sp>
      <p:sp>
        <p:nvSpPr>
          <p:cNvPr id="13" name="Shape 11"/>
          <p:cNvSpPr/>
          <p:nvPr/>
        </p:nvSpPr>
        <p:spPr>
          <a:xfrm>
            <a:off x="457200" y="3246120"/>
            <a:ext cx="3566160" cy="1417320"/>
          </a:xfrm>
          <a:prstGeom prst="roundRect">
            <a:avLst>
              <a:gd name="adj" fmla="val 7742"/>
            </a:avLst>
          </a:prstGeom>
          <a:solidFill>
            <a:srgbClr val="EEF0F7"/>
          </a:solidFill>
          <a:ln w="12700">
            <a:solidFill>
              <a:srgbClr val="EEF0F7"/>
            </a:solidFill>
            <a:prstDash val="solid"/>
          </a:ln>
        </p:spPr>
      </p:sp>
      <p:sp>
        <p:nvSpPr>
          <p:cNvPr id="14" name="Text 12"/>
          <p:cNvSpPr txBox="1"/>
          <p:nvPr/>
        </p:nvSpPr>
        <p:spPr>
          <a:xfrm>
            <a:off x="594360" y="3355848"/>
            <a:ext cx="3291840" cy="685800"/>
          </a:xfrm>
          <a:prstGeom prst="rect">
            <a:avLst/>
          </a:prstGeom>
          <a:noFill/>
          <a:ln/>
        </p:spPr>
        <p:txBody>
          <a:bodyPr wrap="square" lIns="0" tIns="0" rIns="0" bIns="0" rtlCol="0" anchor="ctr"/>
          <a:lstStyle/>
          <a:p>
            <a:pPr indent="0" marL="0">
              <a:buNone/>
            </a:pPr>
            <a:r>
              <a:rPr lang="en-US" sz="3200" b="1" dirty="0">
                <a:solidFill>
                  <a:srgbClr val="1B1F3B"/>
                </a:solidFill>
              </a:rPr>
              <a:t>90,457</a:t>
            </a:r>
            <a:endParaRPr lang="en-US" sz="3200" dirty="0"/>
          </a:p>
        </p:txBody>
      </p:sp>
      <p:sp>
        <p:nvSpPr>
          <p:cNvPr id="15" name="Text 13"/>
          <p:cNvSpPr txBox="1"/>
          <p:nvPr/>
        </p:nvSpPr>
        <p:spPr>
          <a:xfrm>
            <a:off x="594360" y="4023360"/>
            <a:ext cx="3291840" cy="566928"/>
          </a:xfrm>
          <a:prstGeom prst="rect">
            <a:avLst/>
          </a:prstGeom>
          <a:noFill/>
          <a:ln/>
        </p:spPr>
        <p:txBody>
          <a:bodyPr wrap="square" lIns="0" tIns="0" rIns="0" bIns="0" rtlCol="0" anchor="t"/>
          <a:lstStyle/>
          <a:p>
            <a:pPr indent="0" marL="0">
              <a:buNone/>
            </a:pPr>
            <a:r>
              <a:rPr lang="en-US" sz="1400" dirty="0">
                <a:solidFill>
                  <a:srgbClr val="5B6178"/>
                </a:solidFill>
              </a:rPr>
              <a:t>re-issues flagged, kept out of trends</a:t>
            </a:r>
            <a:endParaRPr lang="en-US" sz="1400" dirty="0"/>
          </a:p>
        </p:txBody>
      </p:sp>
      <p:sp>
        <p:nvSpPr>
          <p:cNvPr id="16" name="Shape 14"/>
          <p:cNvSpPr/>
          <p:nvPr/>
        </p:nvSpPr>
        <p:spPr>
          <a:xfrm>
            <a:off x="4251960" y="3246120"/>
            <a:ext cx="3566160" cy="1417320"/>
          </a:xfrm>
          <a:prstGeom prst="roundRect">
            <a:avLst>
              <a:gd name="adj" fmla="val 7742"/>
            </a:avLst>
          </a:prstGeom>
          <a:solidFill>
            <a:srgbClr val="EEF0F7"/>
          </a:solidFill>
          <a:ln w="12700">
            <a:solidFill>
              <a:srgbClr val="EEF0F7"/>
            </a:solidFill>
            <a:prstDash val="solid"/>
          </a:ln>
        </p:spPr>
      </p:sp>
      <p:sp>
        <p:nvSpPr>
          <p:cNvPr id="17" name="Text 15"/>
          <p:cNvSpPr txBox="1"/>
          <p:nvPr/>
        </p:nvSpPr>
        <p:spPr>
          <a:xfrm>
            <a:off x="4389120" y="3355848"/>
            <a:ext cx="3291840" cy="685800"/>
          </a:xfrm>
          <a:prstGeom prst="rect">
            <a:avLst/>
          </a:prstGeom>
          <a:noFill/>
          <a:ln/>
        </p:spPr>
        <p:txBody>
          <a:bodyPr wrap="square" lIns="0" tIns="0" rIns="0" bIns="0" rtlCol="0" anchor="ctr"/>
          <a:lstStyle/>
          <a:p>
            <a:pPr indent="0" marL="0">
              <a:buNone/>
            </a:pPr>
            <a:r>
              <a:rPr lang="en-US" sz="3200" b="1" dirty="0">
                <a:solidFill>
                  <a:srgbClr val="1B1F3B"/>
                </a:solidFill>
              </a:rPr>
              <a:t>24,547</a:t>
            </a:r>
            <a:endParaRPr lang="en-US" sz="3200" dirty="0"/>
          </a:p>
        </p:txBody>
      </p:sp>
      <p:sp>
        <p:nvSpPr>
          <p:cNvPr id="18" name="Text 16"/>
          <p:cNvSpPr txBox="1"/>
          <p:nvPr/>
        </p:nvSpPr>
        <p:spPr>
          <a:xfrm>
            <a:off x="4389120" y="4023360"/>
            <a:ext cx="3291840" cy="566928"/>
          </a:xfrm>
          <a:prstGeom prst="rect">
            <a:avLst/>
          </a:prstGeom>
          <a:noFill/>
          <a:ln/>
        </p:spPr>
        <p:txBody>
          <a:bodyPr wrap="square" lIns="0" tIns="0" rIns="0" bIns="0" rtlCol="0" anchor="t"/>
          <a:lstStyle/>
          <a:p>
            <a:pPr indent="0" marL="0">
              <a:buNone/>
            </a:pPr>
            <a:r>
              <a:rPr lang="en-US" sz="1400" dirty="0">
                <a:solidFill>
                  <a:srgbClr val="5B6178"/>
                </a:solidFill>
              </a:rPr>
              <a:t>Isolation Forest outliers flagged, not dropped</a:t>
            </a:r>
            <a:endParaRPr lang="en-US" sz="1400" dirty="0"/>
          </a:p>
        </p:txBody>
      </p:sp>
      <p:sp>
        <p:nvSpPr>
          <p:cNvPr id="19" name="Shape 17"/>
          <p:cNvSpPr/>
          <p:nvPr/>
        </p:nvSpPr>
        <p:spPr>
          <a:xfrm>
            <a:off x="8046720" y="3246120"/>
            <a:ext cx="3566160" cy="1417320"/>
          </a:xfrm>
          <a:prstGeom prst="roundRect">
            <a:avLst>
              <a:gd name="adj" fmla="val 7742"/>
            </a:avLst>
          </a:prstGeom>
          <a:solidFill>
            <a:srgbClr val="EEF0F7"/>
          </a:solidFill>
          <a:ln w="12700">
            <a:solidFill>
              <a:srgbClr val="EEF0F7"/>
            </a:solidFill>
            <a:prstDash val="solid"/>
          </a:ln>
        </p:spPr>
      </p:sp>
      <p:sp>
        <p:nvSpPr>
          <p:cNvPr id="20" name="Text 18"/>
          <p:cNvSpPr txBox="1"/>
          <p:nvPr/>
        </p:nvSpPr>
        <p:spPr>
          <a:xfrm>
            <a:off x="8183880" y="3355848"/>
            <a:ext cx="3291840" cy="685800"/>
          </a:xfrm>
          <a:prstGeom prst="rect">
            <a:avLst/>
          </a:prstGeom>
          <a:noFill/>
          <a:ln/>
        </p:spPr>
        <p:txBody>
          <a:bodyPr wrap="square" lIns="0" tIns="0" rIns="0" bIns="0" rtlCol="0" anchor="ctr"/>
          <a:lstStyle/>
          <a:p>
            <a:pPr indent="0" marL="0">
              <a:buNone/>
            </a:pPr>
            <a:r>
              <a:rPr lang="en-US" sz="3200" b="1" dirty="0">
                <a:solidFill>
                  <a:srgbClr val="1B1F3B"/>
                </a:solidFill>
              </a:rPr>
              <a:t>10.7%</a:t>
            </a:r>
            <a:endParaRPr lang="en-US" sz="3200" dirty="0"/>
          </a:p>
        </p:txBody>
      </p:sp>
      <p:sp>
        <p:nvSpPr>
          <p:cNvPr id="21" name="Text 19"/>
          <p:cNvSpPr txBox="1"/>
          <p:nvPr/>
        </p:nvSpPr>
        <p:spPr>
          <a:xfrm>
            <a:off x="8183880" y="4023360"/>
            <a:ext cx="3291840" cy="566928"/>
          </a:xfrm>
          <a:prstGeom prst="rect">
            <a:avLst/>
          </a:prstGeom>
          <a:noFill/>
          <a:ln/>
        </p:spPr>
        <p:txBody>
          <a:bodyPr wrap="square" lIns="0" tIns="0" rIns="0" bIns="0" rtlCol="0" anchor="t"/>
          <a:lstStyle/>
          <a:p>
            <a:pPr indent="0" marL="0">
              <a:buNone/>
            </a:pPr>
            <a:r>
              <a:rPr lang="en-US" sz="1400" dirty="0">
                <a:solidFill>
                  <a:srgbClr val="5B6178"/>
                </a:solidFill>
              </a:rPr>
              <a:t>genre table matched to audio table (honest)</a:t>
            </a:r>
            <a:endParaRPr lang="en-US" sz="1400" dirty="0"/>
          </a:p>
        </p:txBody>
      </p:sp>
      <p:sp>
        <p:nvSpPr>
          <p:cNvPr id="22" name="Text 20"/>
          <p:cNvSpPr txBox="1"/>
          <p:nvPr/>
        </p:nvSpPr>
        <p:spPr>
          <a:xfrm>
            <a:off x="457200" y="5074920"/>
            <a:ext cx="11247120" cy="411480"/>
          </a:xfrm>
          <a:prstGeom prst="rect">
            <a:avLst/>
          </a:prstGeom>
          <a:noFill/>
          <a:ln/>
        </p:spPr>
        <p:txBody>
          <a:bodyPr wrap="square" lIns="0" tIns="0" rIns="0" bIns="0" rtlCol="0" anchor="ctr"/>
          <a:lstStyle/>
          <a:p>
            <a:pPr indent="0" marL="0">
              <a:buNone/>
            </a:pPr>
            <a:r>
              <a:rPr lang="en-US" sz="1600" dirty="0">
                <a:solidFill>
                  <a:srgbClr val="1B1F3B"/>
                </a:solidFill>
              </a:rPr>
              <a:t>Duration skew G1 8.04 -&gt; 0.23 after log1p; Min-Max and z-score tables stored separately.</a:t>
            </a:r>
            <a:endParaRPr lang="en-US" sz="1600" dirty="0"/>
          </a:p>
        </p:txBody>
      </p:sp>
      <p:sp>
        <p:nvSpPr>
          <p:cNvPr id="23" name="Text 21"/>
          <p:cNvSpPr txBox="1"/>
          <p:nvPr/>
        </p:nvSpPr>
        <p:spPr>
          <a:xfrm>
            <a:off x="457200" y="5577840"/>
            <a:ext cx="11247120" cy="548640"/>
          </a:xfrm>
          <a:prstGeom prst="rect">
            <a:avLst/>
          </a:prstGeom>
          <a:noFill/>
          <a:ln/>
        </p:spPr>
        <p:txBody>
          <a:bodyPr wrap="square" lIns="0" tIns="0" rIns="0" bIns="0" rtlCol="0" anchor="ctr"/>
          <a:lstStyle/>
          <a:p>
            <a:pPr indent="0" marL="0">
              <a:buNone/>
            </a:pPr>
            <a:r>
              <a:rPr lang="en-US" sz="1200" dirty="0">
                <a:solidFill>
                  <a:srgbClr val="5B6178"/>
                </a:solidFill>
              </a:rPr>
              <a:t>Sources: Kaggle rodolfofigueroa/spotify-12m-songs, maharshipandya/-spotify-tracks-dataset, carlosgdcj/genius-song-lyrics-with-language-information</a:t>
            </a:r>
            <a:endParaRPr lang="en-US" sz="12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DESCRIPTIVE STATISTICS RESULTS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Speechiness and duration are right-skewed; danceability is not</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6675120" cy="914400"/>
        </p:xfrm>
        <a:graphic>
          <a:graphicData uri="http://schemas.openxmlformats.org/drawingml/2006/table">
            <a:tbl>
              <a:tblPr/>
              <a:tblGrid>
                <a:gridCol w="1737360"/>
                <a:gridCol w="868680"/>
                <a:gridCol w="868680"/>
                <a:gridCol w="1005840"/>
                <a:gridCol w="822960"/>
                <a:gridCol w="685800"/>
                <a:gridCol w="685800"/>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Feature</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Mean</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Median</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Var (n-1)</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IQR</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G1</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G2</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danceability</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0.493</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0.501</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0.036</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0.277</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-0.10</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-0.61</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energy</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0.510</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0.524</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0.087</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0.514</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-1.22</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loudness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-11.809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-9.791</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48.750</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8.537</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-1.28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1.78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speechiness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0.084</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0.045</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0.013</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0.037</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4.24</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22.35</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acousticness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0.447</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0.389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0.148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0.823</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0.16</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-1.64</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valence</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0.428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0.403</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0.073</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0.453</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0.25</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-1.05</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tempo</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117.899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116.838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925.307</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42.753</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-0.29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duration_min</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4.147</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3.739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7.309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1.863</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8.04</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146.28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bl>
          </a:graphicData>
        </a:graphic>
      </p:graphicFrame>
      <p:pic>
        <p:nvPicPr>
          <p:cNvPr id="5" name="Image 0" descr="fig_03_01_feature_histograms_kde.png">    </p:cNvPr>
          <p:cNvPicPr>
            <a:picLocks noChangeAspect="1"/>
          </p:cNvPicPr>
          <p:nvPr/>
        </p:nvPicPr>
        <p:blipFill>
          <a:blip r:embed="rId1"/>
          <a:stretch>
            <a:fillRect/>
          </a:stretch>
        </p:blipFill>
        <p:spPr>
          <a:xfrm>
            <a:off x="7315200" y="1600200"/>
            <a:ext cx="4389120" cy="1721069"/>
          </a:xfrm>
          <a:prstGeom prst="rect">
            <a:avLst/>
          </a:prstGeom>
        </p:spPr>
      </p:pic>
      <p:sp>
        <p:nvSpPr>
          <p:cNvPr id="6" name="Text 2"/>
          <p:cNvSpPr txBox="1"/>
          <p:nvPr/>
        </p:nvSpPr>
        <p:spPr>
          <a:xfrm>
            <a:off x="7315200" y="3474720"/>
            <a:ext cx="4389120" cy="914400"/>
          </a:xfrm>
          <a:prstGeom prst="rect">
            <a:avLst/>
          </a:prstGeom>
          <a:noFill/>
          <a:ln/>
        </p:spPr>
        <p:txBody>
          <a:bodyPr wrap="square" lIns="0" tIns="0" rIns="0" bIns="0" rtlCol="0" anchor="ctr"/>
          <a:lstStyle/>
          <a:p>
            <a:pPr indent="0" marL="0">
              <a:buNone/>
            </a:pPr>
            <a:r>
              <a:rPr lang="en-US" sz="1600" dirty="0">
                <a:solidFill>
                  <a:srgbClr val="5B6178"/>
                </a:solidFill>
              </a:rPr>
              <a:t>Tukey quartiles (median of halves), n-1 variance, adjusted G1 and bias-corrected G2, unit-tested against SciPy.</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CORRELATION AND MULTIVARIATE RESULTS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Energy follows loudness and opposes acousticness</a:t>
            </a:r>
            <a:endParaRPr lang="en-US" sz="3000" dirty="0"/>
          </a:p>
        </p:txBody>
      </p:sp>
      <p:pic>
        <p:nvPicPr>
          <p:cNvPr id="4" name="Image 0" descr="fig_04_01_correlation_heatmaps.png">    </p:cNvPr>
          <p:cNvPicPr>
            <a:picLocks noChangeAspect="1"/>
          </p:cNvPicPr>
          <p:nvPr/>
        </p:nvPicPr>
        <p:blipFill>
          <a:blip r:embed="rId1"/>
          <a:stretch>
            <a:fillRect/>
          </a:stretch>
        </p:blipFill>
        <p:spPr>
          <a:xfrm>
            <a:off x="457200" y="1463040"/>
            <a:ext cx="5760720" cy="2554840"/>
          </a:xfrm>
          <a:prstGeom prst="rect">
            <a:avLst/>
          </a:prstGeom>
        </p:spPr>
      </p:pic>
      <p:pic>
        <p:nvPicPr>
          <p:cNvPr id="5" name="Image 1" descr="fig_04_02_parallel_coordinates_genres.png">    </p:cNvPr>
          <p:cNvPicPr>
            <a:picLocks noChangeAspect="1"/>
          </p:cNvPicPr>
          <p:nvPr/>
        </p:nvPicPr>
        <p:blipFill>
          <a:blip r:embed="rId2"/>
          <a:stretch>
            <a:fillRect/>
          </a:stretch>
        </p:blipFill>
        <p:spPr>
          <a:xfrm>
            <a:off x="6400800" y="1463040"/>
            <a:ext cx="5303520" cy="2369692"/>
          </a:xfrm>
          <a:prstGeom prst="rect">
            <a:avLst/>
          </a:prstGeom>
        </p:spPr>
      </p:pic>
      <p:sp>
        <p:nvSpPr>
          <p:cNvPr id="6" name="Text 2"/>
          <p:cNvSpPr txBox="1"/>
          <p:nvPr/>
        </p:nvSpPr>
        <p:spPr>
          <a:xfrm>
            <a:off x="457200" y="4572000"/>
            <a:ext cx="11247120" cy="14630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B1F3B"/>
                </a:solidFill>
              </a:rPr>
              <a:t>Loudness ~ energy r = 0.82; energy ~ acousticness r = -0.80</a:t>
            </a:r>
            <a:endParaRPr lang="en-US" sz="1700" dirty="0"/>
          </a:p>
          <a:p>
            <a:pPr marL="228600" indent="-228600">
              <a:spcAft>
                <a:spcPts val="800"/>
              </a:spcAft>
              <a:buSzPct val="100000"/>
              <a:buChar char="•"/>
            </a:pPr>
            <a:r>
              <a:rPr lang="en-US" sz="1700" dirty="0">
                <a:solidFill>
                  <a:srgbClr val="1B1F3B"/>
                </a:solidFill>
              </a:rPr>
              <a:t>Valence ~ danceability r = 0.56: happier songs are somewhat more danceable</a:t>
            </a:r>
            <a:endParaRPr lang="en-US" sz="1700" dirty="0"/>
          </a:p>
          <a:p>
            <a:pPr marL="228600" indent="-228600">
              <a:spcAft>
                <a:spcPts val="800"/>
              </a:spcAft>
              <a:buSzPct val="100000"/>
              <a:buChar char="•"/>
            </a:pPr>
            <a:r>
              <a:rPr lang="en-US" sz="1700" dirty="0">
                <a:solidFill>
                  <a:srgbClr val="1B1F3B"/>
                </a:solidFill>
              </a:rPr>
              <a:t>Parallel coordinates: classical = acoustic + instrumental; hip-hop = speechy + danceable; metal = highest energy</a:t>
            </a:r>
            <a:endParaRPr lang="en-US" sz="17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DIMENSIONALITY REDUCTION FIRST RESULTS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t-SNE keeps local structure best; genres overlap in every map</a:t>
            </a:r>
            <a:endParaRPr lang="en-US" sz="3000" dirty="0"/>
          </a:p>
        </p:txBody>
      </p:sp>
      <p:pic>
        <p:nvPicPr>
          <p:cNvPr id="4" name="Image 0" descr="fig_05_01_pca_scree_biplot.png">    </p:cNvPr>
          <p:cNvPicPr>
            <a:picLocks noChangeAspect="1"/>
          </p:cNvPicPr>
          <p:nvPr/>
        </p:nvPicPr>
        <p:blipFill>
          <a:blip r:embed="rId1"/>
          <a:stretch>
            <a:fillRect/>
          </a:stretch>
        </p:blipFill>
        <p:spPr>
          <a:xfrm>
            <a:off x="457200" y="1417320"/>
            <a:ext cx="4754880" cy="1550431"/>
          </a:xfrm>
          <a:prstGeom prst="rect">
            <a:avLst/>
          </a:prstGeom>
        </p:spPr>
      </p:pic>
      <p:pic>
        <p:nvPicPr>
          <p:cNvPr id="5" name="Image 1" descr="fig_05_02_tsne_lle_pca_maps.png">    </p:cNvPr>
          <p:cNvPicPr>
            <a:picLocks noChangeAspect="1"/>
          </p:cNvPicPr>
          <p:nvPr/>
        </p:nvPicPr>
        <p:blipFill>
          <a:blip r:embed="rId2"/>
          <a:stretch>
            <a:fillRect/>
          </a:stretch>
        </p:blipFill>
        <p:spPr>
          <a:xfrm>
            <a:off x="5394960" y="1417320"/>
            <a:ext cx="6309360" cy="1537708"/>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4160520"/>
          <a:ext cx="6035040" cy="914400"/>
        </p:xfrm>
        <a:graphic>
          <a:graphicData uri="http://schemas.openxmlformats.org/drawingml/2006/table">
            <a:tbl>
              <a:tblPr/>
              <a:tblGrid>
                <a:gridCol w="1371600"/>
                <a:gridCol w="1463040"/>
                <a:gridCol w="1737360"/>
                <a:gridCol w="1463040"/>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Runtime (s)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Trustworthiness</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Silhouette</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1B1F3B"/>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PCA</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0.779</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-0.085</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t-SNE</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49.8</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0.976</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-0.061</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LLE</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42.4</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0.671</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-0.140</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EEF0F7"/>
                    </a:solidFill>
                  </a:tcPr>
                </a:tc>
              </a:tr>
              <a:tr h="0">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UMAP</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32.2</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0.947</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c>
                  <a:txBody>
                    <a:bodyPr/>
                    <a:lstStyle/>
                    <a:p>
                      <a:pPr indent="0" marL="0">
                        <a:buNone/>
                      </a:pPr>
                      <a:r>
                        <a:rPr lang="en-US" sz="1500" dirty="0">
                          <a:solidFill>
                            <a:srgbClr val="1B1F3B"/>
                          </a:solidFill>
                          <a:latin typeface="Calibri" pitchFamily="34" charset="0"/>
                          <a:ea typeface="Calibri" pitchFamily="34" charset="-122"/>
                          <a:cs typeface="Calibri" pitchFamily="34" charset="-120"/>
                        </a:rPr>
                        <a:t>-0.055</a:t>
                      </a:r>
                      <a:endParaRPr lang="en-US" sz="1500" dirty="0">
                        <a:latin typeface="Calibri" charset="0"/>
                        <a:ea typeface="Calibri" charset="0"/>
                        <a:cs typeface="Calibri" charset="0"/>
                      </a:endParaRPr>
                    </a:p>
                  </a:txBody>
                  <a:tcPr marL="45720" marR="45720" marT="45720" marB="45720" anchor="ctr">
                    <a:lnL w="6350" cap="flat" cmpd="sng" algn="ctr">
                      <a:solidFill>
                        <a:srgbClr val="C9CDDB"/>
                      </a:solidFill>
                      <a:prstDash val="solid"/>
                      <a:round/>
                      <a:headEnd type="none" w="med" len="med"/>
                      <a:tailEnd type="none" w="med" len="med"/>
                    </a:lnL>
                    <a:lnR w="6350" cap="flat" cmpd="sng" algn="ctr">
                      <a:solidFill>
                        <a:srgbClr val="C9CDDB"/>
                      </a:solidFill>
                      <a:prstDash val="solid"/>
                      <a:round/>
                      <a:headEnd type="none" w="med" len="med"/>
                      <a:tailEnd type="none" w="med" len="med"/>
                    </a:lnR>
                    <a:lnT w="6350" cap="flat" cmpd="sng" algn="ctr">
                      <a:solidFill>
                        <a:srgbClr val="C9CDDB"/>
                      </a:solidFill>
                      <a:prstDash val="solid"/>
                      <a:round/>
                      <a:headEnd type="none" w="med" len="med"/>
                      <a:tailEnd type="none" w="med" len="med"/>
                    </a:lnT>
                    <a:lnB w="6350" cap="flat" cmpd="sng" algn="ctr">
                      <a:solidFill>
                        <a:srgbClr val="C9CDDB"/>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6766560" y="4114800"/>
            <a:ext cx="4937760" cy="20116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B1F3B"/>
                </a:solidFill>
              </a:rPr>
              <a:t>PC1 33.5%, PC2 14.0%; 7 PCs reach 90%</a:t>
            </a:r>
            <a:endParaRPr lang="en-US" sz="1500" dirty="0"/>
          </a:p>
          <a:p>
            <a:pPr marL="228600" indent="-228600">
              <a:spcAft>
                <a:spcPts val="800"/>
              </a:spcAft>
              <a:buSzPct val="100000"/>
              <a:buChar char="•"/>
            </a:pPr>
            <a:r>
              <a:rPr lang="en-US" sz="1500" dirty="0">
                <a:solidFill>
                  <a:srgbClr val="1B1F3B"/>
                </a:solidFill>
              </a:rPr>
              <a:t>SVD of centred data reproduces PCA exactly</a:t>
            </a:r>
            <a:endParaRPr lang="en-US" sz="1500" dirty="0"/>
          </a:p>
          <a:p>
            <a:pPr marL="228600" indent="-228600">
              <a:spcAft>
                <a:spcPts val="800"/>
              </a:spcAft>
              <a:buSzPct val="100000"/>
              <a:buChar char="•"/>
            </a:pPr>
            <a:r>
              <a:rPr lang="en-US" sz="1500" dirty="0">
                <a:solidFill>
                  <a:srgbClr val="1B1F3B"/>
                </a:solidFill>
              </a:rPr>
              <a:t>KMeans k = 6: named clusters such as "Quiet acoustic instrumentals"</a:t>
            </a:r>
            <a:endParaRPr lang="en-US" sz="15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MODULE STATUS AND WORK PLAN</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Analysis core is complete; the website is the main remaining build</a:t>
            </a:r>
            <a:endParaRPr lang="en-US" sz="3000" dirty="0"/>
          </a:p>
        </p:txBody>
      </p:sp>
      <p:sp>
        <p:nvSpPr>
          <p:cNvPr id="4" name="Text 2"/>
          <p:cNvSpPr txBox="1"/>
          <p:nvPr/>
        </p:nvSpPr>
        <p:spPr>
          <a:xfrm>
            <a:off x="457200" y="1600200"/>
            <a:ext cx="3840480" cy="384048"/>
          </a:xfrm>
          <a:prstGeom prst="rect">
            <a:avLst/>
          </a:prstGeom>
          <a:noFill/>
          <a:ln/>
        </p:spPr>
        <p:txBody>
          <a:bodyPr wrap="square" lIns="0" tIns="0" rIns="0" bIns="0" rtlCol="0" anchor="ctr"/>
          <a:lstStyle/>
          <a:p>
            <a:pPr indent="0" marL="0">
              <a:buNone/>
            </a:pPr>
            <a:r>
              <a:rPr lang="en-US" sz="1600" dirty="0">
                <a:solidFill>
                  <a:srgbClr val="1B1F3B"/>
                </a:solidFill>
              </a:rPr>
              <a:t>Data acquisition and audit</a:t>
            </a:r>
            <a:endParaRPr lang="en-US" sz="1600" dirty="0"/>
          </a:p>
        </p:txBody>
      </p:sp>
      <p:sp>
        <p:nvSpPr>
          <p:cNvPr id="5" name="Shape 3"/>
          <p:cNvSpPr/>
          <p:nvPr/>
        </p:nvSpPr>
        <p:spPr>
          <a:xfrm>
            <a:off x="4389120" y="1673352"/>
            <a:ext cx="5029200" cy="256032"/>
          </a:xfrm>
          <a:prstGeom prst="roundRect">
            <a:avLst>
              <a:gd name="adj" fmla="val 21429"/>
            </a:avLst>
          </a:prstGeom>
          <a:solidFill>
            <a:srgbClr val="EEF0F7"/>
          </a:solidFill>
          <a:ln w="12700">
            <a:solidFill>
              <a:srgbClr val="EEF0F7"/>
            </a:solidFill>
            <a:prstDash val="solid"/>
          </a:ln>
        </p:spPr>
      </p:sp>
      <p:sp>
        <p:nvSpPr>
          <p:cNvPr id="6" name="Shape 4"/>
          <p:cNvSpPr/>
          <p:nvPr/>
        </p:nvSpPr>
        <p:spPr>
          <a:xfrm>
            <a:off x="4389120" y="1673352"/>
            <a:ext cx="5029200" cy="256032"/>
          </a:xfrm>
          <a:prstGeom prst="roundRect">
            <a:avLst>
              <a:gd name="adj" fmla="val 21429"/>
            </a:avLst>
          </a:prstGeom>
          <a:solidFill>
            <a:srgbClr val="1B1F3B"/>
          </a:solidFill>
          <a:ln w="12700">
            <a:solidFill>
              <a:srgbClr val="1B1F3B"/>
            </a:solidFill>
            <a:prstDash val="solid"/>
          </a:ln>
        </p:spPr>
      </p:sp>
      <p:sp>
        <p:nvSpPr>
          <p:cNvPr id="7" name="Text 5"/>
          <p:cNvSpPr txBox="1"/>
          <p:nvPr/>
        </p:nvSpPr>
        <p:spPr>
          <a:xfrm>
            <a:off x="9601200" y="1600200"/>
            <a:ext cx="2194560" cy="384048"/>
          </a:xfrm>
          <a:prstGeom prst="rect">
            <a:avLst/>
          </a:prstGeom>
          <a:noFill/>
          <a:ln/>
        </p:spPr>
        <p:txBody>
          <a:bodyPr wrap="square" lIns="0" tIns="0" rIns="0" bIns="0" rtlCol="0" anchor="ctr"/>
          <a:lstStyle/>
          <a:p>
            <a:pPr indent="0" marL="0">
              <a:buNone/>
            </a:pPr>
            <a:r>
              <a:rPr lang="en-US" sz="1400" dirty="0">
                <a:solidFill>
                  <a:srgbClr val="5B6178"/>
                </a:solidFill>
              </a:rPr>
              <a:t>100%  done</a:t>
            </a:r>
            <a:endParaRPr lang="en-US" sz="1400" dirty="0"/>
          </a:p>
        </p:txBody>
      </p:sp>
      <p:sp>
        <p:nvSpPr>
          <p:cNvPr id="8" name="Text 6"/>
          <p:cNvSpPr txBox="1"/>
          <p:nvPr/>
        </p:nvSpPr>
        <p:spPr>
          <a:xfrm>
            <a:off x="457200" y="2075688"/>
            <a:ext cx="3840480" cy="384048"/>
          </a:xfrm>
          <a:prstGeom prst="rect">
            <a:avLst/>
          </a:prstGeom>
          <a:noFill/>
          <a:ln/>
        </p:spPr>
        <p:txBody>
          <a:bodyPr wrap="square" lIns="0" tIns="0" rIns="0" bIns="0" rtlCol="0" anchor="ctr"/>
          <a:lstStyle/>
          <a:p>
            <a:pPr indent="0" marL="0">
              <a:buNone/>
            </a:pPr>
            <a:r>
              <a:rPr lang="en-US" sz="1600" dirty="0">
                <a:solidFill>
                  <a:srgbClr val="1B1F3B"/>
                </a:solidFill>
              </a:rPr>
              <a:t>Cleaning, MICE, scaling, outliers</a:t>
            </a:r>
            <a:endParaRPr lang="en-US" sz="1600" dirty="0"/>
          </a:p>
        </p:txBody>
      </p:sp>
      <p:sp>
        <p:nvSpPr>
          <p:cNvPr id="9" name="Shape 7"/>
          <p:cNvSpPr/>
          <p:nvPr/>
        </p:nvSpPr>
        <p:spPr>
          <a:xfrm>
            <a:off x="4389120" y="2148840"/>
            <a:ext cx="5029200" cy="256032"/>
          </a:xfrm>
          <a:prstGeom prst="roundRect">
            <a:avLst>
              <a:gd name="adj" fmla="val 21429"/>
            </a:avLst>
          </a:prstGeom>
          <a:solidFill>
            <a:srgbClr val="EEF0F7"/>
          </a:solidFill>
          <a:ln w="12700">
            <a:solidFill>
              <a:srgbClr val="EEF0F7"/>
            </a:solidFill>
            <a:prstDash val="solid"/>
          </a:ln>
        </p:spPr>
      </p:sp>
      <p:sp>
        <p:nvSpPr>
          <p:cNvPr id="10" name="Shape 8"/>
          <p:cNvSpPr/>
          <p:nvPr/>
        </p:nvSpPr>
        <p:spPr>
          <a:xfrm>
            <a:off x="4389120" y="2148840"/>
            <a:ext cx="5029200" cy="256032"/>
          </a:xfrm>
          <a:prstGeom prst="roundRect">
            <a:avLst>
              <a:gd name="adj" fmla="val 21429"/>
            </a:avLst>
          </a:prstGeom>
          <a:solidFill>
            <a:srgbClr val="1B1F3B"/>
          </a:solidFill>
          <a:ln w="12700">
            <a:solidFill>
              <a:srgbClr val="1B1F3B"/>
            </a:solidFill>
            <a:prstDash val="solid"/>
          </a:ln>
        </p:spPr>
      </p:sp>
      <p:sp>
        <p:nvSpPr>
          <p:cNvPr id="11" name="Text 9"/>
          <p:cNvSpPr txBox="1"/>
          <p:nvPr/>
        </p:nvSpPr>
        <p:spPr>
          <a:xfrm>
            <a:off x="9601200" y="2075688"/>
            <a:ext cx="2194560" cy="384048"/>
          </a:xfrm>
          <a:prstGeom prst="rect">
            <a:avLst/>
          </a:prstGeom>
          <a:noFill/>
          <a:ln/>
        </p:spPr>
        <p:txBody>
          <a:bodyPr wrap="square" lIns="0" tIns="0" rIns="0" bIns="0" rtlCol="0" anchor="ctr"/>
          <a:lstStyle/>
          <a:p>
            <a:pPr indent="0" marL="0">
              <a:buNone/>
            </a:pPr>
            <a:r>
              <a:rPr lang="en-US" sz="1400" dirty="0">
                <a:solidFill>
                  <a:srgbClr val="5B6178"/>
                </a:solidFill>
              </a:rPr>
              <a:t>100%  done</a:t>
            </a:r>
            <a:endParaRPr lang="en-US" sz="1400" dirty="0"/>
          </a:p>
        </p:txBody>
      </p:sp>
      <p:sp>
        <p:nvSpPr>
          <p:cNvPr id="12" name="Text 10"/>
          <p:cNvSpPr txBox="1"/>
          <p:nvPr/>
        </p:nvSpPr>
        <p:spPr>
          <a:xfrm>
            <a:off x="457200" y="2551176"/>
            <a:ext cx="3840480" cy="384048"/>
          </a:xfrm>
          <a:prstGeom prst="rect">
            <a:avLst/>
          </a:prstGeom>
          <a:noFill/>
          <a:ln/>
        </p:spPr>
        <p:txBody>
          <a:bodyPr wrap="square" lIns="0" tIns="0" rIns="0" bIns="0" rtlCol="0" anchor="ctr"/>
          <a:lstStyle/>
          <a:p>
            <a:pPr indent="0" marL="0">
              <a:buNone/>
            </a:pPr>
            <a:r>
              <a:rPr lang="en-US" sz="1600" dirty="0">
                <a:solidFill>
                  <a:srgbClr val="1B1F3B"/>
                </a:solidFill>
              </a:rPr>
              <a:t>Descriptive statistics</a:t>
            </a:r>
            <a:endParaRPr lang="en-US" sz="1600" dirty="0"/>
          </a:p>
        </p:txBody>
      </p:sp>
      <p:sp>
        <p:nvSpPr>
          <p:cNvPr id="13" name="Shape 11"/>
          <p:cNvSpPr/>
          <p:nvPr/>
        </p:nvSpPr>
        <p:spPr>
          <a:xfrm>
            <a:off x="4389120" y="2624328"/>
            <a:ext cx="5029200" cy="256032"/>
          </a:xfrm>
          <a:prstGeom prst="roundRect">
            <a:avLst>
              <a:gd name="adj" fmla="val 21429"/>
            </a:avLst>
          </a:prstGeom>
          <a:solidFill>
            <a:srgbClr val="EEF0F7"/>
          </a:solidFill>
          <a:ln w="12700">
            <a:solidFill>
              <a:srgbClr val="EEF0F7"/>
            </a:solidFill>
            <a:prstDash val="solid"/>
          </a:ln>
        </p:spPr>
      </p:sp>
      <p:sp>
        <p:nvSpPr>
          <p:cNvPr id="14" name="Shape 12"/>
          <p:cNvSpPr/>
          <p:nvPr/>
        </p:nvSpPr>
        <p:spPr>
          <a:xfrm>
            <a:off x="4389120" y="2624328"/>
            <a:ext cx="5029200" cy="256032"/>
          </a:xfrm>
          <a:prstGeom prst="roundRect">
            <a:avLst>
              <a:gd name="adj" fmla="val 21429"/>
            </a:avLst>
          </a:prstGeom>
          <a:solidFill>
            <a:srgbClr val="1B1F3B"/>
          </a:solidFill>
          <a:ln w="12700">
            <a:solidFill>
              <a:srgbClr val="1B1F3B"/>
            </a:solidFill>
            <a:prstDash val="solid"/>
          </a:ln>
        </p:spPr>
      </p:sp>
      <p:sp>
        <p:nvSpPr>
          <p:cNvPr id="15" name="Text 13"/>
          <p:cNvSpPr txBox="1"/>
          <p:nvPr/>
        </p:nvSpPr>
        <p:spPr>
          <a:xfrm>
            <a:off x="9601200" y="2551176"/>
            <a:ext cx="2194560" cy="384048"/>
          </a:xfrm>
          <a:prstGeom prst="rect">
            <a:avLst/>
          </a:prstGeom>
          <a:noFill/>
          <a:ln/>
        </p:spPr>
        <p:txBody>
          <a:bodyPr wrap="square" lIns="0" tIns="0" rIns="0" bIns="0" rtlCol="0" anchor="ctr"/>
          <a:lstStyle/>
          <a:p>
            <a:pPr indent="0" marL="0">
              <a:buNone/>
            </a:pPr>
            <a:r>
              <a:rPr lang="en-US" sz="1400" dirty="0">
                <a:solidFill>
                  <a:srgbClr val="5B6178"/>
                </a:solidFill>
              </a:rPr>
              <a:t>100%  done</a:t>
            </a:r>
            <a:endParaRPr lang="en-US" sz="1400" dirty="0"/>
          </a:p>
        </p:txBody>
      </p:sp>
      <p:sp>
        <p:nvSpPr>
          <p:cNvPr id="16" name="Text 14"/>
          <p:cNvSpPr txBox="1"/>
          <p:nvPr/>
        </p:nvSpPr>
        <p:spPr>
          <a:xfrm>
            <a:off x="457200" y="3026664"/>
            <a:ext cx="3840480" cy="384048"/>
          </a:xfrm>
          <a:prstGeom prst="rect">
            <a:avLst/>
          </a:prstGeom>
          <a:noFill/>
          <a:ln/>
        </p:spPr>
        <p:txBody>
          <a:bodyPr wrap="square" lIns="0" tIns="0" rIns="0" bIns="0" rtlCol="0" anchor="ctr"/>
          <a:lstStyle/>
          <a:p>
            <a:pPr indent="0" marL="0">
              <a:buNone/>
            </a:pPr>
            <a:r>
              <a:rPr lang="en-US" sz="1600" dirty="0">
                <a:solidFill>
                  <a:srgbClr val="1B1F3B"/>
                </a:solidFill>
              </a:rPr>
              <a:t>Multivariate storytelling</a:t>
            </a:r>
            <a:endParaRPr lang="en-US" sz="1600" dirty="0"/>
          </a:p>
        </p:txBody>
      </p:sp>
      <p:sp>
        <p:nvSpPr>
          <p:cNvPr id="17" name="Shape 15"/>
          <p:cNvSpPr/>
          <p:nvPr/>
        </p:nvSpPr>
        <p:spPr>
          <a:xfrm>
            <a:off x="4389120" y="3099816"/>
            <a:ext cx="5029200" cy="256032"/>
          </a:xfrm>
          <a:prstGeom prst="roundRect">
            <a:avLst>
              <a:gd name="adj" fmla="val 21429"/>
            </a:avLst>
          </a:prstGeom>
          <a:solidFill>
            <a:srgbClr val="EEF0F7"/>
          </a:solidFill>
          <a:ln w="12700">
            <a:solidFill>
              <a:srgbClr val="EEF0F7"/>
            </a:solidFill>
            <a:prstDash val="solid"/>
          </a:ln>
        </p:spPr>
      </p:sp>
      <p:sp>
        <p:nvSpPr>
          <p:cNvPr id="18" name="Shape 16"/>
          <p:cNvSpPr/>
          <p:nvPr/>
        </p:nvSpPr>
        <p:spPr>
          <a:xfrm>
            <a:off x="4389120" y="3099816"/>
            <a:ext cx="5029200" cy="256032"/>
          </a:xfrm>
          <a:prstGeom prst="roundRect">
            <a:avLst>
              <a:gd name="adj" fmla="val 21429"/>
            </a:avLst>
          </a:prstGeom>
          <a:solidFill>
            <a:srgbClr val="1B1F3B"/>
          </a:solidFill>
          <a:ln w="12700">
            <a:solidFill>
              <a:srgbClr val="1B1F3B"/>
            </a:solidFill>
            <a:prstDash val="solid"/>
          </a:ln>
        </p:spPr>
      </p:sp>
      <p:sp>
        <p:nvSpPr>
          <p:cNvPr id="19" name="Text 17"/>
          <p:cNvSpPr txBox="1"/>
          <p:nvPr/>
        </p:nvSpPr>
        <p:spPr>
          <a:xfrm>
            <a:off x="9601200" y="3026664"/>
            <a:ext cx="2194560" cy="384048"/>
          </a:xfrm>
          <a:prstGeom prst="rect">
            <a:avLst/>
          </a:prstGeom>
          <a:noFill/>
          <a:ln/>
        </p:spPr>
        <p:txBody>
          <a:bodyPr wrap="square" lIns="0" tIns="0" rIns="0" bIns="0" rtlCol="0" anchor="ctr"/>
          <a:lstStyle/>
          <a:p>
            <a:pPr indent="0" marL="0">
              <a:buNone/>
            </a:pPr>
            <a:r>
              <a:rPr lang="en-US" sz="1400" dirty="0">
                <a:solidFill>
                  <a:srgbClr val="5B6178"/>
                </a:solidFill>
              </a:rPr>
              <a:t>100%  done</a:t>
            </a:r>
            <a:endParaRPr lang="en-US" sz="1400" dirty="0"/>
          </a:p>
        </p:txBody>
      </p:sp>
      <p:sp>
        <p:nvSpPr>
          <p:cNvPr id="20" name="Text 18"/>
          <p:cNvSpPr txBox="1"/>
          <p:nvPr/>
        </p:nvSpPr>
        <p:spPr>
          <a:xfrm>
            <a:off x="457200" y="3502152"/>
            <a:ext cx="3840480" cy="384048"/>
          </a:xfrm>
          <a:prstGeom prst="rect">
            <a:avLst/>
          </a:prstGeom>
          <a:noFill/>
          <a:ln/>
        </p:spPr>
        <p:txBody>
          <a:bodyPr wrap="square" lIns="0" tIns="0" rIns="0" bIns="0" rtlCol="0" anchor="ctr"/>
          <a:lstStyle/>
          <a:p>
            <a:pPr indent="0" marL="0">
              <a:buNone/>
            </a:pPr>
            <a:r>
              <a:rPr lang="en-US" sz="1600" dirty="0">
                <a:solidFill>
                  <a:srgbClr val="1B1F3B"/>
                </a:solidFill>
              </a:rPr>
              <a:t>PCA / t-SNE / LLE / clusters</a:t>
            </a:r>
            <a:endParaRPr lang="en-US" sz="1600" dirty="0"/>
          </a:p>
        </p:txBody>
      </p:sp>
      <p:sp>
        <p:nvSpPr>
          <p:cNvPr id="21" name="Shape 19"/>
          <p:cNvSpPr/>
          <p:nvPr/>
        </p:nvSpPr>
        <p:spPr>
          <a:xfrm>
            <a:off x="4389120" y="3575304"/>
            <a:ext cx="5029200" cy="256032"/>
          </a:xfrm>
          <a:prstGeom prst="roundRect">
            <a:avLst>
              <a:gd name="adj" fmla="val 21429"/>
            </a:avLst>
          </a:prstGeom>
          <a:solidFill>
            <a:srgbClr val="EEF0F7"/>
          </a:solidFill>
          <a:ln w="12700">
            <a:solidFill>
              <a:srgbClr val="EEF0F7"/>
            </a:solidFill>
            <a:prstDash val="solid"/>
          </a:ln>
        </p:spPr>
      </p:sp>
      <p:sp>
        <p:nvSpPr>
          <p:cNvPr id="22" name="Shape 20"/>
          <p:cNvSpPr/>
          <p:nvPr/>
        </p:nvSpPr>
        <p:spPr>
          <a:xfrm>
            <a:off x="4389120" y="3575304"/>
            <a:ext cx="5029200" cy="256032"/>
          </a:xfrm>
          <a:prstGeom prst="roundRect">
            <a:avLst>
              <a:gd name="adj" fmla="val 21429"/>
            </a:avLst>
          </a:prstGeom>
          <a:solidFill>
            <a:srgbClr val="1B1F3B"/>
          </a:solidFill>
          <a:ln w="12700">
            <a:solidFill>
              <a:srgbClr val="1B1F3B"/>
            </a:solidFill>
            <a:prstDash val="solid"/>
          </a:ln>
        </p:spPr>
      </p:sp>
      <p:sp>
        <p:nvSpPr>
          <p:cNvPr id="23" name="Text 21"/>
          <p:cNvSpPr txBox="1"/>
          <p:nvPr/>
        </p:nvSpPr>
        <p:spPr>
          <a:xfrm>
            <a:off x="9601200" y="3502152"/>
            <a:ext cx="2194560" cy="384048"/>
          </a:xfrm>
          <a:prstGeom prst="rect">
            <a:avLst/>
          </a:prstGeom>
          <a:noFill/>
          <a:ln/>
        </p:spPr>
        <p:txBody>
          <a:bodyPr wrap="square" lIns="0" tIns="0" rIns="0" bIns="0" rtlCol="0" anchor="ctr"/>
          <a:lstStyle/>
          <a:p>
            <a:pPr indent="0" marL="0">
              <a:buNone/>
            </a:pPr>
            <a:r>
              <a:rPr lang="en-US" sz="1400" dirty="0">
                <a:solidFill>
                  <a:srgbClr val="5B6178"/>
                </a:solidFill>
              </a:rPr>
              <a:t>100%  done</a:t>
            </a:r>
            <a:endParaRPr lang="en-US" sz="1400" dirty="0"/>
          </a:p>
        </p:txBody>
      </p:sp>
      <p:sp>
        <p:nvSpPr>
          <p:cNvPr id="24" name="Text 22"/>
          <p:cNvSpPr txBox="1"/>
          <p:nvPr/>
        </p:nvSpPr>
        <p:spPr>
          <a:xfrm>
            <a:off x="457200" y="3977640"/>
            <a:ext cx="3840480" cy="384048"/>
          </a:xfrm>
          <a:prstGeom prst="rect">
            <a:avLst/>
          </a:prstGeom>
          <a:noFill/>
          <a:ln/>
        </p:spPr>
        <p:txBody>
          <a:bodyPr wrap="square" lIns="0" tIns="0" rIns="0" bIns="0" rtlCol="0" anchor="ctr"/>
          <a:lstStyle/>
          <a:p>
            <a:pPr indent="0" marL="0">
              <a:buNone/>
            </a:pPr>
            <a:r>
              <a:rPr lang="en-US" sz="1600" dirty="0">
                <a:solidFill>
                  <a:srgbClr val="1B1F3B"/>
                </a:solidFill>
              </a:rPr>
              <a:t>Time series and trends</a:t>
            </a:r>
            <a:endParaRPr lang="en-US" sz="1600" dirty="0"/>
          </a:p>
        </p:txBody>
      </p:sp>
      <p:sp>
        <p:nvSpPr>
          <p:cNvPr id="25" name="Shape 23"/>
          <p:cNvSpPr/>
          <p:nvPr/>
        </p:nvSpPr>
        <p:spPr>
          <a:xfrm>
            <a:off x="4389120" y="4050792"/>
            <a:ext cx="5029200" cy="256032"/>
          </a:xfrm>
          <a:prstGeom prst="roundRect">
            <a:avLst>
              <a:gd name="adj" fmla="val 21429"/>
            </a:avLst>
          </a:prstGeom>
          <a:solidFill>
            <a:srgbClr val="EEF0F7"/>
          </a:solidFill>
          <a:ln w="12700">
            <a:solidFill>
              <a:srgbClr val="EEF0F7"/>
            </a:solidFill>
            <a:prstDash val="solid"/>
          </a:ln>
        </p:spPr>
      </p:sp>
      <p:sp>
        <p:nvSpPr>
          <p:cNvPr id="26" name="Shape 24"/>
          <p:cNvSpPr/>
          <p:nvPr/>
        </p:nvSpPr>
        <p:spPr>
          <a:xfrm>
            <a:off x="4389120" y="4050792"/>
            <a:ext cx="5029200" cy="256032"/>
          </a:xfrm>
          <a:prstGeom prst="roundRect">
            <a:avLst>
              <a:gd name="adj" fmla="val 21429"/>
            </a:avLst>
          </a:prstGeom>
          <a:solidFill>
            <a:srgbClr val="1B1F3B"/>
          </a:solidFill>
          <a:ln w="12700">
            <a:solidFill>
              <a:srgbClr val="1B1F3B"/>
            </a:solidFill>
            <a:prstDash val="solid"/>
          </a:ln>
        </p:spPr>
      </p:sp>
      <p:sp>
        <p:nvSpPr>
          <p:cNvPr id="27" name="Text 25"/>
          <p:cNvSpPr txBox="1"/>
          <p:nvPr/>
        </p:nvSpPr>
        <p:spPr>
          <a:xfrm>
            <a:off x="9601200" y="3977640"/>
            <a:ext cx="2194560" cy="384048"/>
          </a:xfrm>
          <a:prstGeom prst="rect">
            <a:avLst/>
          </a:prstGeom>
          <a:noFill/>
          <a:ln/>
        </p:spPr>
        <p:txBody>
          <a:bodyPr wrap="square" lIns="0" tIns="0" rIns="0" bIns="0" rtlCol="0" anchor="ctr"/>
          <a:lstStyle/>
          <a:p>
            <a:pPr indent="0" marL="0">
              <a:buNone/>
            </a:pPr>
            <a:r>
              <a:rPr lang="en-US" sz="1400" dirty="0">
                <a:solidFill>
                  <a:srgbClr val="5B6178"/>
                </a:solidFill>
              </a:rPr>
              <a:t>100%  done</a:t>
            </a:r>
            <a:endParaRPr lang="en-US" sz="1400" dirty="0"/>
          </a:p>
        </p:txBody>
      </p:sp>
      <p:sp>
        <p:nvSpPr>
          <p:cNvPr id="28" name="Text 26"/>
          <p:cNvSpPr txBox="1"/>
          <p:nvPr/>
        </p:nvSpPr>
        <p:spPr>
          <a:xfrm>
            <a:off x="457200" y="4453128"/>
            <a:ext cx="3840480" cy="384048"/>
          </a:xfrm>
          <a:prstGeom prst="rect">
            <a:avLst/>
          </a:prstGeom>
          <a:noFill/>
          <a:ln/>
        </p:spPr>
        <p:txBody>
          <a:bodyPr wrap="square" lIns="0" tIns="0" rIns="0" bIns="0" rtlCol="0" anchor="ctr"/>
          <a:lstStyle/>
          <a:p>
            <a:pPr indent="0" marL="0">
              <a:buNone/>
            </a:pPr>
            <a:r>
              <a:rPr lang="en-US" sz="1600" dirty="0">
                <a:solidFill>
                  <a:srgbClr val="1B1F3B"/>
                </a:solidFill>
              </a:rPr>
              <a:t>Hypothesis tests, features</a:t>
            </a:r>
            <a:endParaRPr lang="en-US" sz="1600" dirty="0"/>
          </a:p>
        </p:txBody>
      </p:sp>
      <p:sp>
        <p:nvSpPr>
          <p:cNvPr id="29" name="Shape 27"/>
          <p:cNvSpPr/>
          <p:nvPr/>
        </p:nvSpPr>
        <p:spPr>
          <a:xfrm>
            <a:off x="4389120" y="4526280"/>
            <a:ext cx="5029200" cy="256032"/>
          </a:xfrm>
          <a:prstGeom prst="roundRect">
            <a:avLst>
              <a:gd name="adj" fmla="val 21429"/>
            </a:avLst>
          </a:prstGeom>
          <a:solidFill>
            <a:srgbClr val="EEF0F7"/>
          </a:solidFill>
          <a:ln w="12700">
            <a:solidFill>
              <a:srgbClr val="EEF0F7"/>
            </a:solidFill>
            <a:prstDash val="solid"/>
          </a:ln>
        </p:spPr>
      </p:sp>
      <p:sp>
        <p:nvSpPr>
          <p:cNvPr id="30" name="Shape 28"/>
          <p:cNvSpPr/>
          <p:nvPr/>
        </p:nvSpPr>
        <p:spPr>
          <a:xfrm>
            <a:off x="4389120" y="4526280"/>
            <a:ext cx="5029200" cy="256032"/>
          </a:xfrm>
          <a:prstGeom prst="roundRect">
            <a:avLst>
              <a:gd name="adj" fmla="val 21429"/>
            </a:avLst>
          </a:prstGeom>
          <a:solidFill>
            <a:srgbClr val="1B1F3B"/>
          </a:solidFill>
          <a:ln w="12700">
            <a:solidFill>
              <a:srgbClr val="1B1F3B"/>
            </a:solidFill>
            <a:prstDash val="solid"/>
          </a:ln>
        </p:spPr>
      </p:sp>
      <p:sp>
        <p:nvSpPr>
          <p:cNvPr id="31" name="Text 29"/>
          <p:cNvSpPr txBox="1"/>
          <p:nvPr/>
        </p:nvSpPr>
        <p:spPr>
          <a:xfrm>
            <a:off x="9601200" y="4453128"/>
            <a:ext cx="2194560" cy="384048"/>
          </a:xfrm>
          <a:prstGeom prst="rect">
            <a:avLst/>
          </a:prstGeom>
          <a:noFill/>
          <a:ln/>
        </p:spPr>
        <p:txBody>
          <a:bodyPr wrap="square" lIns="0" tIns="0" rIns="0" bIns="0" rtlCol="0" anchor="ctr"/>
          <a:lstStyle/>
          <a:p>
            <a:pPr indent="0" marL="0">
              <a:buNone/>
            </a:pPr>
            <a:r>
              <a:rPr lang="en-US" sz="1400" dirty="0">
                <a:solidFill>
                  <a:srgbClr val="5B6178"/>
                </a:solidFill>
              </a:rPr>
              <a:t>100%  done</a:t>
            </a:r>
            <a:endParaRPr lang="en-US" sz="1400" dirty="0"/>
          </a:p>
        </p:txBody>
      </p:sp>
      <p:sp>
        <p:nvSpPr>
          <p:cNvPr id="32" name="Text 30"/>
          <p:cNvSpPr txBox="1"/>
          <p:nvPr/>
        </p:nvSpPr>
        <p:spPr>
          <a:xfrm>
            <a:off x="457200" y="4928616"/>
            <a:ext cx="3840480" cy="384048"/>
          </a:xfrm>
          <a:prstGeom prst="rect">
            <a:avLst/>
          </a:prstGeom>
          <a:noFill/>
          <a:ln/>
        </p:spPr>
        <p:txBody>
          <a:bodyPr wrap="square" lIns="0" tIns="0" rIns="0" bIns="0" rtlCol="0" anchor="ctr"/>
          <a:lstStyle/>
          <a:p>
            <a:pPr indent="0" marL="0">
              <a:buNone/>
            </a:pPr>
            <a:r>
              <a:rPr lang="en-US" sz="1600" dirty="0">
                <a:solidFill>
                  <a:srgbClr val="1B1F3B"/>
                </a:solidFill>
              </a:rPr>
              <a:t>Lyrics text mining</a:t>
            </a:r>
            <a:endParaRPr lang="en-US" sz="1600" dirty="0"/>
          </a:p>
        </p:txBody>
      </p:sp>
      <p:sp>
        <p:nvSpPr>
          <p:cNvPr id="33" name="Shape 31"/>
          <p:cNvSpPr/>
          <p:nvPr/>
        </p:nvSpPr>
        <p:spPr>
          <a:xfrm>
            <a:off x="4389120" y="5001768"/>
            <a:ext cx="5029200" cy="256032"/>
          </a:xfrm>
          <a:prstGeom prst="roundRect">
            <a:avLst>
              <a:gd name="adj" fmla="val 21429"/>
            </a:avLst>
          </a:prstGeom>
          <a:solidFill>
            <a:srgbClr val="EEF0F7"/>
          </a:solidFill>
          <a:ln w="12700">
            <a:solidFill>
              <a:srgbClr val="EEF0F7"/>
            </a:solidFill>
            <a:prstDash val="solid"/>
          </a:ln>
        </p:spPr>
      </p:sp>
      <p:sp>
        <p:nvSpPr>
          <p:cNvPr id="34" name="Shape 32"/>
          <p:cNvSpPr/>
          <p:nvPr/>
        </p:nvSpPr>
        <p:spPr>
          <a:xfrm>
            <a:off x="4389120" y="5001768"/>
            <a:ext cx="3017520" cy="256032"/>
          </a:xfrm>
          <a:prstGeom prst="roundRect">
            <a:avLst>
              <a:gd name="adj" fmla="val 21429"/>
            </a:avLst>
          </a:prstGeom>
          <a:solidFill>
            <a:srgbClr val="F2A541"/>
          </a:solidFill>
          <a:ln w="12700">
            <a:solidFill>
              <a:srgbClr val="F2A541"/>
            </a:solidFill>
            <a:prstDash val="solid"/>
          </a:ln>
        </p:spPr>
      </p:sp>
      <p:sp>
        <p:nvSpPr>
          <p:cNvPr id="35" name="Text 33"/>
          <p:cNvSpPr txBox="1"/>
          <p:nvPr/>
        </p:nvSpPr>
        <p:spPr>
          <a:xfrm>
            <a:off x="9601200" y="4928616"/>
            <a:ext cx="2194560" cy="384048"/>
          </a:xfrm>
          <a:prstGeom prst="rect">
            <a:avLst/>
          </a:prstGeom>
          <a:noFill/>
          <a:ln/>
        </p:spPr>
        <p:txBody>
          <a:bodyPr wrap="square" lIns="0" tIns="0" rIns="0" bIns="0" rtlCol="0" anchor="ctr"/>
          <a:lstStyle/>
          <a:p>
            <a:pPr indent="0" marL="0">
              <a:buNone/>
            </a:pPr>
            <a:r>
              <a:rPr lang="en-US" sz="1400" dirty="0">
                <a:solidFill>
                  <a:srgbClr val="5B6178"/>
                </a:solidFill>
              </a:rPr>
              <a:t>60%  in progress</a:t>
            </a:r>
            <a:endParaRPr lang="en-US" sz="1400" dirty="0"/>
          </a:p>
        </p:txBody>
      </p:sp>
      <p:sp>
        <p:nvSpPr>
          <p:cNvPr id="36" name="Text 34"/>
          <p:cNvSpPr txBox="1"/>
          <p:nvPr/>
        </p:nvSpPr>
        <p:spPr>
          <a:xfrm>
            <a:off x="457200" y="5404104"/>
            <a:ext cx="3840480" cy="384048"/>
          </a:xfrm>
          <a:prstGeom prst="rect">
            <a:avLst/>
          </a:prstGeom>
          <a:noFill/>
          <a:ln/>
        </p:spPr>
        <p:txBody>
          <a:bodyPr wrap="square" lIns="0" tIns="0" rIns="0" bIns="0" rtlCol="0" anchor="ctr"/>
          <a:lstStyle/>
          <a:p>
            <a:pPr indent="0" marL="0">
              <a:buNone/>
            </a:pPr>
            <a:r>
              <a:rPr lang="en-US" sz="1600" dirty="0">
                <a:solidFill>
                  <a:srgbClr val="1B1F3B"/>
                </a:solidFill>
              </a:rPr>
              <a:t>SonicAtlas website</a:t>
            </a:r>
            <a:endParaRPr lang="en-US" sz="1600" dirty="0"/>
          </a:p>
        </p:txBody>
      </p:sp>
      <p:sp>
        <p:nvSpPr>
          <p:cNvPr id="37" name="Shape 35"/>
          <p:cNvSpPr/>
          <p:nvPr/>
        </p:nvSpPr>
        <p:spPr>
          <a:xfrm>
            <a:off x="4389120" y="5477256"/>
            <a:ext cx="5029200" cy="256032"/>
          </a:xfrm>
          <a:prstGeom prst="roundRect">
            <a:avLst>
              <a:gd name="adj" fmla="val 21429"/>
            </a:avLst>
          </a:prstGeom>
          <a:solidFill>
            <a:srgbClr val="EEF0F7"/>
          </a:solidFill>
          <a:ln w="12700">
            <a:solidFill>
              <a:srgbClr val="EEF0F7"/>
            </a:solidFill>
            <a:prstDash val="solid"/>
          </a:ln>
        </p:spPr>
      </p:sp>
      <p:sp>
        <p:nvSpPr>
          <p:cNvPr id="38" name="Shape 36"/>
          <p:cNvSpPr/>
          <p:nvPr/>
        </p:nvSpPr>
        <p:spPr>
          <a:xfrm>
            <a:off x="4389120" y="5477256"/>
            <a:ext cx="754380" cy="256032"/>
          </a:xfrm>
          <a:prstGeom prst="roundRect">
            <a:avLst>
              <a:gd name="adj" fmla="val 21429"/>
            </a:avLst>
          </a:prstGeom>
          <a:solidFill>
            <a:srgbClr val="F2A541"/>
          </a:solidFill>
          <a:ln w="12700">
            <a:solidFill>
              <a:srgbClr val="F2A541"/>
            </a:solidFill>
            <a:prstDash val="solid"/>
          </a:ln>
        </p:spPr>
      </p:sp>
      <p:sp>
        <p:nvSpPr>
          <p:cNvPr id="39" name="Text 37"/>
          <p:cNvSpPr txBox="1"/>
          <p:nvPr/>
        </p:nvSpPr>
        <p:spPr>
          <a:xfrm>
            <a:off x="9601200" y="5404104"/>
            <a:ext cx="2194560" cy="384048"/>
          </a:xfrm>
          <a:prstGeom prst="rect">
            <a:avLst/>
          </a:prstGeom>
          <a:noFill/>
          <a:ln/>
        </p:spPr>
        <p:txBody>
          <a:bodyPr wrap="square" lIns="0" tIns="0" rIns="0" bIns="0" rtlCol="0" anchor="ctr"/>
          <a:lstStyle/>
          <a:p>
            <a:pPr indent="0" marL="0">
              <a:buNone/>
            </a:pPr>
            <a:r>
              <a:rPr lang="en-US" sz="1400" dirty="0">
                <a:solidFill>
                  <a:srgbClr val="5B6178"/>
                </a:solidFill>
              </a:rPr>
              <a:t>15%  in progress</a:t>
            </a:r>
            <a:endParaRPr lang="en-US" sz="1400" dirty="0"/>
          </a:p>
        </p:txBody>
      </p:sp>
      <p:sp>
        <p:nvSpPr>
          <p:cNvPr id="40" name="Text 38"/>
          <p:cNvSpPr txBox="1"/>
          <p:nvPr/>
        </p:nvSpPr>
        <p:spPr>
          <a:xfrm>
            <a:off x="457200" y="5879592"/>
            <a:ext cx="3840480" cy="384048"/>
          </a:xfrm>
          <a:prstGeom prst="rect">
            <a:avLst/>
          </a:prstGeom>
          <a:noFill/>
          <a:ln/>
        </p:spPr>
        <p:txBody>
          <a:bodyPr wrap="square" lIns="0" tIns="0" rIns="0" bIns="0" rtlCol="0" anchor="ctr"/>
          <a:lstStyle/>
          <a:p>
            <a:pPr indent="0" marL="0">
              <a:buNone/>
            </a:pPr>
            <a:r>
              <a:rPr lang="en-US" sz="1600" dirty="0">
                <a:solidFill>
                  <a:srgbClr val="1B1F3B"/>
                </a:solidFill>
              </a:rPr>
              <a:t>IEEE paper and final report</a:t>
            </a:r>
            <a:endParaRPr lang="en-US" sz="1600" dirty="0"/>
          </a:p>
        </p:txBody>
      </p:sp>
      <p:sp>
        <p:nvSpPr>
          <p:cNvPr id="41" name="Shape 39"/>
          <p:cNvSpPr/>
          <p:nvPr/>
        </p:nvSpPr>
        <p:spPr>
          <a:xfrm>
            <a:off x="4389120" y="5952744"/>
            <a:ext cx="5029200" cy="256032"/>
          </a:xfrm>
          <a:prstGeom prst="roundRect">
            <a:avLst>
              <a:gd name="adj" fmla="val 21429"/>
            </a:avLst>
          </a:prstGeom>
          <a:solidFill>
            <a:srgbClr val="EEF0F7"/>
          </a:solidFill>
          <a:ln w="12700">
            <a:solidFill>
              <a:srgbClr val="EEF0F7"/>
            </a:solidFill>
            <a:prstDash val="solid"/>
          </a:ln>
        </p:spPr>
      </p:sp>
      <p:sp>
        <p:nvSpPr>
          <p:cNvPr id="42" name="Shape 40"/>
          <p:cNvSpPr/>
          <p:nvPr/>
        </p:nvSpPr>
        <p:spPr>
          <a:xfrm>
            <a:off x="4389120" y="5952744"/>
            <a:ext cx="2011680" cy="256032"/>
          </a:xfrm>
          <a:prstGeom prst="roundRect">
            <a:avLst>
              <a:gd name="adj" fmla="val 21429"/>
            </a:avLst>
          </a:prstGeom>
          <a:solidFill>
            <a:srgbClr val="F2A541"/>
          </a:solidFill>
          <a:ln w="12700">
            <a:solidFill>
              <a:srgbClr val="F2A541"/>
            </a:solidFill>
            <a:prstDash val="solid"/>
          </a:ln>
        </p:spPr>
      </p:sp>
      <p:sp>
        <p:nvSpPr>
          <p:cNvPr id="43" name="Text 41"/>
          <p:cNvSpPr txBox="1"/>
          <p:nvPr/>
        </p:nvSpPr>
        <p:spPr>
          <a:xfrm>
            <a:off x="9601200" y="5879592"/>
            <a:ext cx="2194560" cy="384048"/>
          </a:xfrm>
          <a:prstGeom prst="rect">
            <a:avLst/>
          </a:prstGeom>
          <a:noFill/>
          <a:ln/>
        </p:spPr>
        <p:txBody>
          <a:bodyPr wrap="square" lIns="0" tIns="0" rIns="0" bIns="0" rtlCol="0" anchor="ctr"/>
          <a:lstStyle/>
          <a:p>
            <a:pPr indent="0" marL="0">
              <a:buNone/>
            </a:pPr>
            <a:r>
              <a:rPr lang="en-US" sz="1400" dirty="0">
                <a:solidFill>
                  <a:srgbClr val="5B6178"/>
                </a:solidFill>
              </a:rPr>
              <a:t>40%  in progress</a:t>
            </a:r>
            <a:endParaRPr lang="en-US" sz="14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10972800" cy="320040"/>
          </a:xfrm>
          <a:prstGeom prst="rect">
            <a:avLst/>
          </a:prstGeom>
          <a:noFill/>
          <a:ln/>
        </p:spPr>
        <p:txBody>
          <a:bodyPr wrap="square" lIns="0" tIns="0" rIns="0" bIns="0" rtlCol="0" anchor="ctr"/>
          <a:lstStyle/>
          <a:p>
            <a:pPr indent="0" marL="0">
              <a:buNone/>
            </a:pPr>
            <a:r>
              <a:rPr lang="en-US" sz="1300" b="1" spc="200" kern="0" dirty="0">
                <a:solidFill>
                  <a:srgbClr val="B7791F"/>
                </a:solidFill>
              </a:rPr>
              <a:t>NEXT STEPS AND KEY REFERENCES</a:t>
            </a:r>
            <a:endParaRPr lang="en-US" sz="1300" dirty="0"/>
          </a:p>
        </p:txBody>
      </p:sp>
      <p:sp>
        <p:nvSpPr>
          <p:cNvPr id="3" name="Text 1"/>
          <p:cNvSpPr txBox="1"/>
          <p:nvPr/>
        </p:nvSpPr>
        <p:spPr>
          <a:xfrm>
            <a:off x="457200" y="566928"/>
            <a:ext cx="11247120" cy="777240"/>
          </a:xfrm>
          <a:prstGeom prst="rect">
            <a:avLst/>
          </a:prstGeom>
          <a:noFill/>
          <a:ln/>
        </p:spPr>
        <p:txBody>
          <a:bodyPr wrap="square" lIns="0" tIns="0" rIns="0" bIns="0" rtlCol="0" anchor="t"/>
          <a:lstStyle/>
          <a:p>
            <a:pPr indent="0" marL="0">
              <a:buNone/>
            </a:pPr>
            <a:r>
              <a:rPr lang="en-US" sz="3000" b="1" dirty="0">
                <a:solidFill>
                  <a:srgbClr val="1B1F3B"/>
                </a:solidFill>
              </a:rPr>
              <a:t>Next: finish the website, lyrics, network and the IEEE paper</a:t>
            </a:r>
            <a:endParaRPr lang="en-US" sz="3000" dirty="0"/>
          </a:p>
        </p:txBody>
      </p:sp>
      <p:sp>
        <p:nvSpPr>
          <p:cNvPr id="4" name="Shape 2"/>
          <p:cNvSpPr/>
          <p:nvPr/>
        </p:nvSpPr>
        <p:spPr>
          <a:xfrm>
            <a:off x="457200" y="1554480"/>
            <a:ext cx="5394960" cy="4480560"/>
          </a:xfrm>
          <a:prstGeom prst="roundRect">
            <a:avLst>
              <a:gd name="adj" fmla="val 2449"/>
            </a:avLst>
          </a:prstGeom>
          <a:solidFill>
            <a:srgbClr val="EEF0F7"/>
          </a:solidFill>
          <a:ln w="12700">
            <a:solidFill>
              <a:srgbClr val="EEF0F7"/>
            </a:solidFill>
            <a:prstDash val="solid"/>
          </a:ln>
        </p:spPr>
      </p:sp>
      <p:sp>
        <p:nvSpPr>
          <p:cNvPr id="5" name="Text 3"/>
          <p:cNvSpPr txBox="1"/>
          <p:nvPr/>
        </p:nvSpPr>
        <p:spPr>
          <a:xfrm>
            <a:off x="640080" y="1664208"/>
            <a:ext cx="5029200" cy="411480"/>
          </a:xfrm>
          <a:prstGeom prst="rect">
            <a:avLst/>
          </a:prstGeom>
          <a:noFill/>
          <a:ln/>
        </p:spPr>
        <p:txBody>
          <a:bodyPr wrap="square" lIns="0" tIns="0" rIns="0" bIns="0" rtlCol="0" anchor="ctr"/>
          <a:lstStyle/>
          <a:p>
            <a:pPr indent="0" marL="0">
              <a:buNone/>
            </a:pPr>
            <a:r>
              <a:rPr lang="en-US" sz="1800" b="1" dirty="0">
                <a:solidFill>
                  <a:srgbClr val="1B1F3B"/>
                </a:solidFill>
              </a:rPr>
              <a:t>Next steps</a:t>
            </a:r>
            <a:endParaRPr lang="en-US" sz="1800" dirty="0"/>
          </a:p>
        </p:txBody>
      </p:sp>
      <p:sp>
        <p:nvSpPr>
          <p:cNvPr id="6" name="Text 4"/>
          <p:cNvSpPr txBox="1"/>
          <p:nvPr/>
        </p:nvSpPr>
        <p:spPr>
          <a:xfrm>
            <a:off x="640080" y="2103120"/>
            <a:ext cx="5029200" cy="38404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B1F3B"/>
                </a:solidFill>
              </a:rPr>
              <a:t>Website: Query Studio, Acoustic Map, Compare, Time Machine</a:t>
            </a:r>
            <a:endParaRPr lang="en-US" sz="1600" dirty="0"/>
          </a:p>
          <a:p>
            <a:pPr marL="228600" indent="-228600">
              <a:spcAft>
                <a:spcPts val="800"/>
              </a:spcAft>
              <a:buSzPct val="100000"/>
              <a:buChar char="•"/>
            </a:pPr>
            <a:r>
              <a:rPr lang="en-US" sz="1600" dirty="0">
                <a:solidFill>
                  <a:srgbClr val="1B1F3B"/>
                </a:solidFill>
              </a:rPr>
              <a:t>Lyrics sentiment vs audio valence; artist network</a:t>
            </a:r>
            <a:endParaRPr lang="en-US" sz="1600" dirty="0"/>
          </a:p>
          <a:p>
            <a:pPr marL="228600" indent="-228600">
              <a:spcAft>
                <a:spcPts val="800"/>
              </a:spcAft>
              <a:buSzPct val="100000"/>
              <a:buChar char="•"/>
            </a:pPr>
            <a:r>
              <a:rPr lang="en-US" sz="1600" dirty="0">
                <a:solidFill>
                  <a:srgbClr val="1B1F3B"/>
                </a:solidFill>
              </a:rPr>
              <a:t>YData-Profiling, Sweetviz, D-Tale benchmark</a:t>
            </a:r>
            <a:endParaRPr lang="en-US" sz="1600" dirty="0"/>
          </a:p>
          <a:p>
            <a:pPr marL="228600" indent="-228600">
              <a:spcAft>
                <a:spcPts val="800"/>
              </a:spcAft>
              <a:buSzPct val="100000"/>
              <a:buChar char="•"/>
            </a:pPr>
            <a:r>
              <a:rPr lang="en-US" sz="1600" dirty="0">
                <a:solidFill>
                  <a:srgbClr val="1B1F3B"/>
                </a:solidFill>
              </a:rPr>
              <a:t>Playwright tests, Lighthouse audit, GitHub Pages</a:t>
            </a:r>
            <a:endParaRPr lang="en-US" sz="1600" dirty="0"/>
          </a:p>
          <a:p>
            <a:pPr marL="228600" indent="-228600">
              <a:spcAft>
                <a:spcPts val="800"/>
              </a:spcAft>
              <a:buSzPct val="100000"/>
              <a:buChar char="•"/>
            </a:pPr>
            <a:r>
              <a:rPr lang="en-US" sz="1600" dirty="0">
                <a:solidFill>
                  <a:srgbClr val="1B1F3B"/>
                </a:solidFill>
              </a:rPr>
              <a:t>IEEE paper, plagiarism self-check, final report</a:t>
            </a:r>
            <a:endParaRPr lang="en-US" sz="1600" dirty="0"/>
          </a:p>
        </p:txBody>
      </p:sp>
      <p:sp>
        <p:nvSpPr>
          <p:cNvPr id="7" name="Text 5"/>
          <p:cNvSpPr txBox="1"/>
          <p:nvPr/>
        </p:nvSpPr>
        <p:spPr>
          <a:xfrm>
            <a:off x="6217920" y="1554480"/>
            <a:ext cx="5486400" cy="411480"/>
          </a:xfrm>
          <a:prstGeom prst="rect">
            <a:avLst/>
          </a:prstGeom>
          <a:noFill/>
          <a:ln/>
        </p:spPr>
        <p:txBody>
          <a:bodyPr wrap="square" lIns="0" tIns="0" rIns="0" bIns="0" rtlCol="0" anchor="ctr"/>
          <a:lstStyle/>
          <a:p>
            <a:pPr indent="0" marL="0">
              <a:buNone/>
            </a:pPr>
            <a:r>
              <a:rPr lang="en-US" sz="2000" b="1" dirty="0">
                <a:solidFill>
                  <a:srgbClr val="1B1F3B"/>
                </a:solidFill>
              </a:rPr>
              <a:t>Key references</a:t>
            </a:r>
            <a:endParaRPr lang="en-US" sz="2000" dirty="0"/>
          </a:p>
        </p:txBody>
      </p:sp>
      <p:sp>
        <p:nvSpPr>
          <p:cNvPr id="8" name="Text 6"/>
          <p:cNvSpPr txBox="1"/>
          <p:nvPr/>
        </p:nvSpPr>
        <p:spPr>
          <a:xfrm>
            <a:off x="6217920" y="2057400"/>
            <a:ext cx="5486400" cy="4023360"/>
          </a:xfrm>
          <a:prstGeom prst="rect">
            <a:avLst/>
          </a:prstGeom>
          <a:noFill/>
          <a:ln/>
        </p:spPr>
        <p:txBody>
          <a:bodyPr wrap="square" lIns="0" tIns="0" rIns="0" bIns="0" rtlCol="0" anchor="t"/>
          <a:lstStyle/>
          <a:p>
            <a:pPr indent="0" marL="0">
              <a:spcAft>
                <a:spcPts val="600"/>
              </a:spcAft>
              <a:buNone/>
            </a:pPr>
            <a:r>
              <a:rPr lang="en-US" sz="1400" dirty="0">
                <a:solidFill>
                  <a:srgbClr val="1B1F3B"/>
                </a:solidFill>
              </a:rPr>
              <a:t>[9] J. Serrà et al. (2012), Measuring the Evolution of Contemporary Western Popular Music</a:t>
            </a:r>
            <a:endParaRPr lang="en-US" sz="1400" dirty="0"/>
          </a:p>
          <a:p>
            <a:pPr indent="0" marL="0">
              <a:spcAft>
                <a:spcPts val="600"/>
              </a:spcAft>
              <a:buNone/>
            </a:pPr>
            <a:r>
              <a:rPr lang="en-US" sz="1400" dirty="0">
                <a:solidFill>
                  <a:srgbClr val="1B1F3B"/>
                </a:solidFill>
              </a:rPr>
              <a:t>[6] M. Interiano et al. (2018), Musical trends and predictability of success in contemporary songs in and out of the top charts</a:t>
            </a:r>
            <a:endParaRPr lang="en-US" sz="1400" dirty="0"/>
          </a:p>
          <a:p>
            <a:pPr indent="0" marL="0">
              <a:spcAft>
                <a:spcPts val="600"/>
              </a:spcAft>
              <a:buNone/>
            </a:pPr>
            <a:r>
              <a:rPr lang="en-US" sz="1400" dirty="0">
                <a:solidFill>
                  <a:srgbClr val="1B1F3B"/>
                </a:solidFill>
              </a:rPr>
              <a:t>[11] C. Hutto et al. (2014), VADER: A Parsimonious Rule-Based Model for Sentiment Analysis of Social Media Text</a:t>
            </a:r>
            <a:endParaRPr lang="en-US" sz="1400" dirty="0"/>
          </a:p>
          <a:p>
            <a:pPr indent="0" marL="0">
              <a:spcAft>
                <a:spcPts val="600"/>
              </a:spcAft>
              <a:buNone/>
            </a:pPr>
            <a:r>
              <a:rPr lang="en-US" sz="1400" dirty="0">
                <a:solidFill>
                  <a:srgbClr val="1B1F3B"/>
                </a:solidFill>
              </a:rPr>
              <a:t>[16] L. van der Maaten et al. (2008), Visualizing Data using t-SNE</a:t>
            </a:r>
            <a:endParaRPr lang="en-US" sz="1400" dirty="0"/>
          </a:p>
          <a:p>
            <a:pPr indent="0" marL="0">
              <a:spcAft>
                <a:spcPts val="600"/>
              </a:spcAft>
              <a:buNone/>
            </a:pPr>
            <a:r>
              <a:rPr lang="en-US" sz="1400" dirty="0">
                <a:solidFill>
                  <a:srgbClr val="1B1F3B"/>
                </a:solidFill>
              </a:rPr>
              <a:t>[25] D. H. da Silva et al. (2025), A Web Application for exploratory data analysis and classification of Parkinson's Disease patients using machine learning models on different datasets</a:t>
            </a:r>
            <a:endParaRPr lang="en-US" sz="1400" dirty="0"/>
          </a:p>
          <a:p>
            <a:pPr indent="0" marL="0">
              <a:spcAft>
                <a:spcPts val="600"/>
              </a:spcAft>
              <a:buNone/>
            </a:pPr>
            <a:r>
              <a:rPr lang="en-US" sz="1400" dirty="0">
                <a:solidFill>
                  <a:srgbClr val="1B1F3B"/>
                </a:solidFill>
              </a:rPr>
              <a:t>Kaggle datasets: rodolfofigueroa/spotify-12m-songs; maharshipandya/-spotify-tracks-dataset; carlosgdcj/genius-song-lyrics-with-language-information</a:t>
            </a:r>
            <a:endParaRPr lang="en-US" sz="14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B6178"/>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Vellore Institute of Technology, Vellore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SonicAtlas: An Interactive In-Browser EDA Platform for Spotify Audio Features and Lyrics Across Genres and Eras</dc:title>
  <dc:subject>BACSE301 EDA - Review-2 presentation, Team 05</dc:subject>
  <dc:creator>Sharvesh Prabhu (25BDS0318), Nithin S (25BDS0308)</dc:creator>
  <cp:lastModifiedBy>Sharvesh Prabhu (25BDS0318), Nithin S (25BDS0308)</cp:lastModifiedBy>
  <cp:revision>1</cp:revision>
  <dcterms:created xsi:type="dcterms:W3CDTF">2026-10-20T11:40:24Z</dcterms:created>
  <dcterms:modified xsi:type="dcterms:W3CDTF">2026-10-20T11:40:24Z</dcterms:modified>
</cp:coreProperties>
</file>