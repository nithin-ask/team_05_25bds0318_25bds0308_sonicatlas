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are Team 05. This Review-1 deck presents our problem, literature survey, objectives and the proposed SonicAtlas design.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SonicAtlas studies how musical characteristics change across genres and decades using public Spotify data and lyrics. We cleaned over a million tracks, applied the methods from our syllabus, and built a website so anyone can explore the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reviewed 25 verified papers. The main gaps: results are static, audio and lyrics are studied separately, data quality is rarely discussed, and generic EDA tools are not music-aware and need a server.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data is public but noisy: impossible tempos, duplicates and sources without common keys. Results in the literature are static, sound and lyrics are studied separately, and interactive tools cost money to host. Our objectives address each problem with a measurable target.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objective has a measurable outcome, for example the imputation error compared with mean filling, trustworthiness scores for the embeddings, and query time in the browser.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Spotify's own tools are closed, notebooks are static, the Streamlit application from our faculty reading needs a Python server and is not music-aware, and automated EDA tools are generic. SonicAtlas covers all columns.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proposed system has five stages: clean, explore, map, explain and share. The last stage is the website, which runs SQL in the browser so it is fast, private and free to host.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Python notebooks clean the data and compute statistics, embeddings and clusters, and export compact Parquet files. In the browser, DuckDB compiled to WebAssembly runs in a Web Worker and answers SQL queries locally. The React interface has eleven modules and keeps its state in the URL.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B1F3B"/>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C9CDDB"/>
                </a:solidFill>
                <a:latin typeface="Calibri"/>
                <a:ea typeface="Calibri"/>
                <a:cs typeface="Calibri"/>
              </a:defRPr>
            </a:lvl1pPr>
          </a:lstStyle>
          <a:p>
            <a:pPr algn="l"/>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6446520"/>
            <a:ext cx="7315200" cy="274320"/>
          </a:xfrm>
          <a:prstGeom prst="rect">
            <a:avLst/>
          </a:prstGeom>
          <a:noFill/>
          <a:ln/>
        </p:spPr>
        <p:txBody>
          <a:bodyPr wrap="square" rtlCol="0" anchor="ctr"/>
          <a:lstStyle/>
          <a:p>
            <a:pPr indent="0" marL="0">
              <a:buNone/>
            </a:pPr>
            <a:r>
              <a:rPr lang="en-US" sz="1000" dirty="0">
                <a:solidFill>
                  <a:srgbClr val="5B6178"/>
                </a:solidFill>
                <a:latin typeface="Calibri" pitchFamily="34" charset="0"/>
                <a:ea typeface="Calibri" pitchFamily="34" charset="-122"/>
                <a:cs typeface="Calibri" pitchFamily="34" charset="-120"/>
              </a:rPr>
              <a:t>Team 05  |  SonicAtlas  |  BACSE301 Exploratory Data Analysis</a:t>
            </a:r>
            <a:endParaRPr lang="en-US" sz="1000" dirty="0"/>
          </a:p>
        </p:txBody>
      </p:sp>
      <p:sp>
        <p:nvSpPr>
          <p:cNvPr id="25" name="Slide Number Placeholder 0"/>
          <p:cNvSpPr>
            <a:spLocks noGrp="1"/>
          </p:cNvSpPr>
          <p:nvPr>
            <p:ph type="sldNum" sz="quarter" idx="4294967295"/>
          </p:nvPr>
        </p:nvSpPr>
        <p:spPr>
          <a:xfrm>
            <a:off x="11247120" y="640080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5B6178"/>
                </a:solidFill>
                <a:latin typeface="Calibri"/>
                <a:ea typeface="Calibri"/>
                <a:cs typeface="Calibri"/>
              </a:defRPr>
            </a:lvl1pPr>
          </a:lstStyle>
          <a:p>
            <a:pPr algn="l"/>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C9CDDB"/>
                </a:solidFill>
                <a:latin typeface="Calibri"/>
                <a:ea typeface="Calibri"/>
                <a:cs typeface="Calibri"/>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640080" y="548640"/>
            <a:ext cx="5486400" cy="457200"/>
          </a:xfrm>
          <a:prstGeom prst="rect">
            <a:avLst/>
          </a:prstGeom>
          <a:noFill/>
          <a:ln/>
        </p:spPr>
        <p:txBody>
          <a:bodyPr wrap="square" lIns="0" tIns="0" rIns="0" bIns="0" rtlCol="0" anchor="ctr"/>
          <a:lstStyle/>
          <a:p>
            <a:pPr indent="0" marL="0">
              <a:buNone/>
            </a:pPr>
            <a:r>
              <a:rPr lang="en-US" sz="1800" b="1" spc="600" kern="0" dirty="0">
                <a:solidFill>
                  <a:srgbClr val="F2A541"/>
                </a:solidFill>
              </a:rPr>
              <a:t>SONICATLAS</a:t>
            </a:r>
            <a:endParaRPr lang="en-US" sz="1800" dirty="0"/>
          </a:p>
        </p:txBody>
      </p:sp>
      <p:sp>
        <p:nvSpPr>
          <p:cNvPr id="3" name="Text 1"/>
          <p:cNvSpPr txBox="1"/>
          <p:nvPr/>
        </p:nvSpPr>
        <p:spPr>
          <a:xfrm>
            <a:off x="640080" y="1097280"/>
            <a:ext cx="7498080" cy="1828800"/>
          </a:xfrm>
          <a:prstGeom prst="rect">
            <a:avLst/>
          </a:prstGeom>
          <a:noFill/>
          <a:ln/>
        </p:spPr>
        <p:txBody>
          <a:bodyPr wrap="square" lIns="0" tIns="0" rIns="0" bIns="0" rtlCol="0" anchor="t"/>
          <a:lstStyle/>
          <a:p>
            <a:pPr indent="0" marL="0">
              <a:buNone/>
            </a:pPr>
            <a:r>
              <a:rPr lang="en-US" sz="3200" b="1" dirty="0">
                <a:solidFill>
                  <a:srgbClr val="FFFFFF"/>
                </a:solidFill>
              </a:rPr>
              <a:t>An Interactive In-Browser EDA Platform for Spotify Audio Features and Lyrics Across Genres and Eras</a:t>
            </a:r>
            <a:endParaRPr lang="en-US" sz="3200" dirty="0"/>
          </a:p>
        </p:txBody>
      </p:sp>
      <p:sp>
        <p:nvSpPr>
          <p:cNvPr id="4" name="Text 2"/>
          <p:cNvSpPr txBox="1"/>
          <p:nvPr/>
        </p:nvSpPr>
        <p:spPr>
          <a:xfrm>
            <a:off x="640080" y="3108960"/>
            <a:ext cx="7589520" cy="457200"/>
          </a:xfrm>
          <a:prstGeom prst="rect">
            <a:avLst/>
          </a:prstGeom>
          <a:noFill/>
          <a:ln/>
        </p:spPr>
        <p:txBody>
          <a:bodyPr wrap="square" lIns="0" tIns="0" rIns="0" bIns="0" rtlCol="0" anchor="ctr"/>
          <a:lstStyle/>
          <a:p>
            <a:pPr indent="0" marL="0">
              <a:buNone/>
            </a:pPr>
            <a:r>
              <a:rPr lang="en-US" sz="2200" b="1" dirty="0">
                <a:solidFill>
                  <a:srgbClr val="F2A541"/>
                </a:solidFill>
              </a:rPr>
              <a:t>Review-1  |  Problem, literature and design</a:t>
            </a:r>
            <a:endParaRPr lang="en-US" sz="2200" dirty="0"/>
          </a:p>
        </p:txBody>
      </p:sp>
      <p:sp>
        <p:nvSpPr>
          <p:cNvPr id="5" name="Text 3"/>
          <p:cNvSpPr txBox="1"/>
          <p:nvPr/>
        </p:nvSpPr>
        <p:spPr>
          <a:xfrm>
            <a:off x="640080" y="3749040"/>
            <a:ext cx="5486400" cy="1188720"/>
          </a:xfrm>
          <a:prstGeom prst="rect">
            <a:avLst/>
          </a:prstGeom>
          <a:noFill/>
          <a:ln/>
        </p:spPr>
        <p:txBody>
          <a:bodyPr wrap="square" lIns="0" tIns="0" rIns="0" bIns="0" rtlCol="0" anchor="t"/>
          <a:lstStyle/>
          <a:p>
            <a:pPr indent="0" marL="0">
              <a:buNone/>
            </a:pPr>
            <a:r>
              <a:rPr lang="en-US" sz="1800" b="1" dirty="0">
                <a:solidFill>
                  <a:srgbClr val="FFFFFF"/>
                </a:solidFill>
              </a:rPr>
              <a:t>Team 05</a:t>
            </a:r>
            <a:endParaRPr lang="en-US" sz="1800" dirty="0"/>
          </a:p>
          <a:p>
            <a:pPr indent="0" marL="0">
              <a:buNone/>
            </a:pPr>
            <a:r>
              <a:rPr lang="en-US" sz="1800" dirty="0">
                <a:solidFill>
                  <a:srgbClr val="FFFFFF"/>
                </a:solidFill>
              </a:rPr>
              <a:t>25BDS0318  Sharvesh Prabhu</a:t>
            </a:r>
            <a:endParaRPr lang="en-US" sz="1800" dirty="0"/>
          </a:p>
          <a:p>
            <a:pPr indent="0" marL="0">
              <a:buNone/>
            </a:pPr>
            <a:r>
              <a:rPr lang="en-US" sz="1800" dirty="0">
                <a:solidFill>
                  <a:srgbClr val="FFFFFF"/>
                </a:solidFill>
              </a:rPr>
              <a:t>25BDS0308  Nithin S</a:t>
            </a:r>
            <a:endParaRPr lang="en-US" sz="1800" dirty="0"/>
          </a:p>
        </p:txBody>
      </p:sp>
      <p:sp>
        <p:nvSpPr>
          <p:cNvPr id="6" name="Text 4"/>
          <p:cNvSpPr txBox="1"/>
          <p:nvPr/>
        </p:nvSpPr>
        <p:spPr>
          <a:xfrm>
            <a:off x="640080" y="5120640"/>
            <a:ext cx="8229600" cy="1005840"/>
          </a:xfrm>
          <a:prstGeom prst="rect">
            <a:avLst/>
          </a:prstGeom>
          <a:noFill/>
          <a:ln/>
        </p:spPr>
        <p:txBody>
          <a:bodyPr wrap="square" lIns="0" tIns="0" rIns="0" bIns="0" rtlCol="0" anchor="t"/>
          <a:lstStyle/>
          <a:p>
            <a:pPr indent="0" marL="0">
              <a:buNone/>
            </a:pPr>
            <a:r>
              <a:rPr lang="en-US" sz="1500" dirty="0">
                <a:solidFill>
                  <a:srgbClr val="C9CDDB"/>
                </a:solidFill>
              </a:rPr>
              <a:t>BACSE301 Exploratory Data Analysis (Project-based Course)</a:t>
            </a:r>
            <a:endParaRPr lang="en-US" sz="1500" dirty="0"/>
          </a:p>
          <a:p>
            <a:pPr indent="0" marL="0">
              <a:buNone/>
            </a:pPr>
            <a:r>
              <a:rPr lang="en-US" sz="1500" dirty="0">
                <a:solidFill>
                  <a:srgbClr val="C9CDDB"/>
                </a:solidFill>
              </a:rPr>
              <a:t>Faculty: ____________</a:t>
            </a:r>
            <a:endParaRPr lang="en-US" sz="1500" dirty="0"/>
          </a:p>
          <a:p>
            <a:pPr indent="0" marL="0">
              <a:buNone/>
            </a:pPr>
            <a:r>
              <a:rPr lang="en-US" sz="1500" dirty="0">
                <a:solidFill>
                  <a:srgbClr val="C9CDDB"/>
                </a:solidFill>
              </a:rPr>
              <a:t>School of Computer Science and Engineering, VIT Vellore  |  2026</a:t>
            </a:r>
            <a:endParaRPr lang="en-US" sz="1500" dirty="0"/>
          </a:p>
        </p:txBody>
      </p:sp>
      <p:sp>
        <p:nvSpPr>
          <p:cNvPr id="7" name="Shape 5"/>
          <p:cNvSpPr/>
          <p:nvPr/>
        </p:nvSpPr>
        <p:spPr>
          <a:xfrm>
            <a:off x="8412480" y="1097280"/>
            <a:ext cx="3291840" cy="3291840"/>
          </a:xfrm>
          <a:prstGeom prst="roundRect">
            <a:avLst>
              <a:gd name="adj" fmla="val 4167"/>
            </a:avLst>
          </a:prstGeom>
          <a:solidFill>
            <a:srgbClr val="FFFFFF"/>
          </a:solidFill>
          <a:ln w="12700">
            <a:solidFill>
              <a:srgbClr val="FFFFFF"/>
            </a:solidFill>
            <a:prstDash val="solid"/>
          </a:ln>
        </p:spPr>
      </p:sp>
      <p:pic>
        <p:nvPicPr>
          <p:cNvPr id="8" name="Image 0" descr="Acoustic cluster map">    </p:cNvPr>
          <p:cNvPicPr>
            <a:picLocks noChangeAspect="1"/>
          </p:cNvPicPr>
          <p:nvPr/>
        </p:nvPicPr>
        <p:blipFill>
          <a:blip r:embed="rId1"/>
          <a:stretch>
            <a:fillRect/>
          </a:stretch>
        </p:blipFill>
        <p:spPr>
          <a:xfrm>
            <a:off x="8549640" y="1234440"/>
            <a:ext cx="3017520" cy="2665759"/>
          </a:xfrm>
          <a:prstGeom prst="rect">
            <a:avLst/>
          </a:prstGeom>
        </p:spPr>
      </p:pic>
      <p:sp>
        <p:nvSpPr>
          <p:cNvPr id="9" name="Text 6"/>
          <p:cNvSpPr txBox="1"/>
          <p:nvPr/>
        </p:nvSpPr>
        <p:spPr>
          <a:xfrm>
            <a:off x="8412480" y="4480560"/>
            <a:ext cx="3291840" cy="365760"/>
          </a:xfrm>
          <a:prstGeom prst="rect">
            <a:avLst/>
          </a:prstGeom>
          <a:noFill/>
          <a:ln/>
        </p:spPr>
        <p:txBody>
          <a:bodyPr wrap="square" lIns="0" tIns="0" rIns="0" bIns="0" rtlCol="0" anchor="ctr"/>
          <a:lstStyle/>
          <a:p>
            <a:pPr algn="ctr" indent="0" marL="0">
              <a:buNone/>
            </a:pPr>
            <a:r>
              <a:rPr lang="en-US" sz="1200" dirty="0">
                <a:solidFill>
                  <a:srgbClr val="C9CDDB"/>
                </a:solidFill>
              </a:rPr>
              <a:t>Real acoustic map of 10,000 tracks (t-SNE)</a:t>
            </a:r>
            <a:endParaRPr lang="en-US" sz="1200" dirty="0"/>
          </a:p>
        </p:txBody>
      </p:sp>
      <p:sp>
        <p:nvSpPr>
          <p:cNvPr id="25" name="Slide Number Placeholder 0"/>
          <p:cNvSpPr>
            <a:spLocks noGrp="1"/>
          </p:cNvSpPr>
          <p:nvPr>
            <p:ph type="sldNum" sz="quarter" idx="4294967295"/>
          </p:nvPr>
        </p:nvSpPr>
        <p:spPr>
          <a:xfrm>
            <a:off x="11247120" y="640080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C9CDDB"/>
                </a:solidFill>
                <a:latin typeface="Calibri"/>
                <a:ea typeface="Calibri"/>
                <a:cs typeface="Calibri"/>
              </a:defRPr>
            </a:lvl1pPr>
          </a:lstStyle>
          <a:p>
            <a:pPr algn="l"/>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457200" y="274320"/>
            <a:ext cx="10972800" cy="320040"/>
          </a:xfrm>
          <a:prstGeom prst="rect">
            <a:avLst/>
          </a:prstGeom>
          <a:noFill/>
          <a:ln/>
        </p:spPr>
        <p:txBody>
          <a:bodyPr wrap="square" lIns="0" tIns="0" rIns="0" bIns="0" rtlCol="0" anchor="ctr"/>
          <a:lstStyle/>
          <a:p>
            <a:pPr indent="0" marL="0">
              <a:buNone/>
            </a:pPr>
            <a:r>
              <a:rPr lang="en-US" sz="1300" b="1" spc="200" kern="0" dirty="0">
                <a:solidFill>
                  <a:srgbClr val="B7791F"/>
                </a:solidFill>
              </a:rPr>
              <a:t>ABSTRACT</a:t>
            </a:r>
            <a:endParaRPr lang="en-US" sz="1300" dirty="0"/>
          </a:p>
        </p:txBody>
      </p:sp>
      <p:sp>
        <p:nvSpPr>
          <p:cNvPr id="3" name="Text 1"/>
          <p:cNvSpPr txBox="1"/>
          <p:nvPr/>
        </p:nvSpPr>
        <p:spPr>
          <a:xfrm>
            <a:off x="457200" y="566928"/>
            <a:ext cx="11247120" cy="777240"/>
          </a:xfrm>
          <a:prstGeom prst="rect">
            <a:avLst/>
          </a:prstGeom>
          <a:noFill/>
          <a:ln/>
        </p:spPr>
        <p:txBody>
          <a:bodyPr wrap="square" lIns="0" tIns="0" rIns="0" bIns="0" rtlCol="0" anchor="t"/>
          <a:lstStyle/>
          <a:p>
            <a:pPr indent="0" marL="0">
              <a:buNone/>
            </a:pPr>
            <a:r>
              <a:rPr lang="en-US" sz="3000" b="1" dirty="0">
                <a:solidFill>
                  <a:srgbClr val="1B1F3B"/>
                </a:solidFill>
              </a:rPr>
              <a:t>Mapping how the sound of music changes across genres and eras</a:t>
            </a:r>
            <a:endParaRPr lang="en-US" sz="3000" dirty="0"/>
          </a:p>
        </p:txBody>
      </p:sp>
      <p:sp>
        <p:nvSpPr>
          <p:cNvPr id="4" name="Shape 2"/>
          <p:cNvSpPr/>
          <p:nvPr/>
        </p:nvSpPr>
        <p:spPr>
          <a:xfrm>
            <a:off x="457200" y="1554480"/>
            <a:ext cx="6949440" cy="4480560"/>
          </a:xfrm>
          <a:prstGeom prst="roundRect">
            <a:avLst>
              <a:gd name="adj" fmla="val 2449"/>
            </a:avLst>
          </a:prstGeom>
          <a:solidFill>
            <a:srgbClr val="EEF0F7"/>
          </a:solidFill>
          <a:ln w="12700">
            <a:solidFill>
              <a:srgbClr val="EEF0F7"/>
            </a:solidFill>
            <a:prstDash val="solid"/>
          </a:ln>
        </p:spPr>
      </p:sp>
      <p:sp>
        <p:nvSpPr>
          <p:cNvPr id="5" name="Text 3"/>
          <p:cNvSpPr txBox="1"/>
          <p:nvPr/>
        </p:nvSpPr>
        <p:spPr>
          <a:xfrm>
            <a:off x="640080" y="1691640"/>
            <a:ext cx="6583680" cy="4206240"/>
          </a:xfrm>
          <a:prstGeom prst="rect">
            <a:avLst/>
          </a:prstGeom>
          <a:noFill/>
          <a:ln/>
        </p:spPr>
        <p:txBody>
          <a:bodyPr wrap="square" lIns="0" tIns="0" rIns="0" bIns="0" rtlCol="0" anchor="t"/>
          <a:lstStyle/>
          <a:p>
            <a:pPr indent="0" marL="0">
              <a:spcAft>
                <a:spcPts val="400"/>
              </a:spcAft>
              <a:buNone/>
            </a:pPr>
            <a:r>
              <a:rPr lang="en-US" sz="1800" dirty="0">
                <a:solidFill>
                  <a:srgbClr val="1B1F3B"/>
                </a:solidFill>
              </a:rPr>
              <a:t>Spotify's archived audio descriptors (energy, valence, danceability, acousticness and more) are rarely explored beyond static charts. SonicAtlas cleans 1,204,025 tracks released 1900-2020, a genre table of 89,740 tracks in 114 genres and 161,401 English lyrics, explores them with the course methods (descriptive statistics, correlation, PCA/t-SNE/LLE, time series, hypothesis tests, text mining), and publishes everything in a website that runs SQL inside the browser with DuckDB-WASM.</a:t>
            </a:r>
            <a:endParaRPr lang="en-US" sz="1800" dirty="0"/>
          </a:p>
        </p:txBody>
      </p:sp>
      <p:sp>
        <p:nvSpPr>
          <p:cNvPr id="6" name="Shape 4"/>
          <p:cNvSpPr/>
          <p:nvPr/>
        </p:nvSpPr>
        <p:spPr>
          <a:xfrm>
            <a:off x="7772400" y="1554480"/>
            <a:ext cx="3931920" cy="1417320"/>
          </a:xfrm>
          <a:prstGeom prst="roundRect">
            <a:avLst>
              <a:gd name="adj" fmla="val 7742"/>
            </a:avLst>
          </a:prstGeom>
          <a:solidFill>
            <a:srgbClr val="EEF0F7"/>
          </a:solidFill>
          <a:ln w="12700">
            <a:solidFill>
              <a:srgbClr val="EEF0F7"/>
            </a:solidFill>
            <a:prstDash val="solid"/>
          </a:ln>
        </p:spPr>
      </p:sp>
      <p:sp>
        <p:nvSpPr>
          <p:cNvPr id="7" name="Text 5"/>
          <p:cNvSpPr txBox="1"/>
          <p:nvPr/>
        </p:nvSpPr>
        <p:spPr>
          <a:xfrm>
            <a:off x="7909560" y="1664208"/>
            <a:ext cx="3657600" cy="685800"/>
          </a:xfrm>
          <a:prstGeom prst="rect">
            <a:avLst/>
          </a:prstGeom>
          <a:noFill/>
          <a:ln/>
        </p:spPr>
        <p:txBody>
          <a:bodyPr wrap="square" lIns="0" tIns="0" rIns="0" bIns="0" rtlCol="0" anchor="ctr"/>
          <a:lstStyle/>
          <a:p>
            <a:pPr indent="0" marL="0">
              <a:buNone/>
            </a:pPr>
            <a:r>
              <a:rPr lang="en-US" sz="3200" b="1" dirty="0">
                <a:solidFill>
                  <a:srgbClr val="1B1F3B"/>
                </a:solidFill>
              </a:rPr>
              <a:t>1,204,025</a:t>
            </a:r>
            <a:endParaRPr lang="en-US" sz="3200" dirty="0"/>
          </a:p>
        </p:txBody>
      </p:sp>
      <p:sp>
        <p:nvSpPr>
          <p:cNvPr id="8" name="Text 6"/>
          <p:cNvSpPr txBox="1"/>
          <p:nvPr/>
        </p:nvSpPr>
        <p:spPr>
          <a:xfrm>
            <a:off x="7909560" y="2331720"/>
            <a:ext cx="3657600" cy="566928"/>
          </a:xfrm>
          <a:prstGeom prst="rect">
            <a:avLst/>
          </a:prstGeom>
          <a:noFill/>
          <a:ln/>
        </p:spPr>
        <p:txBody>
          <a:bodyPr wrap="square" lIns="0" tIns="0" rIns="0" bIns="0" rtlCol="0" anchor="t"/>
          <a:lstStyle/>
          <a:p>
            <a:pPr indent="0" marL="0">
              <a:buNone/>
            </a:pPr>
            <a:r>
              <a:rPr lang="en-US" sz="1400" dirty="0">
                <a:solidFill>
                  <a:srgbClr val="5B6178"/>
                </a:solidFill>
              </a:rPr>
              <a:t>tracks analysed</a:t>
            </a:r>
            <a:endParaRPr lang="en-US" sz="1400" dirty="0"/>
          </a:p>
        </p:txBody>
      </p:sp>
      <p:sp>
        <p:nvSpPr>
          <p:cNvPr id="9" name="Shape 7"/>
          <p:cNvSpPr/>
          <p:nvPr/>
        </p:nvSpPr>
        <p:spPr>
          <a:xfrm>
            <a:off x="7772400" y="3108960"/>
            <a:ext cx="3931920" cy="1417320"/>
          </a:xfrm>
          <a:prstGeom prst="roundRect">
            <a:avLst>
              <a:gd name="adj" fmla="val 7742"/>
            </a:avLst>
          </a:prstGeom>
          <a:solidFill>
            <a:srgbClr val="EEF0F7"/>
          </a:solidFill>
          <a:ln w="12700">
            <a:solidFill>
              <a:srgbClr val="EEF0F7"/>
            </a:solidFill>
            <a:prstDash val="solid"/>
          </a:ln>
        </p:spPr>
      </p:sp>
      <p:sp>
        <p:nvSpPr>
          <p:cNvPr id="10" name="Text 8"/>
          <p:cNvSpPr txBox="1"/>
          <p:nvPr/>
        </p:nvSpPr>
        <p:spPr>
          <a:xfrm>
            <a:off x="7909560" y="3218688"/>
            <a:ext cx="3657600" cy="685800"/>
          </a:xfrm>
          <a:prstGeom prst="rect">
            <a:avLst/>
          </a:prstGeom>
          <a:noFill/>
          <a:ln/>
        </p:spPr>
        <p:txBody>
          <a:bodyPr wrap="square" lIns="0" tIns="0" rIns="0" bIns="0" rtlCol="0" anchor="ctr"/>
          <a:lstStyle/>
          <a:p>
            <a:pPr indent="0" marL="0">
              <a:buNone/>
            </a:pPr>
            <a:r>
              <a:rPr lang="en-US" sz="3200" b="1" dirty="0">
                <a:solidFill>
                  <a:srgbClr val="1B1F3B"/>
                </a:solidFill>
              </a:rPr>
              <a:t>114</a:t>
            </a:r>
            <a:endParaRPr lang="en-US" sz="3200" dirty="0"/>
          </a:p>
        </p:txBody>
      </p:sp>
      <p:sp>
        <p:nvSpPr>
          <p:cNvPr id="11" name="Text 9"/>
          <p:cNvSpPr txBox="1"/>
          <p:nvPr/>
        </p:nvSpPr>
        <p:spPr>
          <a:xfrm>
            <a:off x="7909560" y="3886200"/>
            <a:ext cx="3657600" cy="566928"/>
          </a:xfrm>
          <a:prstGeom prst="rect">
            <a:avLst/>
          </a:prstGeom>
          <a:noFill/>
          <a:ln/>
        </p:spPr>
        <p:txBody>
          <a:bodyPr wrap="square" lIns="0" tIns="0" rIns="0" bIns="0" rtlCol="0" anchor="t"/>
          <a:lstStyle/>
          <a:p>
            <a:pPr indent="0" marL="0">
              <a:buNone/>
            </a:pPr>
            <a:r>
              <a:rPr lang="en-US" sz="1400" dirty="0">
                <a:solidFill>
                  <a:srgbClr val="5B6178"/>
                </a:solidFill>
              </a:rPr>
              <a:t>genres compared</a:t>
            </a:r>
            <a:endParaRPr lang="en-US" sz="1400" dirty="0"/>
          </a:p>
        </p:txBody>
      </p:sp>
      <p:sp>
        <p:nvSpPr>
          <p:cNvPr id="12" name="Shape 10"/>
          <p:cNvSpPr/>
          <p:nvPr/>
        </p:nvSpPr>
        <p:spPr>
          <a:xfrm>
            <a:off x="7772400" y="4663440"/>
            <a:ext cx="3931920" cy="1417320"/>
          </a:xfrm>
          <a:prstGeom prst="roundRect">
            <a:avLst>
              <a:gd name="adj" fmla="val 7742"/>
            </a:avLst>
          </a:prstGeom>
          <a:solidFill>
            <a:srgbClr val="EEF0F7"/>
          </a:solidFill>
          <a:ln w="12700">
            <a:solidFill>
              <a:srgbClr val="EEF0F7"/>
            </a:solidFill>
            <a:prstDash val="solid"/>
          </a:ln>
        </p:spPr>
      </p:sp>
      <p:sp>
        <p:nvSpPr>
          <p:cNvPr id="13" name="Text 11"/>
          <p:cNvSpPr txBox="1"/>
          <p:nvPr/>
        </p:nvSpPr>
        <p:spPr>
          <a:xfrm>
            <a:off x="7909560" y="4773168"/>
            <a:ext cx="3657600" cy="685800"/>
          </a:xfrm>
          <a:prstGeom prst="rect">
            <a:avLst/>
          </a:prstGeom>
          <a:noFill/>
          <a:ln/>
        </p:spPr>
        <p:txBody>
          <a:bodyPr wrap="square" lIns="0" tIns="0" rIns="0" bIns="0" rtlCol="0" anchor="ctr"/>
          <a:lstStyle/>
          <a:p>
            <a:pPr indent="0" marL="0">
              <a:buNone/>
            </a:pPr>
            <a:r>
              <a:rPr lang="en-US" sz="3200" b="1" dirty="0">
                <a:solidFill>
                  <a:srgbClr val="1B1F3B"/>
                </a:solidFill>
              </a:rPr>
              <a:t>1959-2020</a:t>
            </a:r>
            <a:endParaRPr lang="en-US" sz="3200" dirty="0"/>
          </a:p>
        </p:txBody>
      </p:sp>
      <p:sp>
        <p:nvSpPr>
          <p:cNvPr id="14" name="Text 12"/>
          <p:cNvSpPr txBox="1"/>
          <p:nvPr/>
        </p:nvSpPr>
        <p:spPr>
          <a:xfrm>
            <a:off x="7909560" y="5440680"/>
            <a:ext cx="3657600" cy="566928"/>
          </a:xfrm>
          <a:prstGeom prst="rect">
            <a:avLst/>
          </a:prstGeom>
          <a:noFill/>
          <a:ln/>
        </p:spPr>
        <p:txBody>
          <a:bodyPr wrap="square" lIns="0" tIns="0" rIns="0" bIns="0" rtlCol="0" anchor="t"/>
          <a:lstStyle/>
          <a:p>
            <a:pPr indent="0" marL="0">
              <a:buNone/>
            </a:pPr>
            <a:r>
              <a:rPr lang="en-US" sz="1400" dirty="0">
                <a:solidFill>
                  <a:srgbClr val="5B6178"/>
                </a:solidFill>
              </a:rPr>
              <a:t>years of trends</a:t>
            </a:r>
            <a:endParaRPr lang="en-US" sz="1400" dirty="0"/>
          </a:p>
        </p:txBody>
      </p:sp>
      <p:sp>
        <p:nvSpPr>
          <p:cNvPr id="25" name="Slide Number Placeholder 0"/>
          <p:cNvSpPr>
            <a:spLocks noGrp="1"/>
          </p:cNvSpPr>
          <p:nvPr>
            <p:ph type="sldNum" sz="quarter" idx="4294967295"/>
          </p:nvPr>
        </p:nvSpPr>
        <p:spPr>
          <a:xfrm>
            <a:off x="11247120" y="640080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5B6178"/>
                </a:solidFill>
                <a:latin typeface="Calibri"/>
                <a:ea typeface="Calibri"/>
                <a:cs typeface="Calibri"/>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457200" y="274320"/>
            <a:ext cx="10972800" cy="320040"/>
          </a:xfrm>
          <a:prstGeom prst="rect">
            <a:avLst/>
          </a:prstGeom>
          <a:noFill/>
          <a:ln/>
        </p:spPr>
        <p:txBody>
          <a:bodyPr wrap="square" lIns="0" tIns="0" rIns="0" bIns="0" rtlCol="0" anchor="ctr"/>
          <a:lstStyle/>
          <a:p>
            <a:pPr indent="0" marL="0">
              <a:buNone/>
            </a:pPr>
            <a:r>
              <a:rPr lang="en-US" sz="1300" b="1" spc="200" kern="0" dirty="0">
                <a:solidFill>
                  <a:srgbClr val="B7791F"/>
                </a:solidFill>
              </a:rPr>
              <a:t>LITERATURE SURVEY AND GAPS</a:t>
            </a:r>
            <a:endParaRPr lang="en-US" sz="1300" dirty="0"/>
          </a:p>
        </p:txBody>
      </p:sp>
      <p:sp>
        <p:nvSpPr>
          <p:cNvPr id="3" name="Text 1"/>
          <p:cNvSpPr txBox="1"/>
          <p:nvPr/>
        </p:nvSpPr>
        <p:spPr>
          <a:xfrm>
            <a:off x="457200" y="566928"/>
            <a:ext cx="11247120" cy="777240"/>
          </a:xfrm>
          <a:prstGeom prst="rect">
            <a:avLst/>
          </a:prstGeom>
          <a:noFill/>
          <a:ln/>
        </p:spPr>
        <p:txBody>
          <a:bodyPr wrap="square" lIns="0" tIns="0" rIns="0" bIns="0" rtlCol="0" anchor="t"/>
          <a:lstStyle/>
          <a:p>
            <a:pPr indent="0" marL="0">
              <a:buNone/>
            </a:pPr>
            <a:r>
              <a:rPr lang="en-US" sz="3000" b="1" dirty="0">
                <a:solidFill>
                  <a:srgbClr val="1B1F3B"/>
                </a:solidFill>
              </a:rPr>
              <a:t>Prior work is static and studies sound and words apart</a:t>
            </a:r>
            <a:endParaRPr lang="en-US" sz="30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7200" y="1554480"/>
          <a:ext cx="11247120" cy="914400"/>
        </p:xfrm>
        <a:graphic>
          <a:graphicData uri="http://schemas.openxmlformats.org/drawingml/2006/table">
            <a:tbl>
              <a:tblPr/>
              <a:tblGrid>
                <a:gridCol w="2651760"/>
                <a:gridCol w="4572000"/>
                <a:gridCol w="4023360"/>
              </a:tblGrid>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Study</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1B1F3B"/>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What they did</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1B1F3B"/>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Gap SonicAtlas addresses</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1B1F3B"/>
                    </a:solidFill>
                  </a:tcPr>
                </a:tc>
              </a:tr>
              <a:tr h="0">
                <a:tc>
                  <a:txBody>
                    <a:bodyPr/>
                    <a:lstStyle/>
                    <a:p>
                      <a:pPr indent="0" marL="0">
                        <a:buNone/>
                      </a:pPr>
                      <a:r>
                        <a:rPr lang="en-US" sz="1500" dirty="0">
                          <a:solidFill>
                            <a:srgbClr val="1B1F3B"/>
                          </a:solidFill>
                          <a:latin typeface="Calibri" pitchFamily="34" charset="0"/>
                          <a:ea typeface="Calibri" pitchFamily="34" charset="-122"/>
                          <a:cs typeface="Calibri" pitchFamily="34" charset="-120"/>
                        </a:rPr>
                        <a:t>J. Serrà et al. (2012)</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EEF0F7"/>
                    </a:solidFill>
                  </a:tcPr>
                </a:tc>
                <a:tc>
                  <a:txBody>
                    <a:bodyPr/>
                    <a:lstStyle/>
                    <a:p>
                      <a:pPr indent="0" marL="0">
                        <a:buNone/>
                      </a:pPr>
                      <a:r>
                        <a:rPr lang="en-US" sz="1500" dirty="0">
                          <a:solidFill>
                            <a:srgbClr val="1B1F3B"/>
                          </a:solidFill>
                          <a:latin typeface="Calibri" pitchFamily="34" charset="0"/>
                          <a:ea typeface="Calibri" pitchFamily="34" charset="-122"/>
                          <a:cs typeface="Calibri" pitchFamily="34" charset="-120"/>
                        </a:rPr>
                        <a:t>Tracked pitch, timbre and loudness of Western pop over 50+ years</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EEF0F7"/>
                    </a:solidFill>
                  </a:tcPr>
                </a:tc>
                <a:tc>
                  <a:txBody>
                    <a:bodyPr/>
                    <a:lstStyle/>
                    <a:p>
                      <a:pPr indent="0" marL="0">
                        <a:buNone/>
                      </a:pPr>
                      <a:r>
                        <a:rPr lang="en-US" sz="1500" dirty="0">
                          <a:solidFill>
                            <a:srgbClr val="1B1F3B"/>
                          </a:solidFill>
                          <a:latin typeface="Calibri" pitchFamily="34" charset="0"/>
                          <a:ea typeface="Calibri" pitchFamily="34" charset="-122"/>
                          <a:cs typeface="Calibri" pitchFamily="34" charset="-120"/>
                        </a:rPr>
                        <a:t>Static figures; no genre-level or interactive view</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EEF0F7"/>
                    </a:solidFill>
                  </a:tcPr>
                </a:tc>
              </a:tr>
              <a:tr h="0">
                <a:tc>
                  <a:txBody>
                    <a:bodyPr/>
                    <a:lstStyle/>
                    <a:p>
                      <a:pPr indent="0" marL="0">
                        <a:buNone/>
                      </a:pPr>
                      <a:r>
                        <a:rPr lang="en-US" sz="1500" dirty="0">
                          <a:solidFill>
                            <a:srgbClr val="1B1F3B"/>
                          </a:solidFill>
                          <a:latin typeface="Calibri" pitchFamily="34" charset="0"/>
                          <a:ea typeface="Calibri" pitchFamily="34" charset="-122"/>
                          <a:cs typeface="Calibri" pitchFamily="34" charset="-120"/>
                        </a:rPr>
                        <a:t>M. Interiano et al. (2018)</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FFFFFF"/>
                    </a:solidFill>
                  </a:tcPr>
                </a:tc>
                <a:tc>
                  <a:txBody>
                    <a:bodyPr/>
                    <a:lstStyle/>
                    <a:p>
                      <a:pPr indent="0" marL="0">
                        <a:buNone/>
                      </a:pPr>
                      <a:r>
                        <a:rPr lang="en-US" sz="1500" dirty="0">
                          <a:solidFill>
                            <a:srgbClr val="1B1F3B"/>
                          </a:solidFill>
                          <a:latin typeface="Calibri" pitchFamily="34" charset="0"/>
                          <a:ea typeface="Calibri" pitchFamily="34" charset="-122"/>
                          <a:cs typeface="Calibri" pitchFamily="34" charset="-120"/>
                        </a:rPr>
                        <a:t>Linked audio features of 500k UK releases to chart success</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FFFFFF"/>
                    </a:solidFill>
                  </a:tcPr>
                </a:tc>
                <a:tc>
                  <a:txBody>
                    <a:bodyPr/>
                    <a:lstStyle/>
                    <a:p>
                      <a:pPr indent="0" marL="0">
                        <a:buNone/>
                      </a:pPr>
                      <a:r>
                        <a:rPr lang="en-US" sz="1500" dirty="0">
                          <a:solidFill>
                            <a:srgbClr val="1B1F3B"/>
                          </a:solidFill>
                          <a:latin typeface="Calibri" pitchFamily="34" charset="0"/>
                          <a:ea typeface="Calibri" pitchFamily="34" charset="-122"/>
                          <a:cs typeface="Calibri" pitchFamily="34" charset="-120"/>
                        </a:rPr>
                        <a:t>No lyrics; results cannot be re-sliced by readers</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FFFFFF"/>
                    </a:solidFill>
                  </a:tcPr>
                </a:tc>
              </a:tr>
              <a:tr h="0">
                <a:tc>
                  <a:txBody>
                    <a:bodyPr/>
                    <a:lstStyle/>
                    <a:p>
                      <a:pPr indent="0" marL="0">
                        <a:buNone/>
                      </a:pPr>
                      <a:r>
                        <a:rPr lang="en-US" sz="1500" dirty="0">
                          <a:solidFill>
                            <a:srgbClr val="1B1F3B"/>
                          </a:solidFill>
                          <a:latin typeface="Calibri" pitchFamily="34" charset="0"/>
                          <a:ea typeface="Calibri" pitchFamily="34" charset="-122"/>
                          <a:cs typeface="Calibri" pitchFamily="34" charset="-120"/>
                        </a:rPr>
                        <a:t>C. O. Brand et al. (2019)</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EEF0F7"/>
                    </a:solidFill>
                  </a:tcPr>
                </a:tc>
                <a:tc>
                  <a:txBody>
                    <a:bodyPr/>
                    <a:lstStyle/>
                    <a:p>
                      <a:pPr indent="0" marL="0">
                        <a:buNone/>
                      </a:pPr>
                      <a:r>
                        <a:rPr lang="en-US" sz="1500" dirty="0">
                          <a:solidFill>
                            <a:srgbClr val="1B1F3B"/>
                          </a:solidFill>
                          <a:latin typeface="Calibri" pitchFamily="34" charset="0"/>
                          <a:ea typeface="Calibri" pitchFamily="34" charset="-122"/>
                          <a:cs typeface="Calibri" pitchFamily="34" charset="-120"/>
                        </a:rPr>
                        <a:t>Measured rising negativity in song lyrics over 50 years</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EEF0F7"/>
                    </a:solidFill>
                  </a:tcPr>
                </a:tc>
                <a:tc>
                  <a:txBody>
                    <a:bodyPr/>
                    <a:lstStyle/>
                    <a:p>
                      <a:pPr indent="0" marL="0">
                        <a:buNone/>
                      </a:pPr>
                      <a:r>
                        <a:rPr lang="en-US" sz="1500" dirty="0">
                          <a:solidFill>
                            <a:srgbClr val="1B1F3B"/>
                          </a:solidFill>
                          <a:latin typeface="Calibri" pitchFamily="34" charset="0"/>
                          <a:ea typeface="Calibri" pitchFamily="34" charset="-122"/>
                          <a:cs typeface="Calibri" pitchFamily="34" charset="-120"/>
                        </a:rPr>
                        <a:t>Lyrics only; audio mood not compared</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EEF0F7"/>
                    </a:solidFill>
                  </a:tcPr>
                </a:tc>
              </a:tr>
              <a:tr h="0">
                <a:tc>
                  <a:txBody>
                    <a:bodyPr/>
                    <a:lstStyle/>
                    <a:p>
                      <a:pPr indent="0" marL="0">
                        <a:buNone/>
                      </a:pPr>
                      <a:r>
                        <a:rPr lang="en-US" sz="1500" dirty="0">
                          <a:solidFill>
                            <a:srgbClr val="1B1F3B"/>
                          </a:solidFill>
                          <a:latin typeface="Calibri" pitchFamily="34" charset="0"/>
                          <a:ea typeface="Calibri" pitchFamily="34" charset="-122"/>
                          <a:cs typeface="Calibri" pitchFamily="34" charset="-120"/>
                        </a:rPr>
                        <a:t>L. van der Maaten et al. (2008)</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FFFFFF"/>
                    </a:solidFill>
                  </a:tcPr>
                </a:tc>
                <a:tc>
                  <a:txBody>
                    <a:bodyPr/>
                    <a:lstStyle/>
                    <a:p>
                      <a:pPr indent="0" marL="0">
                        <a:buNone/>
                      </a:pPr>
                      <a:r>
                        <a:rPr lang="en-US" sz="1500" dirty="0">
                          <a:solidFill>
                            <a:srgbClr val="1B1F3B"/>
                          </a:solidFill>
                          <a:latin typeface="Calibri" pitchFamily="34" charset="0"/>
                          <a:ea typeface="Calibri" pitchFamily="34" charset="-122"/>
                          <a:cs typeface="Calibri" pitchFamily="34" charset="-120"/>
                        </a:rPr>
                        <a:t>Introduced t-SNE for 2-D maps of high-dimensional data</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FFFFFF"/>
                    </a:solidFill>
                  </a:tcPr>
                </a:tc>
                <a:tc>
                  <a:txBody>
                    <a:bodyPr/>
                    <a:lstStyle/>
                    <a:p>
                      <a:pPr indent="0" marL="0">
                        <a:buNone/>
                      </a:pPr>
                      <a:r>
                        <a:rPr lang="en-US" sz="1500" dirty="0">
                          <a:solidFill>
                            <a:srgbClr val="1B1F3B"/>
                          </a:solidFill>
                          <a:latin typeface="Calibri" pitchFamily="34" charset="0"/>
                          <a:ea typeface="Calibri" pitchFamily="34" charset="-122"/>
                          <a:cs typeface="Calibri" pitchFamily="34" charset="-120"/>
                        </a:rPr>
                        <a:t>Global distances unreliable; no music benchmark</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FFFFFF"/>
                    </a:solidFill>
                  </a:tcPr>
                </a:tc>
              </a:tr>
              <a:tr h="0">
                <a:tc>
                  <a:txBody>
                    <a:bodyPr/>
                    <a:lstStyle/>
                    <a:p>
                      <a:pPr indent="0" marL="0">
                        <a:buNone/>
                      </a:pPr>
                      <a:r>
                        <a:rPr lang="en-US" sz="1500" dirty="0">
                          <a:solidFill>
                            <a:srgbClr val="1B1F3B"/>
                          </a:solidFill>
                          <a:latin typeface="Calibri" pitchFamily="34" charset="0"/>
                          <a:ea typeface="Calibri" pitchFamily="34" charset="-122"/>
                          <a:cs typeface="Calibri" pitchFamily="34" charset="-120"/>
                        </a:rPr>
                        <a:t>D. H. da Silva et al. (2025)</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EEF0F7"/>
                    </a:solidFill>
                  </a:tcPr>
                </a:tc>
                <a:tc>
                  <a:txBody>
                    <a:bodyPr/>
                    <a:lstStyle/>
                    <a:p>
                      <a:pPr indent="0" marL="0">
                        <a:buNone/>
                      </a:pPr>
                      <a:r>
                        <a:rPr lang="en-US" sz="1500" dirty="0">
                          <a:solidFill>
                            <a:srgbClr val="1B1F3B"/>
                          </a:solidFill>
                          <a:latin typeface="Calibri" pitchFamily="34" charset="0"/>
                          <a:ea typeface="Calibri" pitchFamily="34" charset="-122"/>
                          <a:cs typeface="Calibri" pitchFamily="34" charset="-120"/>
                        </a:rPr>
                        <a:t>Streamlit web app for EDA and ML on medical data</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EEF0F7"/>
                    </a:solidFill>
                  </a:tcPr>
                </a:tc>
                <a:tc>
                  <a:txBody>
                    <a:bodyPr/>
                    <a:lstStyle/>
                    <a:p>
                      <a:pPr indent="0" marL="0">
                        <a:buNone/>
                      </a:pPr>
                      <a:r>
                        <a:rPr lang="en-US" sz="1500" dirty="0">
                          <a:solidFill>
                            <a:srgbClr val="1B1F3B"/>
                          </a:solidFill>
                          <a:latin typeface="Calibri" pitchFamily="34" charset="0"/>
                          <a:ea typeface="Calibri" pitchFamily="34" charset="-122"/>
                          <a:cs typeface="Calibri" pitchFamily="34" charset="-120"/>
                        </a:rPr>
                        <a:t>Needs a server; not music-aware</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EEF0F7"/>
                    </a:solidFill>
                  </a:tcPr>
                </a:tc>
              </a:tr>
            </a:tbl>
          </a:graphicData>
        </a:graphic>
      </p:graphicFrame>
      <p:sp>
        <p:nvSpPr>
          <p:cNvPr id="5" name="Shape 2"/>
          <p:cNvSpPr/>
          <p:nvPr/>
        </p:nvSpPr>
        <p:spPr>
          <a:xfrm>
            <a:off x="457200" y="4160520"/>
            <a:ext cx="2651760" cy="1463040"/>
          </a:xfrm>
          <a:prstGeom prst="roundRect">
            <a:avLst>
              <a:gd name="adj" fmla="val 7500"/>
            </a:avLst>
          </a:prstGeom>
          <a:solidFill>
            <a:srgbClr val="EEF0F7"/>
          </a:solidFill>
          <a:ln w="12700">
            <a:solidFill>
              <a:srgbClr val="EEF0F7"/>
            </a:solidFill>
            <a:prstDash val="solid"/>
          </a:ln>
        </p:spPr>
      </p:sp>
      <p:sp>
        <p:nvSpPr>
          <p:cNvPr id="6" name="Text 3"/>
          <p:cNvSpPr txBox="1"/>
          <p:nvPr/>
        </p:nvSpPr>
        <p:spPr>
          <a:xfrm>
            <a:off x="640080" y="4270248"/>
            <a:ext cx="2286000" cy="411480"/>
          </a:xfrm>
          <a:prstGeom prst="rect">
            <a:avLst/>
          </a:prstGeom>
          <a:noFill/>
          <a:ln/>
        </p:spPr>
        <p:txBody>
          <a:bodyPr wrap="square" lIns="0" tIns="0" rIns="0" bIns="0" rtlCol="0" anchor="ctr"/>
          <a:lstStyle/>
          <a:p>
            <a:pPr indent="0" marL="0">
              <a:buNone/>
            </a:pPr>
            <a:r>
              <a:rPr lang="en-US" sz="1800" b="1" dirty="0">
                <a:solidFill>
                  <a:srgbClr val="1B1F3B"/>
                </a:solidFill>
              </a:rPr>
              <a:t>Static results</a:t>
            </a:r>
            <a:endParaRPr lang="en-US" sz="1800" dirty="0"/>
          </a:p>
        </p:txBody>
      </p:sp>
      <p:sp>
        <p:nvSpPr>
          <p:cNvPr id="7" name="Text 4"/>
          <p:cNvSpPr txBox="1"/>
          <p:nvPr/>
        </p:nvSpPr>
        <p:spPr>
          <a:xfrm>
            <a:off x="640080" y="4709160"/>
            <a:ext cx="2286000" cy="822960"/>
          </a:xfrm>
          <a:prstGeom prst="rect">
            <a:avLst/>
          </a:prstGeom>
          <a:noFill/>
          <a:ln/>
        </p:spPr>
        <p:txBody>
          <a:bodyPr wrap="square" lIns="0" tIns="0" rIns="0" bIns="0" rtlCol="0" anchor="t"/>
          <a:lstStyle/>
          <a:p>
            <a:pPr indent="0" marL="0">
              <a:spcAft>
                <a:spcPts val="400"/>
              </a:spcAft>
              <a:buNone/>
            </a:pPr>
            <a:r>
              <a:rPr lang="en-US" sz="1600" dirty="0">
                <a:solidFill>
                  <a:srgbClr val="1B1F3B"/>
                </a:solidFill>
              </a:rPr>
              <a:t>fixed figures, no re-slicing</a:t>
            </a:r>
            <a:endParaRPr lang="en-US" sz="1600" dirty="0"/>
          </a:p>
        </p:txBody>
      </p:sp>
      <p:sp>
        <p:nvSpPr>
          <p:cNvPr id="8" name="Shape 5"/>
          <p:cNvSpPr/>
          <p:nvPr/>
        </p:nvSpPr>
        <p:spPr>
          <a:xfrm>
            <a:off x="3291840" y="4160520"/>
            <a:ext cx="2651760" cy="1463040"/>
          </a:xfrm>
          <a:prstGeom prst="roundRect">
            <a:avLst>
              <a:gd name="adj" fmla="val 7500"/>
            </a:avLst>
          </a:prstGeom>
          <a:solidFill>
            <a:srgbClr val="EEF0F7"/>
          </a:solidFill>
          <a:ln w="12700">
            <a:solidFill>
              <a:srgbClr val="EEF0F7"/>
            </a:solidFill>
            <a:prstDash val="solid"/>
          </a:ln>
        </p:spPr>
      </p:sp>
      <p:sp>
        <p:nvSpPr>
          <p:cNvPr id="9" name="Text 6"/>
          <p:cNvSpPr txBox="1"/>
          <p:nvPr/>
        </p:nvSpPr>
        <p:spPr>
          <a:xfrm>
            <a:off x="3474720" y="4270248"/>
            <a:ext cx="2286000" cy="411480"/>
          </a:xfrm>
          <a:prstGeom prst="rect">
            <a:avLst/>
          </a:prstGeom>
          <a:noFill/>
          <a:ln/>
        </p:spPr>
        <p:txBody>
          <a:bodyPr wrap="square" lIns="0" tIns="0" rIns="0" bIns="0" rtlCol="0" anchor="ctr"/>
          <a:lstStyle/>
          <a:p>
            <a:pPr indent="0" marL="0">
              <a:buNone/>
            </a:pPr>
            <a:r>
              <a:rPr lang="en-US" sz="1800" b="1" dirty="0">
                <a:solidFill>
                  <a:srgbClr val="1B1F3B"/>
                </a:solidFill>
              </a:rPr>
              <a:t>Sound vs words</a:t>
            </a:r>
            <a:endParaRPr lang="en-US" sz="1800" dirty="0"/>
          </a:p>
        </p:txBody>
      </p:sp>
      <p:sp>
        <p:nvSpPr>
          <p:cNvPr id="10" name="Text 7"/>
          <p:cNvSpPr txBox="1"/>
          <p:nvPr/>
        </p:nvSpPr>
        <p:spPr>
          <a:xfrm>
            <a:off x="3474720" y="4709160"/>
            <a:ext cx="2286000" cy="822960"/>
          </a:xfrm>
          <a:prstGeom prst="rect">
            <a:avLst/>
          </a:prstGeom>
          <a:noFill/>
          <a:ln/>
        </p:spPr>
        <p:txBody>
          <a:bodyPr wrap="square" lIns="0" tIns="0" rIns="0" bIns="0" rtlCol="0" anchor="t"/>
          <a:lstStyle/>
          <a:p>
            <a:pPr indent="0" marL="0">
              <a:spcAft>
                <a:spcPts val="400"/>
              </a:spcAft>
              <a:buNone/>
            </a:pPr>
            <a:r>
              <a:rPr lang="en-US" sz="1600" dirty="0">
                <a:solidFill>
                  <a:srgbClr val="1B1F3B"/>
                </a:solidFill>
              </a:rPr>
              <a:t>audio and lyrics never compared</a:t>
            </a:r>
            <a:endParaRPr lang="en-US" sz="1600" dirty="0"/>
          </a:p>
        </p:txBody>
      </p:sp>
      <p:sp>
        <p:nvSpPr>
          <p:cNvPr id="11" name="Shape 8"/>
          <p:cNvSpPr/>
          <p:nvPr/>
        </p:nvSpPr>
        <p:spPr>
          <a:xfrm>
            <a:off x="6126480" y="4160520"/>
            <a:ext cx="2651760" cy="1463040"/>
          </a:xfrm>
          <a:prstGeom prst="roundRect">
            <a:avLst>
              <a:gd name="adj" fmla="val 7500"/>
            </a:avLst>
          </a:prstGeom>
          <a:solidFill>
            <a:srgbClr val="EEF0F7"/>
          </a:solidFill>
          <a:ln w="12700">
            <a:solidFill>
              <a:srgbClr val="EEF0F7"/>
            </a:solidFill>
            <a:prstDash val="solid"/>
          </a:ln>
        </p:spPr>
      </p:sp>
      <p:sp>
        <p:nvSpPr>
          <p:cNvPr id="12" name="Text 9"/>
          <p:cNvSpPr txBox="1"/>
          <p:nvPr/>
        </p:nvSpPr>
        <p:spPr>
          <a:xfrm>
            <a:off x="6309360" y="4270248"/>
            <a:ext cx="2286000" cy="411480"/>
          </a:xfrm>
          <a:prstGeom prst="rect">
            <a:avLst/>
          </a:prstGeom>
          <a:noFill/>
          <a:ln/>
        </p:spPr>
        <p:txBody>
          <a:bodyPr wrap="square" lIns="0" tIns="0" rIns="0" bIns="0" rtlCol="0" anchor="ctr"/>
          <a:lstStyle/>
          <a:p>
            <a:pPr indent="0" marL="0">
              <a:buNone/>
            </a:pPr>
            <a:r>
              <a:rPr lang="en-US" sz="1800" b="1" dirty="0">
                <a:solidFill>
                  <a:srgbClr val="1B1F3B"/>
                </a:solidFill>
              </a:rPr>
              <a:t>Data quality</a:t>
            </a:r>
            <a:endParaRPr lang="en-US" sz="1800" dirty="0"/>
          </a:p>
        </p:txBody>
      </p:sp>
      <p:sp>
        <p:nvSpPr>
          <p:cNvPr id="13" name="Text 10"/>
          <p:cNvSpPr txBox="1"/>
          <p:nvPr/>
        </p:nvSpPr>
        <p:spPr>
          <a:xfrm>
            <a:off x="6309360" y="4709160"/>
            <a:ext cx="2286000" cy="822960"/>
          </a:xfrm>
          <a:prstGeom prst="rect">
            <a:avLst/>
          </a:prstGeom>
          <a:noFill/>
          <a:ln/>
        </p:spPr>
        <p:txBody>
          <a:bodyPr wrap="square" lIns="0" tIns="0" rIns="0" bIns="0" rtlCol="0" anchor="t"/>
          <a:lstStyle/>
          <a:p>
            <a:pPr indent="0" marL="0">
              <a:spcAft>
                <a:spcPts val="400"/>
              </a:spcAft>
              <a:buNone/>
            </a:pPr>
            <a:r>
              <a:rPr lang="en-US" sz="1600" dirty="0">
                <a:solidFill>
                  <a:srgbClr val="1B1F3B"/>
                </a:solidFill>
              </a:rPr>
              <a:t>zero tempos, re-issues ignored</a:t>
            </a:r>
            <a:endParaRPr lang="en-US" sz="1600" dirty="0"/>
          </a:p>
        </p:txBody>
      </p:sp>
      <p:sp>
        <p:nvSpPr>
          <p:cNvPr id="14" name="Shape 11"/>
          <p:cNvSpPr/>
          <p:nvPr/>
        </p:nvSpPr>
        <p:spPr>
          <a:xfrm>
            <a:off x="8961120" y="4160520"/>
            <a:ext cx="2651760" cy="1463040"/>
          </a:xfrm>
          <a:prstGeom prst="roundRect">
            <a:avLst>
              <a:gd name="adj" fmla="val 7500"/>
            </a:avLst>
          </a:prstGeom>
          <a:solidFill>
            <a:srgbClr val="EEF0F7"/>
          </a:solidFill>
          <a:ln w="12700">
            <a:solidFill>
              <a:srgbClr val="EEF0F7"/>
            </a:solidFill>
            <a:prstDash val="solid"/>
          </a:ln>
        </p:spPr>
      </p:sp>
      <p:sp>
        <p:nvSpPr>
          <p:cNvPr id="15" name="Text 12"/>
          <p:cNvSpPr txBox="1"/>
          <p:nvPr/>
        </p:nvSpPr>
        <p:spPr>
          <a:xfrm>
            <a:off x="9144000" y="4270248"/>
            <a:ext cx="2286000" cy="411480"/>
          </a:xfrm>
          <a:prstGeom prst="rect">
            <a:avLst/>
          </a:prstGeom>
          <a:noFill/>
          <a:ln/>
        </p:spPr>
        <p:txBody>
          <a:bodyPr wrap="square" lIns="0" tIns="0" rIns="0" bIns="0" rtlCol="0" anchor="ctr"/>
          <a:lstStyle/>
          <a:p>
            <a:pPr indent="0" marL="0">
              <a:buNone/>
            </a:pPr>
            <a:r>
              <a:rPr lang="en-US" sz="1800" b="1" dirty="0">
                <a:solidFill>
                  <a:srgbClr val="1B1F3B"/>
                </a:solidFill>
              </a:rPr>
              <a:t>Generic tools</a:t>
            </a:r>
            <a:endParaRPr lang="en-US" sz="1800" dirty="0"/>
          </a:p>
        </p:txBody>
      </p:sp>
      <p:sp>
        <p:nvSpPr>
          <p:cNvPr id="16" name="Text 13"/>
          <p:cNvSpPr txBox="1"/>
          <p:nvPr/>
        </p:nvSpPr>
        <p:spPr>
          <a:xfrm>
            <a:off x="9144000" y="4709160"/>
            <a:ext cx="2286000" cy="822960"/>
          </a:xfrm>
          <a:prstGeom prst="rect">
            <a:avLst/>
          </a:prstGeom>
          <a:noFill/>
          <a:ln/>
        </p:spPr>
        <p:txBody>
          <a:bodyPr wrap="square" lIns="0" tIns="0" rIns="0" bIns="0" rtlCol="0" anchor="t"/>
          <a:lstStyle/>
          <a:p>
            <a:pPr indent="0" marL="0">
              <a:spcAft>
                <a:spcPts val="400"/>
              </a:spcAft>
              <a:buNone/>
            </a:pPr>
            <a:r>
              <a:rPr lang="en-US" sz="1600" dirty="0">
                <a:solidFill>
                  <a:srgbClr val="1B1F3B"/>
                </a:solidFill>
              </a:rPr>
              <a:t>not music-aware, need a server</a:t>
            </a:r>
            <a:endParaRPr lang="en-US" sz="1600" dirty="0"/>
          </a:p>
        </p:txBody>
      </p:sp>
      <p:sp>
        <p:nvSpPr>
          <p:cNvPr id="17" name="Text 14"/>
          <p:cNvSpPr txBox="1"/>
          <p:nvPr/>
        </p:nvSpPr>
        <p:spPr>
          <a:xfrm>
            <a:off x="457200" y="5897880"/>
            <a:ext cx="10972800" cy="365760"/>
          </a:xfrm>
          <a:prstGeom prst="rect">
            <a:avLst/>
          </a:prstGeom>
          <a:noFill/>
          <a:ln/>
        </p:spPr>
        <p:txBody>
          <a:bodyPr wrap="square" lIns="0" tIns="0" rIns="0" bIns="0" rtlCol="0" anchor="ctr"/>
          <a:lstStyle/>
          <a:p>
            <a:pPr indent="0" marL="0">
              <a:buNone/>
            </a:pPr>
            <a:r>
              <a:rPr lang="en-US" sz="1400" i="1" dirty="0">
                <a:solidFill>
                  <a:srgbClr val="5B6178"/>
                </a:solidFill>
              </a:rPr>
              <a:t>25 verified papers reviewed in the report (Table I).</a:t>
            </a:r>
            <a:endParaRPr lang="en-US" sz="1400" dirty="0"/>
          </a:p>
        </p:txBody>
      </p:sp>
      <p:sp>
        <p:nvSpPr>
          <p:cNvPr id="25" name="Slide Number Placeholder 0"/>
          <p:cNvSpPr>
            <a:spLocks noGrp="1"/>
          </p:cNvSpPr>
          <p:nvPr>
            <p:ph type="sldNum" sz="quarter" idx="4294967295"/>
          </p:nvPr>
        </p:nvSpPr>
        <p:spPr>
          <a:xfrm>
            <a:off x="11247120" y="640080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5B6178"/>
                </a:solidFill>
                <a:latin typeface="Calibri"/>
                <a:ea typeface="Calibri"/>
                <a:cs typeface="Calibri"/>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457200" y="274320"/>
            <a:ext cx="10972800" cy="320040"/>
          </a:xfrm>
          <a:prstGeom prst="rect">
            <a:avLst/>
          </a:prstGeom>
          <a:noFill/>
          <a:ln/>
        </p:spPr>
        <p:txBody>
          <a:bodyPr wrap="square" lIns="0" tIns="0" rIns="0" bIns="0" rtlCol="0" anchor="ctr"/>
          <a:lstStyle/>
          <a:p>
            <a:pPr indent="0" marL="0">
              <a:buNone/>
            </a:pPr>
            <a:r>
              <a:rPr lang="en-US" sz="1300" b="1" spc="200" kern="0" dirty="0">
                <a:solidFill>
                  <a:srgbClr val="B7791F"/>
                </a:solidFill>
              </a:rPr>
              <a:t>PROBLEM IDENTIFICATION</a:t>
            </a:r>
            <a:endParaRPr lang="en-US" sz="1300" dirty="0"/>
          </a:p>
        </p:txBody>
      </p:sp>
      <p:sp>
        <p:nvSpPr>
          <p:cNvPr id="3" name="Text 1"/>
          <p:cNvSpPr txBox="1"/>
          <p:nvPr/>
        </p:nvSpPr>
        <p:spPr>
          <a:xfrm>
            <a:off x="457200" y="566928"/>
            <a:ext cx="11247120" cy="777240"/>
          </a:xfrm>
          <a:prstGeom prst="rect">
            <a:avLst/>
          </a:prstGeom>
          <a:noFill/>
          <a:ln/>
        </p:spPr>
        <p:txBody>
          <a:bodyPr wrap="square" lIns="0" tIns="0" rIns="0" bIns="0" rtlCol="0" anchor="t"/>
          <a:lstStyle/>
          <a:p>
            <a:pPr indent="0" marL="0">
              <a:buNone/>
            </a:pPr>
            <a:r>
              <a:rPr lang="en-US" sz="3000" b="1" dirty="0">
                <a:solidFill>
                  <a:srgbClr val="1B1F3B"/>
                </a:solidFill>
              </a:rPr>
              <a:t>Open music data exists, but it is messy and locked in static charts</a:t>
            </a:r>
            <a:endParaRPr lang="en-US" sz="3000" dirty="0"/>
          </a:p>
        </p:txBody>
      </p:sp>
      <p:sp>
        <p:nvSpPr>
          <p:cNvPr id="4" name="Shape 2"/>
          <p:cNvSpPr/>
          <p:nvPr/>
        </p:nvSpPr>
        <p:spPr>
          <a:xfrm>
            <a:off x="457200" y="1645920"/>
            <a:ext cx="5394960" cy="1920240"/>
          </a:xfrm>
          <a:prstGeom prst="roundRect">
            <a:avLst>
              <a:gd name="adj" fmla="val 5714"/>
            </a:avLst>
          </a:prstGeom>
          <a:solidFill>
            <a:srgbClr val="EEF0F7"/>
          </a:solidFill>
          <a:ln w="12700">
            <a:solidFill>
              <a:srgbClr val="EEF0F7"/>
            </a:solidFill>
            <a:prstDash val="solid"/>
          </a:ln>
        </p:spPr>
      </p:sp>
      <p:sp>
        <p:nvSpPr>
          <p:cNvPr id="5" name="Text 3"/>
          <p:cNvSpPr txBox="1"/>
          <p:nvPr/>
        </p:nvSpPr>
        <p:spPr>
          <a:xfrm>
            <a:off x="640080" y="1755648"/>
            <a:ext cx="5029200" cy="411480"/>
          </a:xfrm>
          <a:prstGeom prst="rect">
            <a:avLst/>
          </a:prstGeom>
          <a:noFill/>
          <a:ln/>
        </p:spPr>
        <p:txBody>
          <a:bodyPr wrap="square" lIns="0" tIns="0" rIns="0" bIns="0" rtlCol="0" anchor="ctr"/>
          <a:lstStyle/>
          <a:p>
            <a:pPr indent="0" marL="0">
              <a:buNone/>
            </a:pPr>
            <a:r>
              <a:rPr lang="en-US" sz="2000" b="1" dirty="0">
                <a:solidFill>
                  <a:srgbClr val="1B1F3B"/>
                </a:solidFill>
              </a:rPr>
              <a:t>Messy data</a:t>
            </a:r>
            <a:endParaRPr lang="en-US" sz="2000" dirty="0"/>
          </a:p>
        </p:txBody>
      </p:sp>
      <p:sp>
        <p:nvSpPr>
          <p:cNvPr id="6" name="Text 4"/>
          <p:cNvSpPr txBox="1"/>
          <p:nvPr/>
        </p:nvSpPr>
        <p:spPr>
          <a:xfrm>
            <a:off x="640080" y="2194560"/>
            <a:ext cx="5029200" cy="1280160"/>
          </a:xfrm>
          <a:prstGeom prst="rect">
            <a:avLst/>
          </a:prstGeom>
          <a:noFill/>
          <a:ln/>
        </p:spPr>
        <p:txBody>
          <a:bodyPr wrap="square" lIns="0" tIns="0" rIns="0" bIns="0" rtlCol="0" anchor="t"/>
          <a:lstStyle/>
          <a:p>
            <a:pPr indent="0" marL="0">
              <a:spcAft>
                <a:spcPts val="400"/>
              </a:spcAft>
              <a:buNone/>
            </a:pPr>
            <a:r>
              <a:rPr lang="en-US" sz="1800" dirty="0">
                <a:solidFill>
                  <a:srgbClr val="1B1F3B"/>
                </a:solidFill>
              </a:rPr>
              <a:t>2,777 zero-BPM tempos, 71,694 duplicate title+artist rows, no shared keys</a:t>
            </a:r>
            <a:endParaRPr lang="en-US" sz="1800" dirty="0"/>
          </a:p>
        </p:txBody>
      </p:sp>
      <p:sp>
        <p:nvSpPr>
          <p:cNvPr id="7" name="Shape 5"/>
          <p:cNvSpPr/>
          <p:nvPr/>
        </p:nvSpPr>
        <p:spPr>
          <a:xfrm>
            <a:off x="6126480" y="1645920"/>
            <a:ext cx="5394960" cy="1920240"/>
          </a:xfrm>
          <a:prstGeom prst="roundRect">
            <a:avLst>
              <a:gd name="adj" fmla="val 5714"/>
            </a:avLst>
          </a:prstGeom>
          <a:solidFill>
            <a:srgbClr val="EEF0F7"/>
          </a:solidFill>
          <a:ln w="12700">
            <a:solidFill>
              <a:srgbClr val="EEF0F7"/>
            </a:solidFill>
            <a:prstDash val="solid"/>
          </a:ln>
        </p:spPr>
      </p:sp>
      <p:sp>
        <p:nvSpPr>
          <p:cNvPr id="8" name="Text 6"/>
          <p:cNvSpPr txBox="1"/>
          <p:nvPr/>
        </p:nvSpPr>
        <p:spPr>
          <a:xfrm>
            <a:off x="6309360" y="1755648"/>
            <a:ext cx="5029200" cy="411480"/>
          </a:xfrm>
          <a:prstGeom prst="rect">
            <a:avLst/>
          </a:prstGeom>
          <a:noFill/>
          <a:ln/>
        </p:spPr>
        <p:txBody>
          <a:bodyPr wrap="square" lIns="0" tIns="0" rIns="0" bIns="0" rtlCol="0" anchor="ctr"/>
          <a:lstStyle/>
          <a:p>
            <a:pPr indent="0" marL="0">
              <a:buNone/>
            </a:pPr>
            <a:r>
              <a:rPr lang="en-US" sz="2000" b="1" dirty="0">
                <a:solidFill>
                  <a:srgbClr val="1B1F3B"/>
                </a:solidFill>
              </a:rPr>
              <a:t>Frozen results</a:t>
            </a:r>
            <a:endParaRPr lang="en-US" sz="2000" dirty="0"/>
          </a:p>
        </p:txBody>
      </p:sp>
      <p:sp>
        <p:nvSpPr>
          <p:cNvPr id="9" name="Text 7"/>
          <p:cNvSpPr txBox="1"/>
          <p:nvPr/>
        </p:nvSpPr>
        <p:spPr>
          <a:xfrm>
            <a:off x="6309360" y="2194560"/>
            <a:ext cx="5029200" cy="1280160"/>
          </a:xfrm>
          <a:prstGeom prst="rect">
            <a:avLst/>
          </a:prstGeom>
          <a:noFill/>
          <a:ln/>
        </p:spPr>
        <p:txBody>
          <a:bodyPr wrap="square" lIns="0" tIns="0" rIns="0" bIns="0" rtlCol="0" anchor="t"/>
          <a:lstStyle/>
          <a:p>
            <a:pPr indent="0" marL="0">
              <a:spcAft>
                <a:spcPts val="400"/>
              </a:spcAft>
              <a:buNone/>
            </a:pPr>
            <a:r>
              <a:rPr lang="en-US" sz="1800" dirty="0">
                <a:solidFill>
                  <a:srgbClr val="1B1F3B"/>
                </a:solidFill>
              </a:rPr>
              <a:t>papers and notebooks show fixed figures; readers cannot ask new questions</a:t>
            </a:r>
            <a:endParaRPr lang="en-US" sz="1800" dirty="0"/>
          </a:p>
        </p:txBody>
      </p:sp>
      <p:sp>
        <p:nvSpPr>
          <p:cNvPr id="10" name="Shape 8"/>
          <p:cNvSpPr/>
          <p:nvPr/>
        </p:nvSpPr>
        <p:spPr>
          <a:xfrm>
            <a:off x="457200" y="3840480"/>
            <a:ext cx="5394960" cy="1920240"/>
          </a:xfrm>
          <a:prstGeom prst="roundRect">
            <a:avLst>
              <a:gd name="adj" fmla="val 5714"/>
            </a:avLst>
          </a:prstGeom>
          <a:solidFill>
            <a:srgbClr val="EEF0F7"/>
          </a:solidFill>
          <a:ln w="12700">
            <a:solidFill>
              <a:srgbClr val="EEF0F7"/>
            </a:solidFill>
            <a:prstDash val="solid"/>
          </a:ln>
        </p:spPr>
      </p:sp>
      <p:sp>
        <p:nvSpPr>
          <p:cNvPr id="11" name="Text 9"/>
          <p:cNvSpPr txBox="1"/>
          <p:nvPr/>
        </p:nvSpPr>
        <p:spPr>
          <a:xfrm>
            <a:off x="640080" y="3950208"/>
            <a:ext cx="5029200" cy="411480"/>
          </a:xfrm>
          <a:prstGeom prst="rect">
            <a:avLst/>
          </a:prstGeom>
          <a:noFill/>
          <a:ln/>
        </p:spPr>
        <p:txBody>
          <a:bodyPr wrap="square" lIns="0" tIns="0" rIns="0" bIns="0" rtlCol="0" anchor="ctr"/>
          <a:lstStyle/>
          <a:p>
            <a:pPr indent="0" marL="0">
              <a:buNone/>
            </a:pPr>
            <a:r>
              <a:rPr lang="en-US" sz="2000" b="1" dirty="0">
                <a:solidFill>
                  <a:srgbClr val="1B1F3B"/>
                </a:solidFill>
              </a:rPr>
              <a:t>Split modalities</a:t>
            </a:r>
            <a:endParaRPr lang="en-US" sz="2000" dirty="0"/>
          </a:p>
        </p:txBody>
      </p:sp>
      <p:sp>
        <p:nvSpPr>
          <p:cNvPr id="12" name="Text 10"/>
          <p:cNvSpPr txBox="1"/>
          <p:nvPr/>
        </p:nvSpPr>
        <p:spPr>
          <a:xfrm>
            <a:off x="640080" y="4389120"/>
            <a:ext cx="5029200" cy="1280160"/>
          </a:xfrm>
          <a:prstGeom prst="rect">
            <a:avLst/>
          </a:prstGeom>
          <a:noFill/>
          <a:ln/>
        </p:spPr>
        <p:txBody>
          <a:bodyPr wrap="square" lIns="0" tIns="0" rIns="0" bIns="0" rtlCol="0" anchor="t"/>
          <a:lstStyle/>
          <a:p>
            <a:pPr indent="0" marL="0">
              <a:spcAft>
                <a:spcPts val="400"/>
              </a:spcAft>
              <a:buNone/>
            </a:pPr>
            <a:r>
              <a:rPr lang="en-US" sz="1800" dirty="0">
                <a:solidFill>
                  <a:srgbClr val="1B1F3B"/>
                </a:solidFill>
              </a:rPr>
              <a:t>audio features and lyrics are analysed in isolation</a:t>
            </a:r>
            <a:endParaRPr lang="en-US" sz="1800" dirty="0"/>
          </a:p>
        </p:txBody>
      </p:sp>
      <p:sp>
        <p:nvSpPr>
          <p:cNvPr id="13" name="Shape 11"/>
          <p:cNvSpPr/>
          <p:nvPr/>
        </p:nvSpPr>
        <p:spPr>
          <a:xfrm>
            <a:off x="6126480" y="3840480"/>
            <a:ext cx="5394960" cy="1920240"/>
          </a:xfrm>
          <a:prstGeom prst="roundRect">
            <a:avLst>
              <a:gd name="adj" fmla="val 5714"/>
            </a:avLst>
          </a:prstGeom>
          <a:solidFill>
            <a:srgbClr val="EEF0F7"/>
          </a:solidFill>
          <a:ln w="12700">
            <a:solidFill>
              <a:srgbClr val="EEF0F7"/>
            </a:solidFill>
            <a:prstDash val="solid"/>
          </a:ln>
        </p:spPr>
      </p:sp>
      <p:sp>
        <p:nvSpPr>
          <p:cNvPr id="14" name="Text 12"/>
          <p:cNvSpPr txBox="1"/>
          <p:nvPr/>
        </p:nvSpPr>
        <p:spPr>
          <a:xfrm>
            <a:off x="6309360" y="3950208"/>
            <a:ext cx="5029200" cy="411480"/>
          </a:xfrm>
          <a:prstGeom prst="rect">
            <a:avLst/>
          </a:prstGeom>
          <a:noFill/>
          <a:ln/>
        </p:spPr>
        <p:txBody>
          <a:bodyPr wrap="square" lIns="0" tIns="0" rIns="0" bIns="0" rtlCol="0" anchor="ctr"/>
          <a:lstStyle/>
          <a:p>
            <a:pPr indent="0" marL="0">
              <a:buNone/>
            </a:pPr>
            <a:r>
              <a:rPr lang="en-US" sz="2000" b="1" dirty="0">
                <a:solidFill>
                  <a:srgbClr val="1B1F3B"/>
                </a:solidFill>
              </a:rPr>
              <a:t>Hosting cost</a:t>
            </a:r>
            <a:endParaRPr lang="en-US" sz="2000" dirty="0"/>
          </a:p>
        </p:txBody>
      </p:sp>
      <p:sp>
        <p:nvSpPr>
          <p:cNvPr id="15" name="Text 13"/>
          <p:cNvSpPr txBox="1"/>
          <p:nvPr/>
        </p:nvSpPr>
        <p:spPr>
          <a:xfrm>
            <a:off x="6309360" y="4389120"/>
            <a:ext cx="5029200" cy="1280160"/>
          </a:xfrm>
          <a:prstGeom prst="rect">
            <a:avLst/>
          </a:prstGeom>
          <a:noFill/>
          <a:ln/>
        </p:spPr>
        <p:txBody>
          <a:bodyPr wrap="square" lIns="0" tIns="0" rIns="0" bIns="0" rtlCol="0" anchor="t"/>
          <a:lstStyle/>
          <a:p>
            <a:pPr indent="0" marL="0">
              <a:spcAft>
                <a:spcPts val="400"/>
              </a:spcAft>
              <a:buNone/>
            </a:pPr>
            <a:r>
              <a:rPr lang="en-US" sz="1800" dirty="0">
                <a:solidFill>
                  <a:srgbClr val="1B1F3B"/>
                </a:solidFill>
              </a:rPr>
              <a:t>interactive tools usually need a running server</a:t>
            </a:r>
            <a:endParaRPr lang="en-US" sz="1800" dirty="0"/>
          </a:p>
        </p:txBody>
      </p:sp>
      <p:sp>
        <p:nvSpPr>
          <p:cNvPr id="25" name="Slide Number Placeholder 0"/>
          <p:cNvSpPr>
            <a:spLocks noGrp="1"/>
          </p:cNvSpPr>
          <p:nvPr>
            <p:ph type="sldNum" sz="quarter" idx="4294967295"/>
          </p:nvPr>
        </p:nvSpPr>
        <p:spPr>
          <a:xfrm>
            <a:off x="11247120" y="640080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5B6178"/>
                </a:solidFill>
                <a:latin typeface="Calibri"/>
                <a:ea typeface="Calibri"/>
                <a:cs typeface="Calibri"/>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457200" y="274320"/>
            <a:ext cx="10972800" cy="320040"/>
          </a:xfrm>
          <a:prstGeom prst="rect">
            <a:avLst/>
          </a:prstGeom>
          <a:noFill/>
          <a:ln/>
        </p:spPr>
        <p:txBody>
          <a:bodyPr wrap="square" lIns="0" tIns="0" rIns="0" bIns="0" rtlCol="0" anchor="ctr"/>
          <a:lstStyle/>
          <a:p>
            <a:pPr indent="0" marL="0">
              <a:buNone/>
            </a:pPr>
            <a:r>
              <a:rPr lang="en-US" sz="1300" b="1" spc="200" kern="0" dirty="0">
                <a:solidFill>
                  <a:srgbClr val="B7791F"/>
                </a:solidFill>
              </a:rPr>
              <a:t>OBJECTIVES</a:t>
            </a:r>
            <a:endParaRPr lang="en-US" sz="1300" dirty="0"/>
          </a:p>
        </p:txBody>
      </p:sp>
      <p:sp>
        <p:nvSpPr>
          <p:cNvPr id="3" name="Text 1"/>
          <p:cNvSpPr txBox="1"/>
          <p:nvPr/>
        </p:nvSpPr>
        <p:spPr>
          <a:xfrm>
            <a:off x="457200" y="566928"/>
            <a:ext cx="11247120" cy="777240"/>
          </a:xfrm>
          <a:prstGeom prst="rect">
            <a:avLst/>
          </a:prstGeom>
          <a:noFill/>
          <a:ln/>
        </p:spPr>
        <p:txBody>
          <a:bodyPr wrap="square" lIns="0" tIns="0" rIns="0" bIns="0" rtlCol="0" anchor="t"/>
          <a:lstStyle/>
          <a:p>
            <a:pPr indent="0" marL="0">
              <a:buNone/>
            </a:pPr>
            <a:r>
              <a:rPr lang="en-US" sz="3000" b="1" dirty="0">
                <a:solidFill>
                  <a:srgbClr val="1B1F3B"/>
                </a:solidFill>
              </a:rPr>
              <a:t>Seven measurable objectives</a:t>
            </a:r>
            <a:endParaRPr lang="en-US" sz="3000" dirty="0"/>
          </a:p>
        </p:txBody>
      </p:sp>
      <p:sp>
        <p:nvSpPr>
          <p:cNvPr id="4" name="Text 2"/>
          <p:cNvSpPr txBox="1"/>
          <p:nvPr/>
        </p:nvSpPr>
        <p:spPr>
          <a:xfrm>
            <a:off x="548640" y="1645920"/>
            <a:ext cx="6766560" cy="4389120"/>
          </a:xfrm>
          <a:prstGeom prst="rect">
            <a:avLst/>
          </a:prstGeom>
          <a:noFill/>
          <a:ln/>
        </p:spPr>
        <p:txBody>
          <a:bodyPr wrap="square" lIns="0" tIns="0" rIns="0" bIns="0" rtlCol="0" anchor="t"/>
          <a:lstStyle/>
          <a:p>
            <a:pPr marL="342900" indent="-342900">
              <a:spcAft>
                <a:spcPts val="600"/>
              </a:spcAft>
              <a:buSzPct val="100000"/>
              <a:buFont typeface="+mj-lt"/>
              <a:buAutoNum type="arabicPeriod" startAt="1"/>
            </a:pPr>
            <a:r>
              <a:rPr lang="en-US" sz="1900" dirty="0">
                <a:solidFill>
                  <a:srgbClr val="1B1F3B"/>
                </a:solidFill>
              </a:rPr>
              <a:t>Clean 1M+ tracks; validate MICE by masking 5% of values</a:t>
            </a:r>
            <a:endParaRPr lang="en-US" sz="1900" dirty="0"/>
          </a:p>
          <a:p>
            <a:pPr marL="342900" indent="-342900">
              <a:spcAft>
                <a:spcPts val="600"/>
              </a:spcAft>
              <a:buSzPct val="100000"/>
              <a:buFont typeface="+mj-lt"/>
              <a:buAutoNum type="arabicPeriod" startAt="1"/>
            </a:pPr>
            <a:r>
              <a:rPr lang="en-US" sz="1900" dirty="0">
                <a:solidFill>
                  <a:srgbClr val="1B1F3B"/>
                </a:solidFill>
              </a:rPr>
              <a:t>Descriptive stats in course conventions (n-1, Tukey IQR, G1, G2)</a:t>
            </a:r>
            <a:endParaRPr lang="en-US" sz="1900" dirty="0"/>
          </a:p>
          <a:p>
            <a:pPr marL="342900" indent="-342900">
              <a:spcAft>
                <a:spcPts val="600"/>
              </a:spcAft>
              <a:buSzPct val="100000"/>
              <a:buFont typeface="+mj-lt"/>
              <a:buAutoNum type="arabicPeriod" startAt="1"/>
            </a:pPr>
            <a:r>
              <a:rPr lang="en-US" sz="1900" dirty="0">
                <a:solidFill>
                  <a:srgbClr val="1B1F3B"/>
                </a:solidFill>
              </a:rPr>
              <a:t>Correlation and multivariate genre fingerprints</a:t>
            </a:r>
            <a:endParaRPr lang="en-US" sz="1900" dirty="0"/>
          </a:p>
          <a:p>
            <a:pPr marL="342900" indent="-342900">
              <a:spcAft>
                <a:spcPts val="600"/>
              </a:spcAft>
              <a:buSzPct val="100000"/>
              <a:buFont typeface="+mj-lt"/>
              <a:buAutoNum type="arabicPeriod" startAt="1"/>
            </a:pPr>
            <a:r>
              <a:rPr lang="en-US" sz="1900" dirty="0">
                <a:solidFill>
                  <a:srgbClr val="1B1F3B"/>
                </a:solidFill>
              </a:rPr>
              <a:t>Compare PCA, t-SNE, LLE, UMAP; name acoustic clusters</a:t>
            </a:r>
            <a:endParaRPr lang="en-US" sz="1900" dirty="0"/>
          </a:p>
          <a:p>
            <a:pPr marL="342900" indent="-342900">
              <a:spcAft>
                <a:spcPts val="600"/>
              </a:spcAft>
              <a:buSzPct val="100000"/>
              <a:buFont typeface="+mj-lt"/>
              <a:buAutoNum type="arabicPeriod" startAt="1"/>
            </a:pPr>
            <a:r>
              <a:rPr lang="en-US" sz="1900" dirty="0">
                <a:solidFill>
                  <a:srgbClr val="1B1F3B"/>
                </a:solidFill>
              </a:rPr>
              <a:t>Trends, STL seasonality, change points, forecast</a:t>
            </a:r>
            <a:endParaRPr lang="en-US" sz="1900" dirty="0"/>
          </a:p>
          <a:p>
            <a:pPr marL="342900" indent="-342900">
              <a:spcAft>
                <a:spcPts val="600"/>
              </a:spcAft>
              <a:buSzPct val="100000"/>
              <a:buFont typeface="+mj-lt"/>
              <a:buAutoNum type="arabicPeriod" startAt="1"/>
            </a:pPr>
            <a:r>
              <a:rPr lang="en-US" sz="1900" dirty="0">
                <a:solidFill>
                  <a:srgbClr val="1B1F3B"/>
                </a:solidFill>
              </a:rPr>
              <a:t>ANOVA, chi-square, feature selection; lyrics sentiment</a:t>
            </a:r>
            <a:endParaRPr lang="en-US" sz="1900" dirty="0"/>
          </a:p>
          <a:p>
            <a:pPr marL="342900" indent="-342900">
              <a:spcAft>
                <a:spcPts val="600"/>
              </a:spcAft>
              <a:buSzPct val="100000"/>
              <a:buFont typeface="+mj-lt"/>
              <a:buAutoNum type="arabicPeriod" startAt="1"/>
            </a:pPr>
            <a:r>
              <a:rPr lang="en-US" sz="1900" dirty="0">
                <a:solidFill>
                  <a:srgbClr val="1B1F3B"/>
                </a:solidFill>
              </a:rPr>
              <a:t>In-browser SQL with lite-data queries under 1 second</a:t>
            </a:r>
            <a:endParaRPr lang="en-US" sz="1900" dirty="0"/>
          </a:p>
        </p:txBody>
      </p:sp>
      <p:pic>
        <p:nvPicPr>
          <p:cNvPr id="5" name="Image 0" descr="fig_00_02_methodology_flow.png">    </p:cNvPr>
          <p:cNvPicPr>
            <a:picLocks noChangeAspect="1"/>
          </p:cNvPicPr>
          <p:nvPr/>
        </p:nvPicPr>
        <p:blipFill>
          <a:blip r:embed="rId1"/>
          <a:stretch>
            <a:fillRect/>
          </a:stretch>
        </p:blipFill>
        <p:spPr>
          <a:xfrm>
            <a:off x="7498080" y="2194560"/>
            <a:ext cx="4206240" cy="1073308"/>
          </a:xfrm>
          <a:prstGeom prst="rect">
            <a:avLst/>
          </a:prstGeom>
        </p:spPr>
      </p:pic>
      <p:sp>
        <p:nvSpPr>
          <p:cNvPr id="25" name="Slide Number Placeholder 0"/>
          <p:cNvSpPr>
            <a:spLocks noGrp="1"/>
          </p:cNvSpPr>
          <p:nvPr>
            <p:ph type="sldNum" sz="quarter" idx="4294967295"/>
          </p:nvPr>
        </p:nvSpPr>
        <p:spPr>
          <a:xfrm>
            <a:off x="11247120" y="640080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5B6178"/>
                </a:solidFill>
                <a:latin typeface="Calibri"/>
                <a:ea typeface="Calibri"/>
                <a:cs typeface="Calibri"/>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457200" y="274320"/>
            <a:ext cx="10972800" cy="320040"/>
          </a:xfrm>
          <a:prstGeom prst="rect">
            <a:avLst/>
          </a:prstGeom>
          <a:noFill/>
          <a:ln/>
        </p:spPr>
        <p:txBody>
          <a:bodyPr wrap="square" lIns="0" tIns="0" rIns="0" bIns="0" rtlCol="0" anchor="ctr"/>
          <a:lstStyle/>
          <a:p>
            <a:pPr indent="0" marL="0">
              <a:buNone/>
            </a:pPr>
            <a:r>
              <a:rPr lang="en-US" sz="1300" b="1" spc="200" kern="0" dirty="0">
                <a:solidFill>
                  <a:srgbClr val="B7791F"/>
                </a:solidFill>
              </a:rPr>
              <a:t>EXISTING SYSTEMS</a:t>
            </a:r>
            <a:endParaRPr lang="en-US" sz="1300" dirty="0"/>
          </a:p>
        </p:txBody>
      </p:sp>
      <p:sp>
        <p:nvSpPr>
          <p:cNvPr id="3" name="Text 1"/>
          <p:cNvSpPr txBox="1"/>
          <p:nvPr/>
        </p:nvSpPr>
        <p:spPr>
          <a:xfrm>
            <a:off x="457200" y="566928"/>
            <a:ext cx="11247120" cy="777240"/>
          </a:xfrm>
          <a:prstGeom prst="rect">
            <a:avLst/>
          </a:prstGeom>
          <a:noFill/>
          <a:ln/>
        </p:spPr>
        <p:txBody>
          <a:bodyPr wrap="square" lIns="0" tIns="0" rIns="0" bIns="0" rtlCol="0" anchor="t"/>
          <a:lstStyle/>
          <a:p>
            <a:pPr indent="0" marL="0">
              <a:buNone/>
            </a:pPr>
            <a:r>
              <a:rPr lang="en-US" sz="3000" b="1" dirty="0">
                <a:solidFill>
                  <a:srgbClr val="1B1F3B"/>
                </a:solidFill>
              </a:rPr>
              <a:t>Existing systems cover only parts of the need</a:t>
            </a:r>
            <a:endParaRPr lang="en-US" sz="30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457200" y="1645920"/>
          <a:ext cx="11247120" cy="914400"/>
        </p:xfrm>
        <a:graphic>
          <a:graphicData uri="http://schemas.openxmlformats.org/drawingml/2006/table">
            <a:tbl>
              <a:tblPr/>
              <a:tblGrid>
                <a:gridCol w="3108960"/>
                <a:gridCol w="1463040"/>
                <a:gridCol w="2011680"/>
                <a:gridCol w="1645920"/>
                <a:gridCol w="1463040"/>
                <a:gridCol w="1554480"/>
              </a:tblGrid>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System</a:t>
                      </a:r>
                      <a:endParaRPr lang="en-US" sz="16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1B1F3B"/>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Open data</a:t>
                      </a:r>
                      <a:endParaRPr lang="en-US" sz="16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1B1F3B"/>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Music-specific EDA</a:t>
                      </a:r>
                      <a:endParaRPr lang="en-US" sz="16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1B1F3B"/>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Audio + lyrics</a:t>
                      </a:r>
                      <a:endParaRPr lang="en-US" sz="16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1B1F3B"/>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Interactive</a:t>
                      </a:r>
                      <a:endParaRPr lang="en-US" sz="16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1B1F3B"/>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Serverless</a:t>
                      </a:r>
                      <a:endParaRPr lang="en-US" sz="16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1B1F3B"/>
                    </a:solidFill>
                  </a:tcPr>
                </a:tc>
              </a:tr>
              <a:tr h="0">
                <a:tc>
                  <a:txBody>
                    <a:bodyPr/>
                    <a:lstStyle/>
                    <a:p>
                      <a:pPr indent="0" marL="0">
                        <a:buNone/>
                      </a:pPr>
                      <a:r>
                        <a:rPr lang="en-US" sz="1600" dirty="0">
                          <a:solidFill>
                            <a:srgbClr val="1B1F3B"/>
                          </a:solidFill>
                          <a:latin typeface="Calibri" pitchFamily="34" charset="0"/>
                          <a:ea typeface="Calibri" pitchFamily="34" charset="-122"/>
                          <a:cs typeface="Calibri" pitchFamily="34" charset="-120"/>
                        </a:rPr>
                        <a:t>Spotify app / Web API</a:t>
                      </a:r>
                      <a:endParaRPr lang="en-US" sz="16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EEF0F7"/>
                    </a:solidFill>
                  </a:tcPr>
                </a:tc>
                <a:tc>
                  <a:txBody>
                    <a:bodyPr/>
                    <a:lstStyle/>
                    <a:p>
                      <a:pPr indent="0" marL="0">
                        <a:buNone/>
                      </a:pPr>
                      <a:r>
                        <a:rPr lang="en-US" sz="1600" dirty="0">
                          <a:solidFill>
                            <a:srgbClr val="1B1F3B"/>
                          </a:solidFill>
                          <a:latin typeface="Calibri" pitchFamily="34" charset="0"/>
                          <a:ea typeface="Calibri" pitchFamily="34" charset="-122"/>
                          <a:cs typeface="Calibri" pitchFamily="34" charset="-120"/>
                        </a:rPr>
                        <a:t>No (closed)</a:t>
                      </a:r>
                      <a:endParaRPr lang="en-US" sz="16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EEF0F7"/>
                    </a:solidFill>
                  </a:tcPr>
                </a:tc>
                <a:tc>
                  <a:txBody>
                    <a:bodyPr/>
                    <a:lstStyle/>
                    <a:p>
                      <a:pPr indent="0" marL="0">
                        <a:buNone/>
                      </a:pPr>
                      <a:r>
                        <a:rPr lang="en-US" sz="1600" dirty="0">
                          <a:solidFill>
                            <a:srgbClr val="1B1F3B"/>
                          </a:solidFill>
                          <a:latin typeface="Calibri" pitchFamily="34" charset="0"/>
                          <a:ea typeface="Calibri" pitchFamily="34" charset="-122"/>
                          <a:cs typeface="Calibri" pitchFamily="34" charset="-120"/>
                        </a:rPr>
                        <a:t>No</a:t>
                      </a:r>
                      <a:endParaRPr lang="en-US" sz="16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EEF0F7"/>
                    </a:solidFill>
                  </a:tcPr>
                </a:tc>
                <a:tc>
                  <a:txBody>
                    <a:bodyPr/>
                    <a:lstStyle/>
                    <a:p>
                      <a:pPr indent="0" marL="0">
                        <a:buNone/>
                      </a:pPr>
                      <a:r>
                        <a:rPr lang="en-US" sz="1600" dirty="0">
                          <a:solidFill>
                            <a:srgbClr val="1B1F3B"/>
                          </a:solidFill>
                          <a:latin typeface="Calibri" pitchFamily="34" charset="0"/>
                          <a:ea typeface="Calibri" pitchFamily="34" charset="-122"/>
                          <a:cs typeface="Calibri" pitchFamily="34" charset="-120"/>
                        </a:rPr>
                        <a:t>No</a:t>
                      </a:r>
                      <a:endParaRPr lang="en-US" sz="16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EEF0F7"/>
                    </a:solidFill>
                  </a:tcPr>
                </a:tc>
                <a:tc>
                  <a:txBody>
                    <a:bodyPr/>
                    <a:lstStyle/>
                    <a:p>
                      <a:pPr indent="0" marL="0">
                        <a:buNone/>
                      </a:pPr>
                      <a:r>
                        <a:rPr lang="en-US" sz="1600" dirty="0">
                          <a:solidFill>
                            <a:srgbClr val="1B1F3B"/>
                          </a:solidFill>
                          <a:latin typeface="Calibri" pitchFamily="34" charset="0"/>
                          <a:ea typeface="Calibri" pitchFamily="34" charset="-122"/>
                          <a:cs typeface="Calibri" pitchFamily="34" charset="-120"/>
                        </a:rPr>
                        <a:t>Yes (app)</a:t>
                      </a:r>
                      <a:endParaRPr lang="en-US" sz="16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EEF0F7"/>
                    </a:solidFill>
                  </a:tcPr>
                </a:tc>
                <a:tc>
                  <a:txBody>
                    <a:bodyPr/>
                    <a:lstStyle/>
                    <a:p>
                      <a:pPr indent="0" marL="0">
                        <a:buNone/>
                      </a:pPr>
                      <a:r>
                        <a:rPr lang="en-US" sz="1600" dirty="0">
                          <a:solidFill>
                            <a:srgbClr val="1B1F3B"/>
                          </a:solidFill>
                          <a:latin typeface="Calibri" pitchFamily="34" charset="0"/>
                          <a:ea typeface="Calibri" pitchFamily="34" charset="-122"/>
                          <a:cs typeface="Calibri" pitchFamily="34" charset="-120"/>
                        </a:rPr>
                        <a:t>No</a:t>
                      </a:r>
                      <a:endParaRPr lang="en-US" sz="16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EEF0F7"/>
                    </a:solidFill>
                  </a:tcPr>
                </a:tc>
              </a:tr>
              <a:tr h="0">
                <a:tc>
                  <a:txBody>
                    <a:bodyPr/>
                    <a:lstStyle/>
                    <a:p>
                      <a:pPr indent="0" marL="0">
                        <a:buNone/>
                      </a:pPr>
                      <a:r>
                        <a:rPr lang="en-US" sz="1600" dirty="0">
                          <a:solidFill>
                            <a:srgbClr val="1B1F3B"/>
                          </a:solidFill>
                          <a:latin typeface="Calibri" pitchFamily="34" charset="0"/>
                          <a:ea typeface="Calibri" pitchFamily="34" charset="-122"/>
                          <a:cs typeface="Calibri" pitchFamily="34" charset="-120"/>
                        </a:rPr>
                        <a:t>Static notebooks / papers</a:t>
                      </a:r>
                      <a:endParaRPr lang="en-US" sz="16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FFFFFF"/>
                    </a:solidFill>
                  </a:tcPr>
                </a:tc>
                <a:tc>
                  <a:txBody>
                    <a:bodyPr/>
                    <a:lstStyle/>
                    <a:p>
                      <a:pPr indent="0" marL="0">
                        <a:buNone/>
                      </a:pPr>
                      <a:r>
                        <a:rPr lang="en-US" sz="1600" dirty="0">
                          <a:solidFill>
                            <a:srgbClr val="1B1F3B"/>
                          </a:solidFill>
                          <a:latin typeface="Calibri" pitchFamily="34" charset="0"/>
                          <a:ea typeface="Calibri" pitchFamily="34" charset="-122"/>
                          <a:cs typeface="Calibri" pitchFamily="34" charset="-120"/>
                        </a:rPr>
                        <a:t>Yes</a:t>
                      </a:r>
                      <a:endParaRPr lang="en-US" sz="16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FFFFFF"/>
                    </a:solidFill>
                  </a:tcPr>
                </a:tc>
                <a:tc>
                  <a:txBody>
                    <a:bodyPr/>
                    <a:lstStyle/>
                    <a:p>
                      <a:pPr indent="0" marL="0">
                        <a:buNone/>
                      </a:pPr>
                      <a:r>
                        <a:rPr lang="en-US" sz="1600" dirty="0">
                          <a:solidFill>
                            <a:srgbClr val="1B1F3B"/>
                          </a:solidFill>
                          <a:latin typeface="Calibri" pitchFamily="34" charset="0"/>
                          <a:ea typeface="Calibri" pitchFamily="34" charset="-122"/>
                          <a:cs typeface="Calibri" pitchFamily="34" charset="-120"/>
                        </a:rPr>
                        <a:t>Partly</a:t>
                      </a:r>
                      <a:endParaRPr lang="en-US" sz="16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FFFFFF"/>
                    </a:solidFill>
                  </a:tcPr>
                </a:tc>
                <a:tc>
                  <a:txBody>
                    <a:bodyPr/>
                    <a:lstStyle/>
                    <a:p>
                      <a:pPr indent="0" marL="0">
                        <a:buNone/>
                      </a:pPr>
                      <a:r>
                        <a:rPr lang="en-US" sz="1600" dirty="0">
                          <a:solidFill>
                            <a:srgbClr val="1B1F3B"/>
                          </a:solidFill>
                          <a:latin typeface="Calibri" pitchFamily="34" charset="0"/>
                          <a:ea typeface="Calibri" pitchFamily="34" charset="-122"/>
                          <a:cs typeface="Calibri" pitchFamily="34" charset="-120"/>
                        </a:rPr>
                        <a:t>Rarely</a:t>
                      </a:r>
                      <a:endParaRPr lang="en-US" sz="16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FFFFFF"/>
                    </a:solidFill>
                  </a:tcPr>
                </a:tc>
                <a:tc>
                  <a:txBody>
                    <a:bodyPr/>
                    <a:lstStyle/>
                    <a:p>
                      <a:pPr indent="0" marL="0">
                        <a:buNone/>
                      </a:pPr>
                      <a:r>
                        <a:rPr lang="en-US" sz="1600" dirty="0">
                          <a:solidFill>
                            <a:srgbClr val="1B1F3B"/>
                          </a:solidFill>
                          <a:latin typeface="Calibri" pitchFamily="34" charset="0"/>
                          <a:ea typeface="Calibri" pitchFamily="34" charset="-122"/>
                          <a:cs typeface="Calibri" pitchFamily="34" charset="-120"/>
                        </a:rPr>
                        <a:t>No</a:t>
                      </a:r>
                      <a:endParaRPr lang="en-US" sz="16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FFFFFF"/>
                    </a:solidFill>
                  </a:tcPr>
                </a:tc>
                <a:tc>
                  <a:txBody>
                    <a:bodyPr/>
                    <a:lstStyle/>
                    <a:p>
                      <a:pPr indent="0" marL="0">
                        <a:buNone/>
                      </a:pPr>
                      <a:r>
                        <a:rPr lang="en-US" sz="1600" dirty="0">
                          <a:solidFill>
                            <a:srgbClr val="1B1F3B"/>
                          </a:solidFill>
                          <a:latin typeface="Calibri" pitchFamily="34" charset="0"/>
                          <a:ea typeface="Calibri" pitchFamily="34" charset="-122"/>
                          <a:cs typeface="Calibri" pitchFamily="34" charset="-120"/>
                        </a:rPr>
                        <a:t>No</a:t>
                      </a:r>
                      <a:endParaRPr lang="en-US" sz="16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FFFFFF"/>
                    </a:solidFill>
                  </a:tcPr>
                </a:tc>
              </a:tr>
              <a:tr h="0">
                <a:tc>
                  <a:txBody>
                    <a:bodyPr/>
                    <a:lstStyle/>
                    <a:p>
                      <a:pPr indent="0" marL="0">
                        <a:buNone/>
                      </a:pPr>
                      <a:r>
                        <a:rPr lang="en-US" sz="1600" dirty="0">
                          <a:solidFill>
                            <a:srgbClr val="1B1F3B"/>
                          </a:solidFill>
                          <a:latin typeface="Calibri" pitchFamily="34" charset="0"/>
                          <a:ea typeface="Calibri" pitchFamily="34" charset="-122"/>
                          <a:cs typeface="Calibri" pitchFamily="34" charset="-120"/>
                        </a:rPr>
                        <a:t>Streamlit EDA app [25]</a:t>
                      </a:r>
                      <a:endParaRPr lang="en-US" sz="16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EEF0F7"/>
                    </a:solidFill>
                  </a:tcPr>
                </a:tc>
                <a:tc>
                  <a:txBody>
                    <a:bodyPr/>
                    <a:lstStyle/>
                    <a:p>
                      <a:pPr indent="0" marL="0">
                        <a:buNone/>
                      </a:pPr>
                      <a:r>
                        <a:rPr lang="en-US" sz="1600" dirty="0">
                          <a:solidFill>
                            <a:srgbClr val="1B1F3B"/>
                          </a:solidFill>
                          <a:latin typeface="Calibri" pitchFamily="34" charset="0"/>
                          <a:ea typeface="Calibri" pitchFamily="34" charset="-122"/>
                          <a:cs typeface="Calibri" pitchFamily="34" charset="-120"/>
                        </a:rPr>
                        <a:t>Yes</a:t>
                      </a:r>
                      <a:endParaRPr lang="en-US" sz="16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EEF0F7"/>
                    </a:solidFill>
                  </a:tcPr>
                </a:tc>
                <a:tc>
                  <a:txBody>
                    <a:bodyPr/>
                    <a:lstStyle/>
                    <a:p>
                      <a:pPr indent="0" marL="0">
                        <a:buNone/>
                      </a:pPr>
                      <a:r>
                        <a:rPr lang="en-US" sz="1600" dirty="0">
                          <a:solidFill>
                            <a:srgbClr val="1B1F3B"/>
                          </a:solidFill>
                          <a:latin typeface="Calibri" pitchFamily="34" charset="0"/>
                          <a:ea typeface="Calibri" pitchFamily="34" charset="-122"/>
                          <a:cs typeface="Calibri" pitchFamily="34" charset="-120"/>
                        </a:rPr>
                        <a:t>Generic</a:t>
                      </a:r>
                      <a:endParaRPr lang="en-US" sz="16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EEF0F7"/>
                    </a:solidFill>
                  </a:tcPr>
                </a:tc>
                <a:tc>
                  <a:txBody>
                    <a:bodyPr/>
                    <a:lstStyle/>
                    <a:p>
                      <a:pPr indent="0" marL="0">
                        <a:buNone/>
                      </a:pPr>
                      <a:r>
                        <a:rPr lang="en-US" sz="1600" dirty="0">
                          <a:solidFill>
                            <a:srgbClr val="1B1F3B"/>
                          </a:solidFill>
                          <a:latin typeface="Calibri" pitchFamily="34" charset="0"/>
                          <a:ea typeface="Calibri" pitchFamily="34" charset="-122"/>
                          <a:cs typeface="Calibri" pitchFamily="34" charset="-120"/>
                        </a:rPr>
                        <a:t>No</a:t>
                      </a:r>
                      <a:endParaRPr lang="en-US" sz="16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EEF0F7"/>
                    </a:solidFill>
                  </a:tcPr>
                </a:tc>
                <a:tc>
                  <a:txBody>
                    <a:bodyPr/>
                    <a:lstStyle/>
                    <a:p>
                      <a:pPr indent="0" marL="0">
                        <a:buNone/>
                      </a:pPr>
                      <a:r>
                        <a:rPr lang="en-US" sz="1600" dirty="0">
                          <a:solidFill>
                            <a:srgbClr val="1B1F3B"/>
                          </a:solidFill>
                          <a:latin typeface="Calibri" pitchFamily="34" charset="0"/>
                          <a:ea typeface="Calibri" pitchFamily="34" charset="-122"/>
                          <a:cs typeface="Calibri" pitchFamily="34" charset="-120"/>
                        </a:rPr>
                        <a:t>Yes</a:t>
                      </a:r>
                      <a:endParaRPr lang="en-US" sz="16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EEF0F7"/>
                    </a:solidFill>
                  </a:tcPr>
                </a:tc>
                <a:tc>
                  <a:txBody>
                    <a:bodyPr/>
                    <a:lstStyle/>
                    <a:p>
                      <a:pPr indent="0" marL="0">
                        <a:buNone/>
                      </a:pPr>
                      <a:r>
                        <a:rPr lang="en-US" sz="1600" dirty="0">
                          <a:solidFill>
                            <a:srgbClr val="1B1F3B"/>
                          </a:solidFill>
                          <a:latin typeface="Calibri" pitchFamily="34" charset="0"/>
                          <a:ea typeface="Calibri" pitchFamily="34" charset="-122"/>
                          <a:cs typeface="Calibri" pitchFamily="34" charset="-120"/>
                        </a:rPr>
                        <a:t>No (server)</a:t>
                      </a:r>
                      <a:endParaRPr lang="en-US" sz="16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EEF0F7"/>
                    </a:solidFill>
                  </a:tcPr>
                </a:tc>
              </a:tr>
              <a:tr h="0">
                <a:tc>
                  <a:txBody>
                    <a:bodyPr/>
                    <a:lstStyle/>
                    <a:p>
                      <a:pPr indent="0" marL="0">
                        <a:buNone/>
                      </a:pPr>
                      <a:r>
                        <a:rPr lang="en-US" sz="1600" dirty="0">
                          <a:solidFill>
                            <a:srgbClr val="1B1F3B"/>
                          </a:solidFill>
                          <a:latin typeface="Calibri" pitchFamily="34" charset="0"/>
                          <a:ea typeface="Calibri" pitchFamily="34" charset="-122"/>
                          <a:cs typeface="Calibri" pitchFamily="34" charset="-120"/>
                        </a:rPr>
                        <a:t>YData / Sweetviz / D-Tale</a:t>
                      </a:r>
                      <a:endParaRPr lang="en-US" sz="16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FFFFFF"/>
                    </a:solidFill>
                  </a:tcPr>
                </a:tc>
                <a:tc>
                  <a:txBody>
                    <a:bodyPr/>
                    <a:lstStyle/>
                    <a:p>
                      <a:pPr indent="0" marL="0">
                        <a:buNone/>
                      </a:pPr>
                      <a:r>
                        <a:rPr lang="en-US" sz="1600" dirty="0">
                          <a:solidFill>
                            <a:srgbClr val="1B1F3B"/>
                          </a:solidFill>
                          <a:latin typeface="Calibri" pitchFamily="34" charset="0"/>
                          <a:ea typeface="Calibri" pitchFamily="34" charset="-122"/>
                          <a:cs typeface="Calibri" pitchFamily="34" charset="-120"/>
                        </a:rPr>
                        <a:t>Yes</a:t>
                      </a:r>
                      <a:endParaRPr lang="en-US" sz="16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FFFFFF"/>
                    </a:solidFill>
                  </a:tcPr>
                </a:tc>
                <a:tc>
                  <a:txBody>
                    <a:bodyPr/>
                    <a:lstStyle/>
                    <a:p>
                      <a:pPr indent="0" marL="0">
                        <a:buNone/>
                      </a:pPr>
                      <a:r>
                        <a:rPr lang="en-US" sz="1600" dirty="0">
                          <a:solidFill>
                            <a:srgbClr val="1B1F3B"/>
                          </a:solidFill>
                          <a:latin typeface="Calibri" pitchFamily="34" charset="0"/>
                          <a:ea typeface="Calibri" pitchFamily="34" charset="-122"/>
                          <a:cs typeface="Calibri" pitchFamily="34" charset="-120"/>
                        </a:rPr>
                        <a:t>Generic</a:t>
                      </a:r>
                      <a:endParaRPr lang="en-US" sz="16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FFFFFF"/>
                    </a:solidFill>
                  </a:tcPr>
                </a:tc>
                <a:tc>
                  <a:txBody>
                    <a:bodyPr/>
                    <a:lstStyle/>
                    <a:p>
                      <a:pPr indent="0" marL="0">
                        <a:buNone/>
                      </a:pPr>
                      <a:r>
                        <a:rPr lang="en-US" sz="1600" dirty="0">
                          <a:solidFill>
                            <a:srgbClr val="1B1F3B"/>
                          </a:solidFill>
                          <a:latin typeface="Calibri" pitchFamily="34" charset="0"/>
                          <a:ea typeface="Calibri" pitchFamily="34" charset="-122"/>
                          <a:cs typeface="Calibri" pitchFamily="34" charset="-120"/>
                        </a:rPr>
                        <a:t>No</a:t>
                      </a:r>
                      <a:endParaRPr lang="en-US" sz="16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FFFFFF"/>
                    </a:solidFill>
                  </a:tcPr>
                </a:tc>
                <a:tc>
                  <a:txBody>
                    <a:bodyPr/>
                    <a:lstStyle/>
                    <a:p>
                      <a:pPr indent="0" marL="0">
                        <a:buNone/>
                      </a:pPr>
                      <a:r>
                        <a:rPr lang="en-US" sz="1600" dirty="0">
                          <a:solidFill>
                            <a:srgbClr val="1B1F3B"/>
                          </a:solidFill>
                          <a:latin typeface="Calibri" pitchFamily="34" charset="0"/>
                          <a:ea typeface="Calibri" pitchFamily="34" charset="-122"/>
                          <a:cs typeface="Calibri" pitchFamily="34" charset="-120"/>
                        </a:rPr>
                        <a:t>Partly</a:t>
                      </a:r>
                      <a:endParaRPr lang="en-US" sz="16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FFFFFF"/>
                    </a:solidFill>
                  </a:tcPr>
                </a:tc>
                <a:tc>
                  <a:txBody>
                    <a:bodyPr/>
                    <a:lstStyle/>
                    <a:p>
                      <a:pPr indent="0" marL="0">
                        <a:buNone/>
                      </a:pPr>
                      <a:r>
                        <a:rPr lang="en-US" sz="1600" dirty="0">
                          <a:solidFill>
                            <a:srgbClr val="1B1F3B"/>
                          </a:solidFill>
                          <a:latin typeface="Calibri" pitchFamily="34" charset="0"/>
                          <a:ea typeface="Calibri" pitchFamily="34" charset="-122"/>
                          <a:cs typeface="Calibri" pitchFamily="34" charset="-120"/>
                        </a:rPr>
                        <a:t>No (server for D-Tale)</a:t>
                      </a:r>
                      <a:endParaRPr lang="en-US" sz="16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457200" y="5120640"/>
            <a:ext cx="11247120" cy="731520"/>
          </a:xfrm>
          <a:prstGeom prst="rect">
            <a:avLst/>
          </a:prstGeom>
          <a:noFill/>
          <a:ln/>
        </p:spPr>
        <p:txBody>
          <a:bodyPr wrap="square" lIns="0" tIns="0" rIns="0" bIns="0" rtlCol="0" anchor="ctr"/>
          <a:lstStyle/>
          <a:p>
            <a:pPr indent="0" marL="0">
              <a:buNone/>
            </a:pPr>
            <a:r>
              <a:rPr lang="en-US" sz="1800" b="1" dirty="0">
                <a:solidFill>
                  <a:srgbClr val="1B1F3B"/>
                </a:solidFill>
              </a:rPr>
              <a:t>No existing option is open, music-aware, interactive and serverless at the same time.</a:t>
            </a:r>
            <a:endParaRPr lang="en-US" sz="1800" dirty="0"/>
          </a:p>
        </p:txBody>
      </p:sp>
      <p:sp>
        <p:nvSpPr>
          <p:cNvPr id="25" name="Slide Number Placeholder 0"/>
          <p:cNvSpPr>
            <a:spLocks noGrp="1"/>
          </p:cNvSpPr>
          <p:nvPr>
            <p:ph type="sldNum" sz="quarter" idx="4294967295"/>
          </p:nvPr>
        </p:nvSpPr>
        <p:spPr>
          <a:xfrm>
            <a:off x="11247120" y="640080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5B6178"/>
                </a:solidFill>
                <a:latin typeface="Calibri"/>
                <a:ea typeface="Calibri"/>
                <a:cs typeface="Calibri"/>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457200" y="274320"/>
            <a:ext cx="10972800" cy="320040"/>
          </a:xfrm>
          <a:prstGeom prst="rect">
            <a:avLst/>
          </a:prstGeom>
          <a:noFill/>
          <a:ln/>
        </p:spPr>
        <p:txBody>
          <a:bodyPr wrap="square" lIns="0" tIns="0" rIns="0" bIns="0" rtlCol="0" anchor="ctr"/>
          <a:lstStyle/>
          <a:p>
            <a:pPr indent="0" marL="0">
              <a:buNone/>
            </a:pPr>
            <a:r>
              <a:rPr lang="en-US" sz="1300" b="1" spc="200" kern="0" dirty="0">
                <a:solidFill>
                  <a:srgbClr val="B7791F"/>
                </a:solidFill>
              </a:rPr>
              <a:t>PROPOSED SYSTEM</a:t>
            </a:r>
            <a:endParaRPr lang="en-US" sz="1300" dirty="0"/>
          </a:p>
        </p:txBody>
      </p:sp>
      <p:sp>
        <p:nvSpPr>
          <p:cNvPr id="3" name="Text 1"/>
          <p:cNvSpPr txBox="1"/>
          <p:nvPr/>
        </p:nvSpPr>
        <p:spPr>
          <a:xfrm>
            <a:off x="457200" y="566928"/>
            <a:ext cx="11247120" cy="777240"/>
          </a:xfrm>
          <a:prstGeom prst="rect">
            <a:avLst/>
          </a:prstGeom>
          <a:noFill/>
          <a:ln/>
        </p:spPr>
        <p:txBody>
          <a:bodyPr wrap="square" lIns="0" tIns="0" rIns="0" bIns="0" rtlCol="0" anchor="t"/>
          <a:lstStyle/>
          <a:p>
            <a:pPr indent="0" marL="0">
              <a:buNone/>
            </a:pPr>
            <a:r>
              <a:rPr lang="en-US" sz="3000" b="1" dirty="0">
                <a:solidFill>
                  <a:srgbClr val="1B1F3B"/>
                </a:solidFill>
              </a:rPr>
              <a:t>A documented pipeline plus a serverless query platform</a:t>
            </a:r>
            <a:endParaRPr lang="en-US" sz="3000" dirty="0"/>
          </a:p>
        </p:txBody>
      </p:sp>
      <p:sp>
        <p:nvSpPr>
          <p:cNvPr id="4" name="Shape 2"/>
          <p:cNvSpPr/>
          <p:nvPr/>
        </p:nvSpPr>
        <p:spPr>
          <a:xfrm>
            <a:off x="457200" y="1645920"/>
            <a:ext cx="2103120" cy="2743200"/>
          </a:xfrm>
          <a:prstGeom prst="roundRect">
            <a:avLst>
              <a:gd name="adj" fmla="val 5217"/>
            </a:avLst>
          </a:prstGeom>
          <a:solidFill>
            <a:srgbClr val="EEF0F7"/>
          </a:solidFill>
          <a:ln w="12700">
            <a:solidFill>
              <a:srgbClr val="EEF0F7"/>
            </a:solidFill>
            <a:prstDash val="solid"/>
          </a:ln>
        </p:spPr>
      </p:sp>
      <p:sp>
        <p:nvSpPr>
          <p:cNvPr id="5" name="Text 3"/>
          <p:cNvSpPr txBox="1"/>
          <p:nvPr/>
        </p:nvSpPr>
        <p:spPr>
          <a:xfrm>
            <a:off x="640080" y="1755648"/>
            <a:ext cx="1737360" cy="411480"/>
          </a:xfrm>
          <a:prstGeom prst="rect">
            <a:avLst/>
          </a:prstGeom>
          <a:noFill/>
          <a:ln/>
        </p:spPr>
        <p:txBody>
          <a:bodyPr wrap="square" lIns="0" tIns="0" rIns="0" bIns="0" rtlCol="0" anchor="ctr"/>
          <a:lstStyle/>
          <a:p>
            <a:pPr indent="0" marL="0">
              <a:buNone/>
            </a:pPr>
            <a:r>
              <a:rPr lang="en-US" sz="2000" b="1" dirty="0">
                <a:solidFill>
                  <a:srgbClr val="1B1F3B"/>
                </a:solidFill>
              </a:rPr>
              <a:t>Clean</a:t>
            </a:r>
            <a:endParaRPr lang="en-US" sz="2000" dirty="0"/>
          </a:p>
        </p:txBody>
      </p:sp>
      <p:sp>
        <p:nvSpPr>
          <p:cNvPr id="6" name="Text 4"/>
          <p:cNvSpPr txBox="1"/>
          <p:nvPr/>
        </p:nvSpPr>
        <p:spPr>
          <a:xfrm>
            <a:off x="640080" y="2194560"/>
            <a:ext cx="1737360" cy="2103120"/>
          </a:xfrm>
          <a:prstGeom prst="rect">
            <a:avLst/>
          </a:prstGeom>
          <a:noFill/>
          <a:ln/>
        </p:spPr>
        <p:txBody>
          <a:bodyPr wrap="square" lIns="0" tIns="0" rIns="0" bIns="0" rtlCol="0" anchor="t"/>
          <a:lstStyle/>
          <a:p>
            <a:pPr indent="0" marL="0">
              <a:spcAft>
                <a:spcPts val="400"/>
              </a:spcAft>
              <a:buNone/>
            </a:pPr>
            <a:r>
              <a:rPr lang="en-US" sz="1600" dirty="0">
                <a:solidFill>
                  <a:srgbClr val="1B1F3B"/>
                </a:solidFill>
              </a:rPr>
              <a:t>MICE for impossible values, re-issue and outlier flags, scaling</a:t>
            </a:r>
            <a:endParaRPr lang="en-US" sz="1600" dirty="0"/>
          </a:p>
        </p:txBody>
      </p:sp>
      <p:sp>
        <p:nvSpPr>
          <p:cNvPr id="7" name="Shape 5"/>
          <p:cNvSpPr/>
          <p:nvPr/>
        </p:nvSpPr>
        <p:spPr>
          <a:xfrm>
            <a:off x="2743200" y="1645920"/>
            <a:ext cx="2103120" cy="2743200"/>
          </a:xfrm>
          <a:prstGeom prst="roundRect">
            <a:avLst>
              <a:gd name="adj" fmla="val 5217"/>
            </a:avLst>
          </a:prstGeom>
          <a:solidFill>
            <a:srgbClr val="EEF0F7"/>
          </a:solidFill>
          <a:ln w="12700">
            <a:solidFill>
              <a:srgbClr val="EEF0F7"/>
            </a:solidFill>
            <a:prstDash val="solid"/>
          </a:ln>
        </p:spPr>
      </p:sp>
      <p:sp>
        <p:nvSpPr>
          <p:cNvPr id="8" name="Text 6"/>
          <p:cNvSpPr txBox="1"/>
          <p:nvPr/>
        </p:nvSpPr>
        <p:spPr>
          <a:xfrm>
            <a:off x="2926080" y="1755648"/>
            <a:ext cx="1737360" cy="411480"/>
          </a:xfrm>
          <a:prstGeom prst="rect">
            <a:avLst/>
          </a:prstGeom>
          <a:noFill/>
          <a:ln/>
        </p:spPr>
        <p:txBody>
          <a:bodyPr wrap="square" lIns="0" tIns="0" rIns="0" bIns="0" rtlCol="0" anchor="ctr"/>
          <a:lstStyle/>
          <a:p>
            <a:pPr indent="0" marL="0">
              <a:buNone/>
            </a:pPr>
            <a:r>
              <a:rPr lang="en-US" sz="2000" b="1" dirty="0">
                <a:solidFill>
                  <a:srgbClr val="1B1F3B"/>
                </a:solidFill>
              </a:rPr>
              <a:t>Explore</a:t>
            </a:r>
            <a:endParaRPr lang="en-US" sz="2000" dirty="0"/>
          </a:p>
        </p:txBody>
      </p:sp>
      <p:sp>
        <p:nvSpPr>
          <p:cNvPr id="9" name="Text 7"/>
          <p:cNvSpPr txBox="1"/>
          <p:nvPr/>
        </p:nvSpPr>
        <p:spPr>
          <a:xfrm>
            <a:off x="2926080" y="2194560"/>
            <a:ext cx="1737360" cy="2103120"/>
          </a:xfrm>
          <a:prstGeom prst="rect">
            <a:avLst/>
          </a:prstGeom>
          <a:noFill/>
          <a:ln/>
        </p:spPr>
        <p:txBody>
          <a:bodyPr wrap="square" lIns="0" tIns="0" rIns="0" bIns="0" rtlCol="0" anchor="t"/>
          <a:lstStyle/>
          <a:p>
            <a:pPr indent="0" marL="0">
              <a:spcAft>
                <a:spcPts val="400"/>
              </a:spcAft>
              <a:buNone/>
            </a:pPr>
            <a:r>
              <a:rPr lang="en-US" sz="1600" dirty="0">
                <a:solidFill>
                  <a:srgbClr val="1B1F3B"/>
                </a:solidFill>
              </a:rPr>
              <a:t>statistics, correlation, parallel coordinates, Andrews curves</a:t>
            </a:r>
            <a:endParaRPr lang="en-US" sz="1600" dirty="0"/>
          </a:p>
        </p:txBody>
      </p:sp>
      <p:sp>
        <p:nvSpPr>
          <p:cNvPr id="10" name="Shape 8"/>
          <p:cNvSpPr/>
          <p:nvPr/>
        </p:nvSpPr>
        <p:spPr>
          <a:xfrm>
            <a:off x="5029200" y="1645920"/>
            <a:ext cx="2103120" cy="2743200"/>
          </a:xfrm>
          <a:prstGeom prst="roundRect">
            <a:avLst>
              <a:gd name="adj" fmla="val 5217"/>
            </a:avLst>
          </a:prstGeom>
          <a:solidFill>
            <a:srgbClr val="EEF0F7"/>
          </a:solidFill>
          <a:ln w="12700">
            <a:solidFill>
              <a:srgbClr val="EEF0F7"/>
            </a:solidFill>
            <a:prstDash val="solid"/>
          </a:ln>
        </p:spPr>
      </p:sp>
      <p:sp>
        <p:nvSpPr>
          <p:cNvPr id="11" name="Text 9"/>
          <p:cNvSpPr txBox="1"/>
          <p:nvPr/>
        </p:nvSpPr>
        <p:spPr>
          <a:xfrm>
            <a:off x="5212080" y="1755648"/>
            <a:ext cx="1737360" cy="411480"/>
          </a:xfrm>
          <a:prstGeom prst="rect">
            <a:avLst/>
          </a:prstGeom>
          <a:noFill/>
          <a:ln/>
        </p:spPr>
        <p:txBody>
          <a:bodyPr wrap="square" lIns="0" tIns="0" rIns="0" bIns="0" rtlCol="0" anchor="ctr"/>
          <a:lstStyle/>
          <a:p>
            <a:pPr indent="0" marL="0">
              <a:buNone/>
            </a:pPr>
            <a:r>
              <a:rPr lang="en-US" sz="2000" b="1" dirty="0">
                <a:solidFill>
                  <a:srgbClr val="1B1F3B"/>
                </a:solidFill>
              </a:rPr>
              <a:t>Map</a:t>
            </a:r>
            <a:endParaRPr lang="en-US" sz="2000" dirty="0"/>
          </a:p>
        </p:txBody>
      </p:sp>
      <p:sp>
        <p:nvSpPr>
          <p:cNvPr id="12" name="Text 10"/>
          <p:cNvSpPr txBox="1"/>
          <p:nvPr/>
        </p:nvSpPr>
        <p:spPr>
          <a:xfrm>
            <a:off x="5212080" y="2194560"/>
            <a:ext cx="1737360" cy="2103120"/>
          </a:xfrm>
          <a:prstGeom prst="rect">
            <a:avLst/>
          </a:prstGeom>
          <a:noFill/>
          <a:ln/>
        </p:spPr>
        <p:txBody>
          <a:bodyPr wrap="square" lIns="0" tIns="0" rIns="0" bIns="0" rtlCol="0" anchor="t"/>
          <a:lstStyle/>
          <a:p>
            <a:pPr indent="0" marL="0">
              <a:spcAft>
                <a:spcPts val="400"/>
              </a:spcAft>
              <a:buNone/>
            </a:pPr>
            <a:r>
              <a:rPr lang="en-US" sz="1600" dirty="0">
                <a:solidFill>
                  <a:srgbClr val="1B1F3B"/>
                </a:solidFill>
              </a:rPr>
              <a:t>PCA, SVD, t-SNE, LLE, UMAP and named clusters</a:t>
            </a:r>
            <a:endParaRPr lang="en-US" sz="1600" dirty="0"/>
          </a:p>
        </p:txBody>
      </p:sp>
      <p:sp>
        <p:nvSpPr>
          <p:cNvPr id="13" name="Shape 11"/>
          <p:cNvSpPr/>
          <p:nvPr/>
        </p:nvSpPr>
        <p:spPr>
          <a:xfrm>
            <a:off x="7315200" y="1645920"/>
            <a:ext cx="2103120" cy="2743200"/>
          </a:xfrm>
          <a:prstGeom prst="roundRect">
            <a:avLst>
              <a:gd name="adj" fmla="val 5217"/>
            </a:avLst>
          </a:prstGeom>
          <a:solidFill>
            <a:srgbClr val="EEF0F7"/>
          </a:solidFill>
          <a:ln w="12700">
            <a:solidFill>
              <a:srgbClr val="EEF0F7"/>
            </a:solidFill>
            <a:prstDash val="solid"/>
          </a:ln>
        </p:spPr>
      </p:sp>
      <p:sp>
        <p:nvSpPr>
          <p:cNvPr id="14" name="Text 12"/>
          <p:cNvSpPr txBox="1"/>
          <p:nvPr/>
        </p:nvSpPr>
        <p:spPr>
          <a:xfrm>
            <a:off x="7498080" y="1755648"/>
            <a:ext cx="1737360" cy="411480"/>
          </a:xfrm>
          <a:prstGeom prst="rect">
            <a:avLst/>
          </a:prstGeom>
          <a:noFill/>
          <a:ln/>
        </p:spPr>
        <p:txBody>
          <a:bodyPr wrap="square" lIns="0" tIns="0" rIns="0" bIns="0" rtlCol="0" anchor="ctr"/>
          <a:lstStyle/>
          <a:p>
            <a:pPr indent="0" marL="0">
              <a:buNone/>
            </a:pPr>
            <a:r>
              <a:rPr lang="en-US" sz="2000" b="1" dirty="0">
                <a:solidFill>
                  <a:srgbClr val="1B1F3B"/>
                </a:solidFill>
              </a:rPr>
              <a:t>Explain</a:t>
            </a:r>
            <a:endParaRPr lang="en-US" sz="2000" dirty="0"/>
          </a:p>
        </p:txBody>
      </p:sp>
      <p:sp>
        <p:nvSpPr>
          <p:cNvPr id="15" name="Text 13"/>
          <p:cNvSpPr txBox="1"/>
          <p:nvPr/>
        </p:nvSpPr>
        <p:spPr>
          <a:xfrm>
            <a:off x="7498080" y="2194560"/>
            <a:ext cx="1737360" cy="2103120"/>
          </a:xfrm>
          <a:prstGeom prst="rect">
            <a:avLst/>
          </a:prstGeom>
          <a:noFill/>
          <a:ln/>
        </p:spPr>
        <p:txBody>
          <a:bodyPr wrap="square" lIns="0" tIns="0" rIns="0" bIns="0" rtlCol="0" anchor="t"/>
          <a:lstStyle/>
          <a:p>
            <a:pPr indent="0" marL="0">
              <a:spcAft>
                <a:spcPts val="400"/>
              </a:spcAft>
              <a:buNone/>
            </a:pPr>
            <a:r>
              <a:rPr lang="en-US" sz="1600" dirty="0">
                <a:solidFill>
                  <a:srgbClr val="1B1F3B"/>
                </a:solidFill>
              </a:rPr>
              <a:t>STL, change points, ANOVA, chi-square, lyrics sentiment</a:t>
            </a:r>
            <a:endParaRPr lang="en-US" sz="1600" dirty="0"/>
          </a:p>
        </p:txBody>
      </p:sp>
      <p:sp>
        <p:nvSpPr>
          <p:cNvPr id="16" name="Shape 14"/>
          <p:cNvSpPr/>
          <p:nvPr/>
        </p:nvSpPr>
        <p:spPr>
          <a:xfrm>
            <a:off x="9601200" y="1645920"/>
            <a:ext cx="2103120" cy="2743200"/>
          </a:xfrm>
          <a:prstGeom prst="roundRect">
            <a:avLst>
              <a:gd name="adj" fmla="val 5217"/>
            </a:avLst>
          </a:prstGeom>
          <a:solidFill>
            <a:srgbClr val="EEF0F7"/>
          </a:solidFill>
          <a:ln w="12700">
            <a:solidFill>
              <a:srgbClr val="EEF0F7"/>
            </a:solidFill>
            <a:prstDash val="solid"/>
          </a:ln>
        </p:spPr>
      </p:sp>
      <p:sp>
        <p:nvSpPr>
          <p:cNvPr id="17" name="Text 15"/>
          <p:cNvSpPr txBox="1"/>
          <p:nvPr/>
        </p:nvSpPr>
        <p:spPr>
          <a:xfrm>
            <a:off x="9784080" y="1755648"/>
            <a:ext cx="1737360" cy="411480"/>
          </a:xfrm>
          <a:prstGeom prst="rect">
            <a:avLst/>
          </a:prstGeom>
          <a:noFill/>
          <a:ln/>
        </p:spPr>
        <p:txBody>
          <a:bodyPr wrap="square" lIns="0" tIns="0" rIns="0" bIns="0" rtlCol="0" anchor="ctr"/>
          <a:lstStyle/>
          <a:p>
            <a:pPr indent="0" marL="0">
              <a:buNone/>
            </a:pPr>
            <a:r>
              <a:rPr lang="en-US" sz="2000" b="1" dirty="0">
                <a:solidFill>
                  <a:srgbClr val="1B1F3B"/>
                </a:solidFill>
              </a:rPr>
              <a:t>Share</a:t>
            </a:r>
            <a:endParaRPr lang="en-US" sz="2000" dirty="0"/>
          </a:p>
        </p:txBody>
      </p:sp>
      <p:sp>
        <p:nvSpPr>
          <p:cNvPr id="18" name="Text 16"/>
          <p:cNvSpPr txBox="1"/>
          <p:nvPr/>
        </p:nvSpPr>
        <p:spPr>
          <a:xfrm>
            <a:off x="9784080" y="2194560"/>
            <a:ext cx="1737360" cy="2103120"/>
          </a:xfrm>
          <a:prstGeom prst="rect">
            <a:avLst/>
          </a:prstGeom>
          <a:noFill/>
          <a:ln/>
        </p:spPr>
        <p:txBody>
          <a:bodyPr wrap="square" lIns="0" tIns="0" rIns="0" bIns="0" rtlCol="0" anchor="t"/>
          <a:lstStyle/>
          <a:p>
            <a:pPr indent="0" marL="0">
              <a:spcAft>
                <a:spcPts val="400"/>
              </a:spcAft>
              <a:buNone/>
            </a:pPr>
            <a:r>
              <a:rPr lang="en-US" sz="1600" dirty="0">
                <a:solidFill>
                  <a:srgbClr val="1B1F3B"/>
                </a:solidFill>
              </a:rPr>
              <a:t>static website: DuckDB-WASM SQL, maps, comparisons, URLs</a:t>
            </a:r>
            <a:endParaRPr lang="en-US" sz="1600" dirty="0"/>
          </a:p>
        </p:txBody>
      </p:sp>
      <p:sp>
        <p:nvSpPr>
          <p:cNvPr id="19" name="Text 17"/>
          <p:cNvSpPr txBox="1"/>
          <p:nvPr/>
        </p:nvSpPr>
        <p:spPr>
          <a:xfrm>
            <a:off x="457200" y="4846320"/>
            <a:ext cx="11247120" cy="731520"/>
          </a:xfrm>
          <a:prstGeom prst="rect">
            <a:avLst/>
          </a:prstGeom>
          <a:noFill/>
          <a:ln/>
        </p:spPr>
        <p:txBody>
          <a:bodyPr wrap="square" lIns="0" tIns="0" rIns="0" bIns="0" rtlCol="0" anchor="ctr"/>
          <a:lstStyle/>
          <a:p>
            <a:pPr indent="0" marL="0">
              <a:buNone/>
            </a:pPr>
            <a:r>
              <a:rPr lang="en-US" sz="1800" dirty="0">
                <a:solidFill>
                  <a:srgbClr val="1B1F3B"/>
                </a:solidFill>
              </a:rPr>
              <a:t>Heavy computation runs once in Python; every interaction runs locally in the user's browser.</a:t>
            </a:r>
            <a:endParaRPr lang="en-US" sz="1800" dirty="0"/>
          </a:p>
        </p:txBody>
      </p:sp>
      <p:sp>
        <p:nvSpPr>
          <p:cNvPr id="25" name="Slide Number Placeholder 0"/>
          <p:cNvSpPr>
            <a:spLocks noGrp="1"/>
          </p:cNvSpPr>
          <p:nvPr>
            <p:ph type="sldNum" sz="quarter" idx="4294967295"/>
          </p:nvPr>
        </p:nvSpPr>
        <p:spPr>
          <a:xfrm>
            <a:off x="11247120" y="640080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5B6178"/>
                </a:solidFill>
                <a:latin typeface="Calibri"/>
                <a:ea typeface="Calibri"/>
                <a:cs typeface="Calibri"/>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457200" y="274320"/>
            <a:ext cx="10972800" cy="320040"/>
          </a:xfrm>
          <a:prstGeom prst="rect">
            <a:avLst/>
          </a:prstGeom>
          <a:noFill/>
          <a:ln/>
        </p:spPr>
        <p:txBody>
          <a:bodyPr wrap="square" lIns="0" tIns="0" rIns="0" bIns="0" rtlCol="0" anchor="ctr"/>
          <a:lstStyle/>
          <a:p>
            <a:pPr indent="0" marL="0">
              <a:buNone/>
            </a:pPr>
            <a:r>
              <a:rPr lang="en-US" sz="1300" b="1" spc="200" kern="0" dirty="0">
                <a:solidFill>
                  <a:srgbClr val="B7791F"/>
                </a:solidFill>
              </a:rPr>
              <a:t>ARCHITECTURE / SYSTEM FLOW / MODULES</a:t>
            </a:r>
            <a:endParaRPr lang="en-US" sz="1300" dirty="0"/>
          </a:p>
        </p:txBody>
      </p:sp>
      <p:sp>
        <p:nvSpPr>
          <p:cNvPr id="3" name="Text 1"/>
          <p:cNvSpPr txBox="1"/>
          <p:nvPr/>
        </p:nvSpPr>
        <p:spPr>
          <a:xfrm>
            <a:off x="457200" y="566928"/>
            <a:ext cx="11247120" cy="777240"/>
          </a:xfrm>
          <a:prstGeom prst="rect">
            <a:avLst/>
          </a:prstGeom>
          <a:noFill/>
          <a:ln/>
        </p:spPr>
        <p:txBody>
          <a:bodyPr wrap="square" lIns="0" tIns="0" rIns="0" bIns="0" rtlCol="0" anchor="t"/>
          <a:lstStyle/>
          <a:p>
            <a:pPr indent="0" marL="0">
              <a:buNone/>
            </a:pPr>
            <a:r>
              <a:rPr lang="en-US" sz="3000" b="1" dirty="0">
                <a:solidFill>
                  <a:srgbClr val="1B1F3B"/>
                </a:solidFill>
              </a:rPr>
              <a:t>Heavy maths runs offline; querying runs in the user's browser</a:t>
            </a:r>
            <a:endParaRPr lang="en-US" sz="3000" dirty="0"/>
          </a:p>
        </p:txBody>
      </p:sp>
      <p:pic>
        <p:nvPicPr>
          <p:cNvPr id="4" name="Image 0" descr="fig_00_01_system_architecture.png">    </p:cNvPr>
          <p:cNvPicPr>
            <a:picLocks noChangeAspect="1"/>
          </p:cNvPicPr>
          <p:nvPr/>
        </p:nvPicPr>
        <p:blipFill>
          <a:blip r:embed="rId1"/>
          <a:stretch>
            <a:fillRect/>
          </a:stretch>
        </p:blipFill>
        <p:spPr>
          <a:xfrm>
            <a:off x="1812567" y="1463040"/>
            <a:ext cx="8536386" cy="4846320"/>
          </a:xfrm>
          <a:prstGeom prst="rect">
            <a:avLst/>
          </a:prstGeom>
        </p:spPr>
      </p:pic>
      <p:sp>
        <p:nvSpPr>
          <p:cNvPr id="25" name="Slide Number Placeholder 0"/>
          <p:cNvSpPr>
            <a:spLocks noGrp="1"/>
          </p:cNvSpPr>
          <p:nvPr>
            <p:ph type="sldNum" sz="quarter" idx="4294967295"/>
          </p:nvPr>
        </p:nvSpPr>
        <p:spPr>
          <a:xfrm>
            <a:off x="11247120" y="640080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5B6178"/>
                </a:solidFill>
                <a:latin typeface="Calibri"/>
                <a:ea typeface="Calibri"/>
                <a:cs typeface="Calibri"/>
              </a:defRPr>
            </a:lvl1pPr>
          </a:lstStyle>
          <a:p>
            <a:pPr algn="l"/>
            <a:fld id="{F7021451-1387-4CA6-816F-3879F97B5CBC}" type="slidenum">
              <a:rPr b="0" lang="en-US"/>
              <a:t>8</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Vellore Institute of Technology, Vellore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SonicAtlas: An Interactive In-Browser EDA Platform for Spotify Audio Features and Lyrics Across Genres and Eras</dc:title>
  <dc:subject>BACSE301 EDA - Review-1 presentation, Team 05</dc:subject>
  <dc:creator>Sharvesh Prabhu (25BDS0318), Nithin S (25BDS0308)</dc:creator>
  <cp:lastModifiedBy>Sharvesh Prabhu (25BDS0318), Nithin S (25BDS0308)</cp:lastModifiedBy>
  <cp:revision>1</cp:revision>
  <dcterms:created xsi:type="dcterms:W3CDTF">2026-10-20T11:40:24Z</dcterms:created>
  <dcterms:modified xsi:type="dcterms:W3CDTF">2026-10-20T11:40:24Z</dcterms:modified>
</cp:coreProperties>
</file>