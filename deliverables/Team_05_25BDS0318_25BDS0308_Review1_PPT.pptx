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05. This Review-1 deck presents our problem, literature survey, objectives and the proposed SonicAtlas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SonicAtlas studies how musical characteristics change across genres and decades using public Spotify data and lyrics. We cleaned over a million tracks, applied the methods from our syllabus, and built a website so anyone can explore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25 verified papers. The main gaps: results are static, audio and lyrics are studied separately, data quality is rarely discussed, and generic EDA tools are not music-aware and need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public but noisy: impossible tempos, duplicates and sources without common keys. Results in the literature are static, sound and lyrics are studied separately, and interactive tools cost money to host. Our objectives address each problem with a measurable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has a measurable outcome, for example the imputation error compared with mean filling, trustworthiness scores for the embeddings, and query time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Spotify's own tools are closed, notebooks are static, the Streamlit application from our faculty reading needs a Python server and is not music-aware, and automated EDA tools are generic. SonicAtlas covers all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system has five stages: clean, explore, map, explain and share. The last stage is the website, which runs SQL in the browser so it is fast, private and free to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notebooks clean the data and compute statistics, embeddings and clusters, and export compact Parquet files. In the browser, DuckDB compiled to WebAssembly runs in a Web Worker and answers SQL queries locally. The React interface has eleven modules and keeps its state in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5B6178"/>
                </a:solidFill>
                <a:latin typeface="Calibri" pitchFamily="34" charset="0"/>
                <a:ea typeface="Calibri" pitchFamily="34" charset="-122"/>
                <a:cs typeface="Calibri" pitchFamily="34" charset="-120"/>
              </a:rPr>
              <a:t>Team 05  |  SonicAtlas  |  BACSE301 Exploratory Data Analysis</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486400" cy="457200"/>
          </a:xfrm>
          <a:prstGeom prst="rect">
            <a:avLst/>
          </a:prstGeom>
          <a:noFill/>
          <a:ln/>
        </p:spPr>
        <p:txBody>
          <a:bodyPr wrap="square" lIns="0" tIns="0" rIns="0" bIns="0" rtlCol="0" anchor="ctr"/>
          <a:lstStyle/>
          <a:p>
            <a:pPr indent="0" marL="0">
              <a:buNone/>
            </a:pPr>
            <a:r>
              <a:rPr lang="en-US" sz="1800" b="1" spc="600" kern="0" dirty="0">
                <a:solidFill>
                  <a:srgbClr val="F2A541"/>
                </a:solidFill>
              </a:rPr>
              <a:t>SONICATLAS</a:t>
            </a:r>
            <a:endParaRPr lang="en-US" sz="1800" dirty="0"/>
          </a:p>
        </p:txBody>
      </p:sp>
      <p:sp>
        <p:nvSpPr>
          <p:cNvPr id="3" name="Text 1"/>
          <p:cNvSpPr txBox="1"/>
          <p:nvPr/>
        </p:nvSpPr>
        <p:spPr>
          <a:xfrm>
            <a:off x="640080" y="1097280"/>
            <a:ext cx="7498080" cy="1828800"/>
          </a:xfrm>
          <a:prstGeom prst="rect">
            <a:avLst/>
          </a:prstGeom>
          <a:noFill/>
          <a:ln/>
        </p:spPr>
        <p:txBody>
          <a:bodyPr wrap="square" lIns="0" tIns="0" rIns="0" bIns="0" rtlCol="0" anchor="t"/>
          <a:lstStyle/>
          <a:p>
            <a:pPr indent="0" marL="0">
              <a:buNone/>
            </a:pPr>
            <a:r>
              <a:rPr lang="en-US" sz="3200" b="1" dirty="0">
                <a:solidFill>
                  <a:srgbClr val="FFFFFF"/>
                </a:solidFill>
              </a:rPr>
              <a:t>An Interactive In-Browser EDA Platform for Spotify Audio Features and Lyrics Across Genres and Eras</a:t>
            </a:r>
            <a:endParaRPr lang="en-US" sz="3200" dirty="0"/>
          </a:p>
        </p:txBody>
      </p:sp>
      <p:sp>
        <p:nvSpPr>
          <p:cNvPr id="4" name="Text 2"/>
          <p:cNvSpPr txBox="1"/>
          <p:nvPr/>
        </p:nvSpPr>
        <p:spPr>
          <a:xfrm>
            <a:off x="640080" y="3108960"/>
            <a:ext cx="7589520" cy="457200"/>
          </a:xfrm>
          <a:prstGeom prst="rect">
            <a:avLst/>
          </a:prstGeom>
          <a:noFill/>
          <a:ln/>
        </p:spPr>
        <p:txBody>
          <a:bodyPr wrap="square" lIns="0" tIns="0" rIns="0" bIns="0" rtlCol="0" anchor="ctr"/>
          <a:lstStyle/>
          <a:p>
            <a:pPr indent="0" marL="0">
              <a:buNone/>
            </a:pPr>
            <a:r>
              <a:rPr lang="en-US" sz="2200" b="1" dirty="0">
                <a:solidFill>
                  <a:srgbClr val="F2A541"/>
                </a:solidFill>
              </a:rPr>
              <a:t>Review-1  |  Problem, literature and design</a:t>
            </a:r>
            <a:endParaRPr lang="en-US" sz="2200" dirty="0"/>
          </a:p>
        </p:txBody>
      </p:sp>
      <p:sp>
        <p:nvSpPr>
          <p:cNvPr id="5" name="Text 3"/>
          <p:cNvSpPr txBox="1"/>
          <p:nvPr/>
        </p:nvSpPr>
        <p:spPr>
          <a:xfrm>
            <a:off x="640080" y="3749040"/>
            <a:ext cx="5486400" cy="1188720"/>
          </a:xfrm>
          <a:prstGeom prst="rect">
            <a:avLst/>
          </a:prstGeom>
          <a:noFill/>
          <a:ln/>
        </p:spPr>
        <p:txBody>
          <a:bodyPr wrap="square" lIns="0" tIns="0" rIns="0" bIns="0" rtlCol="0" anchor="t"/>
          <a:lstStyle/>
          <a:p>
            <a:pPr indent="0" marL="0">
              <a:buNone/>
            </a:pPr>
            <a:r>
              <a:rPr lang="en-US" sz="1800" b="1" dirty="0">
                <a:solidFill>
                  <a:srgbClr val="FFFFFF"/>
                </a:solidFill>
              </a:rPr>
              <a:t>Team 05</a:t>
            </a:r>
            <a:endParaRPr lang="en-US" sz="1800" dirty="0"/>
          </a:p>
          <a:p>
            <a:pPr indent="0" marL="0">
              <a:buNone/>
            </a:pPr>
            <a:r>
              <a:rPr lang="en-US" sz="1800" dirty="0">
                <a:solidFill>
                  <a:srgbClr val="FFFFFF"/>
                </a:solidFill>
              </a:rPr>
              <a:t>25BDS0318  Sharvesh Prabhu</a:t>
            </a:r>
            <a:endParaRPr lang="en-US" sz="1800" dirty="0"/>
          </a:p>
          <a:p>
            <a:pPr indent="0" marL="0">
              <a:buNone/>
            </a:pPr>
            <a:r>
              <a:rPr lang="en-US" sz="1800" dirty="0">
                <a:solidFill>
                  <a:srgbClr val="FFFFFF"/>
                </a:solidFill>
              </a:rPr>
              <a:t>25BDS0308  Nithin S</a:t>
            </a:r>
            <a:endParaRPr lang="en-US" sz="1800" dirty="0"/>
          </a:p>
        </p:txBody>
      </p:sp>
      <p:sp>
        <p:nvSpPr>
          <p:cNvPr id="6" name="Text 4"/>
          <p:cNvSpPr txBox="1"/>
          <p:nvPr/>
        </p:nvSpPr>
        <p:spPr>
          <a:xfrm>
            <a:off x="640080" y="5120640"/>
            <a:ext cx="8229600" cy="1005840"/>
          </a:xfrm>
          <a:prstGeom prst="rect">
            <a:avLst/>
          </a:prstGeom>
          <a:noFill/>
          <a:ln/>
        </p:spPr>
        <p:txBody>
          <a:bodyPr wrap="square" lIns="0" tIns="0" rIns="0" bIns="0" rtlCol="0" anchor="t"/>
          <a:lstStyle/>
          <a:p>
            <a:pPr indent="0" marL="0">
              <a:buNone/>
            </a:pPr>
            <a:r>
              <a:rPr lang="en-US" sz="1500" dirty="0">
                <a:solidFill>
                  <a:srgbClr val="C9CDDB"/>
                </a:solidFill>
              </a:rPr>
              <a:t>BACSE301 Exploratory Data Analysis (Project-based Course)</a:t>
            </a:r>
            <a:endParaRPr lang="en-US" sz="1500" dirty="0"/>
          </a:p>
          <a:p>
            <a:pPr indent="0" marL="0">
              <a:buNone/>
            </a:pPr>
            <a:r>
              <a:rPr lang="en-US" sz="1500" dirty="0">
                <a:solidFill>
                  <a:srgbClr val="C9CDDB"/>
                </a:solidFill>
              </a:rPr>
              <a:t>Faculty: ____________</a:t>
            </a:r>
            <a:endParaRPr lang="en-US" sz="1500" dirty="0"/>
          </a:p>
          <a:p>
            <a:pPr indent="0" marL="0">
              <a:buNone/>
            </a:pPr>
            <a:r>
              <a:rPr lang="en-US" sz="1500" dirty="0">
                <a:solidFill>
                  <a:srgbClr val="C9CDDB"/>
                </a:solidFill>
              </a:rPr>
              <a:t>School of Computer Science and Engineering, VIT Vellore  |  2026</a:t>
            </a:r>
            <a:endParaRPr lang="en-US" sz="1500" dirty="0"/>
          </a:p>
        </p:txBody>
      </p:sp>
      <p:sp>
        <p:nvSpPr>
          <p:cNvPr id="7" name="Shape 5"/>
          <p:cNvSpPr/>
          <p:nvPr/>
        </p:nvSpPr>
        <p:spPr>
          <a:xfrm>
            <a:off x="8412480" y="1097280"/>
            <a:ext cx="3291840" cy="3291840"/>
          </a:xfrm>
          <a:prstGeom prst="roundRect">
            <a:avLst>
              <a:gd name="adj" fmla="val 4167"/>
            </a:avLst>
          </a:prstGeom>
          <a:solidFill>
            <a:srgbClr val="FFFFFF"/>
          </a:solidFill>
          <a:ln w="12700">
            <a:solidFill>
              <a:srgbClr val="FFFFFF"/>
            </a:solidFill>
            <a:prstDash val="solid"/>
          </a:ln>
        </p:spPr>
      </p:sp>
      <p:pic>
        <p:nvPicPr>
          <p:cNvPr id="8" name="Image 0" descr="Acoustic cluster map">    </p:cNvPr>
          <p:cNvPicPr>
            <a:picLocks noChangeAspect="1"/>
          </p:cNvPicPr>
          <p:nvPr/>
        </p:nvPicPr>
        <p:blipFill>
          <a:blip r:embed="rId1"/>
          <a:stretch>
            <a:fillRect/>
          </a:stretch>
        </p:blipFill>
        <p:spPr>
          <a:xfrm>
            <a:off x="8549640" y="1234440"/>
            <a:ext cx="3017520" cy="2665759"/>
          </a:xfrm>
          <a:prstGeom prst="rect">
            <a:avLst/>
          </a:prstGeom>
        </p:spPr>
      </p:pic>
      <p:sp>
        <p:nvSpPr>
          <p:cNvPr id="9" name="Text 6"/>
          <p:cNvSpPr txBox="1"/>
          <p:nvPr/>
        </p:nvSpPr>
        <p:spPr>
          <a:xfrm>
            <a:off x="8412480" y="4480560"/>
            <a:ext cx="3291840" cy="365760"/>
          </a:xfrm>
          <a:prstGeom prst="rect">
            <a:avLst/>
          </a:prstGeom>
          <a:noFill/>
          <a:ln/>
        </p:spPr>
        <p:txBody>
          <a:bodyPr wrap="square" lIns="0" tIns="0" rIns="0" bIns="0" rtlCol="0" anchor="ctr"/>
          <a:lstStyle/>
          <a:p>
            <a:pPr algn="ctr" indent="0" marL="0">
              <a:buNone/>
            </a:pPr>
            <a:r>
              <a:rPr lang="en-US" sz="1200" dirty="0">
                <a:solidFill>
                  <a:srgbClr val="C9CDDB"/>
                </a:solidFill>
              </a:rPr>
              <a:t>Real acoustic map of 10,000 tracks (t-SNE)</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ABSTRACT</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Mapping how the sound of music changes across genres and eras</a:t>
            </a:r>
            <a:endParaRPr lang="en-US" sz="3000" dirty="0"/>
          </a:p>
        </p:txBody>
      </p:sp>
      <p:sp>
        <p:nvSpPr>
          <p:cNvPr id="4" name="Shape 2"/>
          <p:cNvSpPr/>
          <p:nvPr/>
        </p:nvSpPr>
        <p:spPr>
          <a:xfrm>
            <a:off x="457200" y="1554480"/>
            <a:ext cx="6949440" cy="4480560"/>
          </a:xfrm>
          <a:prstGeom prst="roundRect">
            <a:avLst>
              <a:gd name="adj" fmla="val 2449"/>
            </a:avLst>
          </a:prstGeom>
          <a:solidFill>
            <a:srgbClr val="EEF0F7"/>
          </a:solidFill>
          <a:ln w="12700">
            <a:solidFill>
              <a:srgbClr val="EEF0F7"/>
            </a:solidFill>
            <a:prstDash val="solid"/>
          </a:ln>
        </p:spPr>
      </p:sp>
      <p:sp>
        <p:nvSpPr>
          <p:cNvPr id="5" name="Text 3"/>
          <p:cNvSpPr txBox="1"/>
          <p:nvPr/>
        </p:nvSpPr>
        <p:spPr>
          <a:xfrm>
            <a:off x="640080" y="1691640"/>
            <a:ext cx="6583680" cy="4206240"/>
          </a:xfrm>
          <a:prstGeom prst="rect">
            <a:avLst/>
          </a:prstGeom>
          <a:noFill/>
          <a:ln/>
        </p:spPr>
        <p:txBody>
          <a:bodyPr wrap="square" lIns="0" tIns="0" rIns="0" bIns="0" rtlCol="0" anchor="t"/>
          <a:lstStyle/>
          <a:p>
            <a:pPr indent="0" marL="0">
              <a:spcAft>
                <a:spcPts val="400"/>
              </a:spcAft>
              <a:buNone/>
            </a:pPr>
            <a:r>
              <a:rPr lang="en-US" sz="1800" dirty="0">
                <a:solidFill>
                  <a:srgbClr val="1B1F3B"/>
                </a:solidFill>
              </a:rPr>
              <a:t>Spotify's archived audio descriptors (energy, valence, danceability, acousticness and more) are rarely explored beyond static charts. SonicAtlas cleans 1,204,025 tracks released 1900-2020, a genre table of 89,740 tracks in 114 genres and 161,401 English lyrics, explores them with the course methods (descriptive statistics, correlation, PCA/t-SNE/LLE, time series, hypothesis tests, text mining), and publishes everything in a website that runs SQL inside the browser with DuckDB-WASM.</a:t>
            </a:r>
            <a:endParaRPr lang="en-US" sz="1800" dirty="0"/>
          </a:p>
        </p:txBody>
      </p:sp>
      <p:sp>
        <p:nvSpPr>
          <p:cNvPr id="6" name="Shape 4"/>
          <p:cNvSpPr/>
          <p:nvPr/>
        </p:nvSpPr>
        <p:spPr>
          <a:xfrm>
            <a:off x="7772400" y="1554480"/>
            <a:ext cx="3931920" cy="1417320"/>
          </a:xfrm>
          <a:prstGeom prst="roundRect">
            <a:avLst>
              <a:gd name="adj" fmla="val 7742"/>
            </a:avLst>
          </a:prstGeom>
          <a:solidFill>
            <a:srgbClr val="EEF0F7"/>
          </a:solidFill>
          <a:ln w="12700">
            <a:solidFill>
              <a:srgbClr val="EEF0F7"/>
            </a:solidFill>
            <a:prstDash val="solid"/>
          </a:ln>
        </p:spPr>
      </p:sp>
      <p:sp>
        <p:nvSpPr>
          <p:cNvPr id="7" name="Text 5"/>
          <p:cNvSpPr txBox="1"/>
          <p:nvPr/>
        </p:nvSpPr>
        <p:spPr>
          <a:xfrm>
            <a:off x="7909560" y="1664208"/>
            <a:ext cx="3657600" cy="685800"/>
          </a:xfrm>
          <a:prstGeom prst="rect">
            <a:avLst/>
          </a:prstGeom>
          <a:noFill/>
          <a:ln/>
        </p:spPr>
        <p:txBody>
          <a:bodyPr wrap="square" lIns="0" tIns="0" rIns="0" bIns="0" rtlCol="0" anchor="ctr"/>
          <a:lstStyle/>
          <a:p>
            <a:pPr indent="0" marL="0">
              <a:buNone/>
            </a:pPr>
            <a:r>
              <a:rPr lang="en-US" sz="3200" b="1" dirty="0">
                <a:solidFill>
                  <a:srgbClr val="1B1F3B"/>
                </a:solidFill>
              </a:rPr>
              <a:t>1,204,025</a:t>
            </a:r>
            <a:endParaRPr lang="en-US" sz="3200" dirty="0"/>
          </a:p>
        </p:txBody>
      </p:sp>
      <p:sp>
        <p:nvSpPr>
          <p:cNvPr id="8" name="Text 6"/>
          <p:cNvSpPr txBox="1"/>
          <p:nvPr/>
        </p:nvSpPr>
        <p:spPr>
          <a:xfrm>
            <a:off x="7909560" y="2331720"/>
            <a:ext cx="3657600" cy="566928"/>
          </a:xfrm>
          <a:prstGeom prst="rect">
            <a:avLst/>
          </a:prstGeom>
          <a:noFill/>
          <a:ln/>
        </p:spPr>
        <p:txBody>
          <a:bodyPr wrap="square" lIns="0" tIns="0" rIns="0" bIns="0" rtlCol="0" anchor="t"/>
          <a:lstStyle/>
          <a:p>
            <a:pPr indent="0" marL="0">
              <a:buNone/>
            </a:pPr>
            <a:r>
              <a:rPr lang="en-US" sz="1400" dirty="0">
                <a:solidFill>
                  <a:srgbClr val="5B6178"/>
                </a:solidFill>
              </a:rPr>
              <a:t>tracks analysed</a:t>
            </a:r>
            <a:endParaRPr lang="en-US" sz="1400" dirty="0"/>
          </a:p>
        </p:txBody>
      </p:sp>
      <p:sp>
        <p:nvSpPr>
          <p:cNvPr id="9" name="Shape 7"/>
          <p:cNvSpPr/>
          <p:nvPr/>
        </p:nvSpPr>
        <p:spPr>
          <a:xfrm>
            <a:off x="7772400" y="3108960"/>
            <a:ext cx="3931920" cy="1417320"/>
          </a:xfrm>
          <a:prstGeom prst="roundRect">
            <a:avLst>
              <a:gd name="adj" fmla="val 7742"/>
            </a:avLst>
          </a:prstGeom>
          <a:solidFill>
            <a:srgbClr val="EEF0F7"/>
          </a:solidFill>
          <a:ln w="12700">
            <a:solidFill>
              <a:srgbClr val="EEF0F7"/>
            </a:solidFill>
            <a:prstDash val="solid"/>
          </a:ln>
        </p:spPr>
      </p:sp>
      <p:sp>
        <p:nvSpPr>
          <p:cNvPr id="10" name="Text 8"/>
          <p:cNvSpPr txBox="1"/>
          <p:nvPr/>
        </p:nvSpPr>
        <p:spPr>
          <a:xfrm>
            <a:off x="7909560" y="3218688"/>
            <a:ext cx="3657600" cy="685800"/>
          </a:xfrm>
          <a:prstGeom prst="rect">
            <a:avLst/>
          </a:prstGeom>
          <a:noFill/>
          <a:ln/>
        </p:spPr>
        <p:txBody>
          <a:bodyPr wrap="square" lIns="0" tIns="0" rIns="0" bIns="0" rtlCol="0" anchor="ctr"/>
          <a:lstStyle/>
          <a:p>
            <a:pPr indent="0" marL="0">
              <a:buNone/>
            </a:pPr>
            <a:r>
              <a:rPr lang="en-US" sz="3200" b="1" dirty="0">
                <a:solidFill>
                  <a:srgbClr val="1B1F3B"/>
                </a:solidFill>
              </a:rPr>
              <a:t>114</a:t>
            </a:r>
            <a:endParaRPr lang="en-US" sz="3200" dirty="0"/>
          </a:p>
        </p:txBody>
      </p:sp>
      <p:sp>
        <p:nvSpPr>
          <p:cNvPr id="11" name="Text 9"/>
          <p:cNvSpPr txBox="1"/>
          <p:nvPr/>
        </p:nvSpPr>
        <p:spPr>
          <a:xfrm>
            <a:off x="7909560" y="3886200"/>
            <a:ext cx="3657600" cy="566928"/>
          </a:xfrm>
          <a:prstGeom prst="rect">
            <a:avLst/>
          </a:prstGeom>
          <a:noFill/>
          <a:ln/>
        </p:spPr>
        <p:txBody>
          <a:bodyPr wrap="square" lIns="0" tIns="0" rIns="0" bIns="0" rtlCol="0" anchor="t"/>
          <a:lstStyle/>
          <a:p>
            <a:pPr indent="0" marL="0">
              <a:buNone/>
            </a:pPr>
            <a:r>
              <a:rPr lang="en-US" sz="1400" dirty="0">
                <a:solidFill>
                  <a:srgbClr val="5B6178"/>
                </a:solidFill>
              </a:rPr>
              <a:t>genres compared</a:t>
            </a:r>
            <a:endParaRPr lang="en-US" sz="1400" dirty="0"/>
          </a:p>
        </p:txBody>
      </p:sp>
      <p:sp>
        <p:nvSpPr>
          <p:cNvPr id="12" name="Shape 10"/>
          <p:cNvSpPr/>
          <p:nvPr/>
        </p:nvSpPr>
        <p:spPr>
          <a:xfrm>
            <a:off x="7772400" y="4663440"/>
            <a:ext cx="3931920" cy="1417320"/>
          </a:xfrm>
          <a:prstGeom prst="roundRect">
            <a:avLst>
              <a:gd name="adj" fmla="val 7742"/>
            </a:avLst>
          </a:prstGeom>
          <a:solidFill>
            <a:srgbClr val="EEF0F7"/>
          </a:solidFill>
          <a:ln w="12700">
            <a:solidFill>
              <a:srgbClr val="EEF0F7"/>
            </a:solidFill>
            <a:prstDash val="solid"/>
          </a:ln>
        </p:spPr>
      </p:sp>
      <p:sp>
        <p:nvSpPr>
          <p:cNvPr id="13" name="Text 11"/>
          <p:cNvSpPr txBox="1"/>
          <p:nvPr/>
        </p:nvSpPr>
        <p:spPr>
          <a:xfrm>
            <a:off x="7909560" y="4773168"/>
            <a:ext cx="3657600" cy="685800"/>
          </a:xfrm>
          <a:prstGeom prst="rect">
            <a:avLst/>
          </a:prstGeom>
          <a:noFill/>
          <a:ln/>
        </p:spPr>
        <p:txBody>
          <a:bodyPr wrap="square" lIns="0" tIns="0" rIns="0" bIns="0" rtlCol="0" anchor="ctr"/>
          <a:lstStyle/>
          <a:p>
            <a:pPr indent="0" marL="0">
              <a:buNone/>
            </a:pPr>
            <a:r>
              <a:rPr lang="en-US" sz="3200" b="1" dirty="0">
                <a:solidFill>
                  <a:srgbClr val="1B1F3B"/>
                </a:solidFill>
              </a:rPr>
              <a:t>1959-2020</a:t>
            </a:r>
            <a:endParaRPr lang="en-US" sz="3200" dirty="0"/>
          </a:p>
        </p:txBody>
      </p:sp>
      <p:sp>
        <p:nvSpPr>
          <p:cNvPr id="14" name="Text 12"/>
          <p:cNvSpPr txBox="1"/>
          <p:nvPr/>
        </p:nvSpPr>
        <p:spPr>
          <a:xfrm>
            <a:off x="7909560" y="5440680"/>
            <a:ext cx="3657600" cy="566928"/>
          </a:xfrm>
          <a:prstGeom prst="rect">
            <a:avLst/>
          </a:prstGeom>
          <a:noFill/>
          <a:ln/>
        </p:spPr>
        <p:txBody>
          <a:bodyPr wrap="square" lIns="0" tIns="0" rIns="0" bIns="0" rtlCol="0" anchor="t"/>
          <a:lstStyle/>
          <a:p>
            <a:pPr indent="0" marL="0">
              <a:buNone/>
            </a:pPr>
            <a:r>
              <a:rPr lang="en-US" sz="1400" dirty="0">
                <a:solidFill>
                  <a:srgbClr val="5B6178"/>
                </a:solidFill>
              </a:rPr>
              <a:t>years of trends</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LITERATURE SURVEY AND GAPS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Prior work is static and studies sound and words apart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47120" cy="914400"/>
        </p:xfrm>
        <a:graphic>
          <a:graphicData uri="http://schemas.openxmlformats.org/drawingml/2006/table">
            <a:tbl>
              <a:tblPr/>
              <a:tblGrid>
                <a:gridCol w="2651760"/>
                <a:gridCol w="4572000"/>
                <a:gridCol w="402336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Study</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they did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Gap SonicAtlas addresses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J. Serrà et al. (2012)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Tracked pitch, timbre and loudness of Western pop over 50+ years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Static figures; no genre-level or interactive view</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M. Interiano et al. (2018)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Linked audio features of 500k UK releases to chart success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No lyrics; results cannot be re-sliced by readers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C. O. Brand et al. (2019)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Measured rising negativity in song lyrics over 50 years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Lyrics only; audio mood not compared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 van der Maaten et al. (2008)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Introduced t-SNE for 2-D maps of high-dimensional data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Global distances unreliable; no music benchmark</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D. H. da Silva et al. (2025)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Streamlit web app for EDA and ML on medical data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Needs a server; not music-aware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bl>
          </a:graphicData>
        </a:graphic>
      </p:graphicFrame>
      <p:sp>
        <p:nvSpPr>
          <p:cNvPr id="5" name="Shape 2"/>
          <p:cNvSpPr/>
          <p:nvPr/>
        </p:nvSpPr>
        <p:spPr>
          <a:xfrm>
            <a:off x="457200" y="4160520"/>
            <a:ext cx="2651760" cy="1463040"/>
          </a:xfrm>
          <a:prstGeom prst="roundRect">
            <a:avLst>
              <a:gd name="adj" fmla="val 7500"/>
            </a:avLst>
          </a:prstGeom>
          <a:solidFill>
            <a:srgbClr val="EEF0F7"/>
          </a:solidFill>
          <a:ln w="12700">
            <a:solidFill>
              <a:srgbClr val="EEF0F7"/>
            </a:solidFill>
            <a:prstDash val="solid"/>
          </a:ln>
        </p:spPr>
      </p:sp>
      <p:sp>
        <p:nvSpPr>
          <p:cNvPr id="6" name="Text 3"/>
          <p:cNvSpPr txBox="1"/>
          <p:nvPr/>
        </p:nvSpPr>
        <p:spPr>
          <a:xfrm>
            <a:off x="64008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Static results</a:t>
            </a:r>
            <a:endParaRPr lang="en-US" sz="1800" dirty="0"/>
          </a:p>
        </p:txBody>
      </p:sp>
      <p:sp>
        <p:nvSpPr>
          <p:cNvPr id="7" name="Text 4"/>
          <p:cNvSpPr txBox="1"/>
          <p:nvPr/>
        </p:nvSpPr>
        <p:spPr>
          <a:xfrm>
            <a:off x="64008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fixed figures, no re-slicing</a:t>
            </a:r>
            <a:endParaRPr lang="en-US" sz="1600" dirty="0"/>
          </a:p>
        </p:txBody>
      </p:sp>
      <p:sp>
        <p:nvSpPr>
          <p:cNvPr id="8" name="Shape 5"/>
          <p:cNvSpPr/>
          <p:nvPr/>
        </p:nvSpPr>
        <p:spPr>
          <a:xfrm>
            <a:off x="3291840" y="4160520"/>
            <a:ext cx="2651760" cy="1463040"/>
          </a:xfrm>
          <a:prstGeom prst="roundRect">
            <a:avLst>
              <a:gd name="adj" fmla="val 7500"/>
            </a:avLst>
          </a:prstGeom>
          <a:solidFill>
            <a:srgbClr val="EEF0F7"/>
          </a:solidFill>
          <a:ln w="12700">
            <a:solidFill>
              <a:srgbClr val="EEF0F7"/>
            </a:solidFill>
            <a:prstDash val="solid"/>
          </a:ln>
        </p:spPr>
      </p:sp>
      <p:sp>
        <p:nvSpPr>
          <p:cNvPr id="9" name="Text 6"/>
          <p:cNvSpPr txBox="1"/>
          <p:nvPr/>
        </p:nvSpPr>
        <p:spPr>
          <a:xfrm>
            <a:off x="347472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Sound vs words</a:t>
            </a:r>
            <a:endParaRPr lang="en-US" sz="1800" dirty="0"/>
          </a:p>
        </p:txBody>
      </p:sp>
      <p:sp>
        <p:nvSpPr>
          <p:cNvPr id="10" name="Text 7"/>
          <p:cNvSpPr txBox="1"/>
          <p:nvPr/>
        </p:nvSpPr>
        <p:spPr>
          <a:xfrm>
            <a:off x="347472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audio and lyrics never compared</a:t>
            </a:r>
            <a:endParaRPr lang="en-US" sz="1600" dirty="0"/>
          </a:p>
        </p:txBody>
      </p:sp>
      <p:sp>
        <p:nvSpPr>
          <p:cNvPr id="11" name="Shape 8"/>
          <p:cNvSpPr/>
          <p:nvPr/>
        </p:nvSpPr>
        <p:spPr>
          <a:xfrm>
            <a:off x="6126480" y="4160520"/>
            <a:ext cx="2651760" cy="1463040"/>
          </a:xfrm>
          <a:prstGeom prst="roundRect">
            <a:avLst>
              <a:gd name="adj" fmla="val 7500"/>
            </a:avLst>
          </a:prstGeom>
          <a:solidFill>
            <a:srgbClr val="EEF0F7"/>
          </a:solidFill>
          <a:ln w="12700">
            <a:solidFill>
              <a:srgbClr val="EEF0F7"/>
            </a:solidFill>
            <a:prstDash val="solid"/>
          </a:ln>
        </p:spPr>
      </p:sp>
      <p:sp>
        <p:nvSpPr>
          <p:cNvPr id="12" name="Text 9"/>
          <p:cNvSpPr txBox="1"/>
          <p:nvPr/>
        </p:nvSpPr>
        <p:spPr>
          <a:xfrm>
            <a:off x="630936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Data quality</a:t>
            </a:r>
            <a:endParaRPr lang="en-US" sz="1800" dirty="0"/>
          </a:p>
        </p:txBody>
      </p:sp>
      <p:sp>
        <p:nvSpPr>
          <p:cNvPr id="13" name="Text 10"/>
          <p:cNvSpPr txBox="1"/>
          <p:nvPr/>
        </p:nvSpPr>
        <p:spPr>
          <a:xfrm>
            <a:off x="630936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zero tempos, re-issues ignored</a:t>
            </a:r>
            <a:endParaRPr lang="en-US" sz="1600" dirty="0"/>
          </a:p>
        </p:txBody>
      </p:sp>
      <p:sp>
        <p:nvSpPr>
          <p:cNvPr id="14" name="Shape 11"/>
          <p:cNvSpPr/>
          <p:nvPr/>
        </p:nvSpPr>
        <p:spPr>
          <a:xfrm>
            <a:off x="8961120" y="4160520"/>
            <a:ext cx="2651760" cy="1463040"/>
          </a:xfrm>
          <a:prstGeom prst="roundRect">
            <a:avLst>
              <a:gd name="adj" fmla="val 7500"/>
            </a:avLst>
          </a:prstGeom>
          <a:solidFill>
            <a:srgbClr val="EEF0F7"/>
          </a:solidFill>
          <a:ln w="12700">
            <a:solidFill>
              <a:srgbClr val="EEF0F7"/>
            </a:solidFill>
            <a:prstDash val="solid"/>
          </a:ln>
        </p:spPr>
      </p:sp>
      <p:sp>
        <p:nvSpPr>
          <p:cNvPr id="15" name="Text 12"/>
          <p:cNvSpPr txBox="1"/>
          <p:nvPr/>
        </p:nvSpPr>
        <p:spPr>
          <a:xfrm>
            <a:off x="914400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Generic tools</a:t>
            </a:r>
            <a:endParaRPr lang="en-US" sz="1800" dirty="0"/>
          </a:p>
        </p:txBody>
      </p:sp>
      <p:sp>
        <p:nvSpPr>
          <p:cNvPr id="16" name="Text 13"/>
          <p:cNvSpPr txBox="1"/>
          <p:nvPr/>
        </p:nvSpPr>
        <p:spPr>
          <a:xfrm>
            <a:off x="914400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not music-aware, need a server</a:t>
            </a:r>
            <a:endParaRPr lang="en-US" sz="1600" dirty="0"/>
          </a:p>
        </p:txBody>
      </p:sp>
      <p:sp>
        <p:nvSpPr>
          <p:cNvPr id="17" name="Text 14"/>
          <p:cNvSpPr txBox="1"/>
          <p:nvPr/>
        </p:nvSpPr>
        <p:spPr>
          <a:xfrm>
            <a:off x="457200" y="5897880"/>
            <a:ext cx="10972800" cy="365760"/>
          </a:xfrm>
          <a:prstGeom prst="rect">
            <a:avLst/>
          </a:prstGeom>
          <a:noFill/>
          <a:ln/>
        </p:spPr>
        <p:txBody>
          <a:bodyPr wrap="square" lIns="0" tIns="0" rIns="0" bIns="0" rtlCol="0" anchor="ctr"/>
          <a:lstStyle/>
          <a:p>
            <a:pPr indent="0" marL="0">
              <a:buNone/>
            </a:pPr>
            <a:r>
              <a:rPr lang="en-US" sz="1400" i="1" dirty="0">
                <a:solidFill>
                  <a:srgbClr val="5B6178"/>
                </a:solidFill>
              </a:rPr>
              <a:t>25 verified papers reviewed in the report (Table I).</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PROBLEM IDENTIFICATION</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Open music data exists, but it is messy and locked in static charts</a:t>
            </a:r>
            <a:endParaRPr lang="en-US" sz="3000" dirty="0"/>
          </a:p>
        </p:txBody>
      </p:sp>
      <p:sp>
        <p:nvSpPr>
          <p:cNvPr id="4" name="Shape 2"/>
          <p:cNvSpPr/>
          <p:nvPr/>
        </p:nvSpPr>
        <p:spPr>
          <a:xfrm>
            <a:off x="457200" y="1645920"/>
            <a:ext cx="5394960" cy="1920240"/>
          </a:xfrm>
          <a:prstGeom prst="roundRect">
            <a:avLst>
              <a:gd name="adj" fmla="val 5714"/>
            </a:avLst>
          </a:prstGeom>
          <a:solidFill>
            <a:srgbClr val="EEF0F7"/>
          </a:solidFill>
          <a:ln w="12700">
            <a:solidFill>
              <a:srgbClr val="EEF0F7"/>
            </a:solidFill>
            <a:prstDash val="solid"/>
          </a:ln>
        </p:spPr>
      </p:sp>
      <p:sp>
        <p:nvSpPr>
          <p:cNvPr id="5" name="Text 3"/>
          <p:cNvSpPr txBox="1"/>
          <p:nvPr/>
        </p:nvSpPr>
        <p:spPr>
          <a:xfrm>
            <a:off x="640080" y="1755648"/>
            <a:ext cx="5029200" cy="411480"/>
          </a:xfrm>
          <a:prstGeom prst="rect">
            <a:avLst/>
          </a:prstGeom>
          <a:noFill/>
          <a:ln/>
        </p:spPr>
        <p:txBody>
          <a:bodyPr wrap="square" lIns="0" tIns="0" rIns="0" bIns="0" rtlCol="0" anchor="ctr"/>
          <a:lstStyle/>
          <a:p>
            <a:pPr indent="0" marL="0">
              <a:buNone/>
            </a:pPr>
            <a:r>
              <a:rPr lang="en-US" sz="2000" b="1" dirty="0">
                <a:solidFill>
                  <a:srgbClr val="1B1F3B"/>
                </a:solidFill>
              </a:rPr>
              <a:t>Messy data</a:t>
            </a:r>
            <a:endParaRPr lang="en-US" sz="2000" dirty="0"/>
          </a:p>
        </p:txBody>
      </p:sp>
      <p:sp>
        <p:nvSpPr>
          <p:cNvPr id="6" name="Text 4"/>
          <p:cNvSpPr txBox="1"/>
          <p:nvPr/>
        </p:nvSpPr>
        <p:spPr>
          <a:xfrm>
            <a:off x="640080" y="2194560"/>
            <a:ext cx="5029200" cy="1280160"/>
          </a:xfrm>
          <a:prstGeom prst="rect">
            <a:avLst/>
          </a:prstGeom>
          <a:noFill/>
          <a:ln/>
        </p:spPr>
        <p:txBody>
          <a:bodyPr wrap="square" lIns="0" tIns="0" rIns="0" bIns="0" rtlCol="0" anchor="t"/>
          <a:lstStyle/>
          <a:p>
            <a:pPr indent="0" marL="0">
              <a:spcAft>
                <a:spcPts val="400"/>
              </a:spcAft>
              <a:buNone/>
            </a:pPr>
            <a:r>
              <a:rPr lang="en-US" sz="1800" dirty="0">
                <a:solidFill>
                  <a:srgbClr val="1B1F3B"/>
                </a:solidFill>
              </a:rPr>
              <a:t>2,777 zero-BPM tempos, 71,694 duplicate title+artist rows, no shared keys</a:t>
            </a:r>
            <a:endParaRPr lang="en-US" sz="1800" dirty="0"/>
          </a:p>
        </p:txBody>
      </p:sp>
      <p:sp>
        <p:nvSpPr>
          <p:cNvPr id="7" name="Shape 5"/>
          <p:cNvSpPr/>
          <p:nvPr/>
        </p:nvSpPr>
        <p:spPr>
          <a:xfrm>
            <a:off x="6126480" y="1645920"/>
            <a:ext cx="5394960" cy="1920240"/>
          </a:xfrm>
          <a:prstGeom prst="roundRect">
            <a:avLst>
              <a:gd name="adj" fmla="val 5714"/>
            </a:avLst>
          </a:prstGeom>
          <a:solidFill>
            <a:srgbClr val="EEF0F7"/>
          </a:solidFill>
          <a:ln w="12700">
            <a:solidFill>
              <a:srgbClr val="EEF0F7"/>
            </a:solidFill>
            <a:prstDash val="solid"/>
          </a:ln>
        </p:spPr>
      </p:sp>
      <p:sp>
        <p:nvSpPr>
          <p:cNvPr id="8" name="Text 6"/>
          <p:cNvSpPr txBox="1"/>
          <p:nvPr/>
        </p:nvSpPr>
        <p:spPr>
          <a:xfrm>
            <a:off x="6309360" y="1755648"/>
            <a:ext cx="5029200" cy="411480"/>
          </a:xfrm>
          <a:prstGeom prst="rect">
            <a:avLst/>
          </a:prstGeom>
          <a:noFill/>
          <a:ln/>
        </p:spPr>
        <p:txBody>
          <a:bodyPr wrap="square" lIns="0" tIns="0" rIns="0" bIns="0" rtlCol="0" anchor="ctr"/>
          <a:lstStyle/>
          <a:p>
            <a:pPr indent="0" marL="0">
              <a:buNone/>
            </a:pPr>
            <a:r>
              <a:rPr lang="en-US" sz="2000" b="1" dirty="0">
                <a:solidFill>
                  <a:srgbClr val="1B1F3B"/>
                </a:solidFill>
              </a:rPr>
              <a:t>Frozen results</a:t>
            </a:r>
            <a:endParaRPr lang="en-US" sz="2000" dirty="0"/>
          </a:p>
        </p:txBody>
      </p:sp>
      <p:sp>
        <p:nvSpPr>
          <p:cNvPr id="9" name="Text 7"/>
          <p:cNvSpPr txBox="1"/>
          <p:nvPr/>
        </p:nvSpPr>
        <p:spPr>
          <a:xfrm>
            <a:off x="6309360" y="2194560"/>
            <a:ext cx="5029200" cy="1280160"/>
          </a:xfrm>
          <a:prstGeom prst="rect">
            <a:avLst/>
          </a:prstGeom>
          <a:noFill/>
          <a:ln/>
        </p:spPr>
        <p:txBody>
          <a:bodyPr wrap="square" lIns="0" tIns="0" rIns="0" bIns="0" rtlCol="0" anchor="t"/>
          <a:lstStyle/>
          <a:p>
            <a:pPr indent="0" marL="0">
              <a:spcAft>
                <a:spcPts val="400"/>
              </a:spcAft>
              <a:buNone/>
            </a:pPr>
            <a:r>
              <a:rPr lang="en-US" sz="1800" dirty="0">
                <a:solidFill>
                  <a:srgbClr val="1B1F3B"/>
                </a:solidFill>
              </a:rPr>
              <a:t>papers and notebooks show fixed figures; readers cannot ask new questions</a:t>
            </a:r>
            <a:endParaRPr lang="en-US" sz="1800" dirty="0"/>
          </a:p>
        </p:txBody>
      </p:sp>
      <p:sp>
        <p:nvSpPr>
          <p:cNvPr id="10" name="Shape 8"/>
          <p:cNvSpPr/>
          <p:nvPr/>
        </p:nvSpPr>
        <p:spPr>
          <a:xfrm>
            <a:off x="457200" y="3840480"/>
            <a:ext cx="5394960" cy="1920240"/>
          </a:xfrm>
          <a:prstGeom prst="roundRect">
            <a:avLst>
              <a:gd name="adj" fmla="val 5714"/>
            </a:avLst>
          </a:prstGeom>
          <a:solidFill>
            <a:srgbClr val="EEF0F7"/>
          </a:solidFill>
          <a:ln w="12700">
            <a:solidFill>
              <a:srgbClr val="EEF0F7"/>
            </a:solidFill>
            <a:prstDash val="solid"/>
          </a:ln>
        </p:spPr>
      </p:sp>
      <p:sp>
        <p:nvSpPr>
          <p:cNvPr id="11" name="Text 9"/>
          <p:cNvSpPr txBox="1"/>
          <p:nvPr/>
        </p:nvSpPr>
        <p:spPr>
          <a:xfrm>
            <a:off x="640080" y="3950208"/>
            <a:ext cx="5029200" cy="411480"/>
          </a:xfrm>
          <a:prstGeom prst="rect">
            <a:avLst/>
          </a:prstGeom>
          <a:noFill/>
          <a:ln/>
        </p:spPr>
        <p:txBody>
          <a:bodyPr wrap="square" lIns="0" tIns="0" rIns="0" bIns="0" rtlCol="0" anchor="ctr"/>
          <a:lstStyle/>
          <a:p>
            <a:pPr indent="0" marL="0">
              <a:buNone/>
            </a:pPr>
            <a:r>
              <a:rPr lang="en-US" sz="2000" b="1" dirty="0">
                <a:solidFill>
                  <a:srgbClr val="1B1F3B"/>
                </a:solidFill>
              </a:rPr>
              <a:t>Split modalities</a:t>
            </a:r>
            <a:endParaRPr lang="en-US" sz="2000" dirty="0"/>
          </a:p>
        </p:txBody>
      </p:sp>
      <p:sp>
        <p:nvSpPr>
          <p:cNvPr id="12" name="Text 10"/>
          <p:cNvSpPr txBox="1"/>
          <p:nvPr/>
        </p:nvSpPr>
        <p:spPr>
          <a:xfrm>
            <a:off x="640080" y="4389120"/>
            <a:ext cx="5029200" cy="1280160"/>
          </a:xfrm>
          <a:prstGeom prst="rect">
            <a:avLst/>
          </a:prstGeom>
          <a:noFill/>
          <a:ln/>
        </p:spPr>
        <p:txBody>
          <a:bodyPr wrap="square" lIns="0" tIns="0" rIns="0" bIns="0" rtlCol="0" anchor="t"/>
          <a:lstStyle/>
          <a:p>
            <a:pPr indent="0" marL="0">
              <a:spcAft>
                <a:spcPts val="400"/>
              </a:spcAft>
              <a:buNone/>
            </a:pPr>
            <a:r>
              <a:rPr lang="en-US" sz="1800" dirty="0">
                <a:solidFill>
                  <a:srgbClr val="1B1F3B"/>
                </a:solidFill>
              </a:rPr>
              <a:t>audio features and lyrics are analysed in isolation</a:t>
            </a:r>
            <a:endParaRPr lang="en-US" sz="1800" dirty="0"/>
          </a:p>
        </p:txBody>
      </p:sp>
      <p:sp>
        <p:nvSpPr>
          <p:cNvPr id="13" name="Shape 11"/>
          <p:cNvSpPr/>
          <p:nvPr/>
        </p:nvSpPr>
        <p:spPr>
          <a:xfrm>
            <a:off x="6126480" y="3840480"/>
            <a:ext cx="5394960" cy="1920240"/>
          </a:xfrm>
          <a:prstGeom prst="roundRect">
            <a:avLst>
              <a:gd name="adj" fmla="val 5714"/>
            </a:avLst>
          </a:prstGeom>
          <a:solidFill>
            <a:srgbClr val="EEF0F7"/>
          </a:solidFill>
          <a:ln w="12700">
            <a:solidFill>
              <a:srgbClr val="EEF0F7"/>
            </a:solidFill>
            <a:prstDash val="solid"/>
          </a:ln>
        </p:spPr>
      </p:sp>
      <p:sp>
        <p:nvSpPr>
          <p:cNvPr id="14" name="Text 12"/>
          <p:cNvSpPr txBox="1"/>
          <p:nvPr/>
        </p:nvSpPr>
        <p:spPr>
          <a:xfrm>
            <a:off x="6309360" y="3950208"/>
            <a:ext cx="5029200" cy="411480"/>
          </a:xfrm>
          <a:prstGeom prst="rect">
            <a:avLst/>
          </a:prstGeom>
          <a:noFill/>
          <a:ln/>
        </p:spPr>
        <p:txBody>
          <a:bodyPr wrap="square" lIns="0" tIns="0" rIns="0" bIns="0" rtlCol="0" anchor="ctr"/>
          <a:lstStyle/>
          <a:p>
            <a:pPr indent="0" marL="0">
              <a:buNone/>
            </a:pPr>
            <a:r>
              <a:rPr lang="en-US" sz="2000" b="1" dirty="0">
                <a:solidFill>
                  <a:srgbClr val="1B1F3B"/>
                </a:solidFill>
              </a:rPr>
              <a:t>Hosting cost</a:t>
            </a:r>
            <a:endParaRPr lang="en-US" sz="2000" dirty="0"/>
          </a:p>
        </p:txBody>
      </p:sp>
      <p:sp>
        <p:nvSpPr>
          <p:cNvPr id="15" name="Text 13"/>
          <p:cNvSpPr txBox="1"/>
          <p:nvPr/>
        </p:nvSpPr>
        <p:spPr>
          <a:xfrm>
            <a:off x="6309360" y="4389120"/>
            <a:ext cx="5029200" cy="1280160"/>
          </a:xfrm>
          <a:prstGeom prst="rect">
            <a:avLst/>
          </a:prstGeom>
          <a:noFill/>
          <a:ln/>
        </p:spPr>
        <p:txBody>
          <a:bodyPr wrap="square" lIns="0" tIns="0" rIns="0" bIns="0" rtlCol="0" anchor="t"/>
          <a:lstStyle/>
          <a:p>
            <a:pPr indent="0" marL="0">
              <a:spcAft>
                <a:spcPts val="400"/>
              </a:spcAft>
              <a:buNone/>
            </a:pPr>
            <a:r>
              <a:rPr lang="en-US" sz="1800" dirty="0">
                <a:solidFill>
                  <a:srgbClr val="1B1F3B"/>
                </a:solidFill>
              </a:rPr>
              <a:t>interactive tools usually need a running server</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OBJECTIVES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Seven measurable objectives</a:t>
            </a:r>
            <a:endParaRPr lang="en-US" sz="3000" dirty="0"/>
          </a:p>
        </p:txBody>
      </p:sp>
      <p:sp>
        <p:nvSpPr>
          <p:cNvPr id="4" name="Text 2"/>
          <p:cNvSpPr txBox="1"/>
          <p:nvPr/>
        </p:nvSpPr>
        <p:spPr>
          <a:xfrm>
            <a:off x="548640" y="1645920"/>
            <a:ext cx="6766560" cy="43891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900" dirty="0">
                <a:solidFill>
                  <a:srgbClr val="1B1F3B"/>
                </a:solidFill>
              </a:rPr>
              <a:t>Clean 1M+ tracks; validate MICE by masking 5% of values</a:t>
            </a:r>
            <a:endParaRPr lang="en-US" sz="1900" dirty="0"/>
          </a:p>
          <a:p>
            <a:pPr marL="342900" indent="-342900">
              <a:spcAft>
                <a:spcPts val="600"/>
              </a:spcAft>
              <a:buSzPct val="100000"/>
              <a:buFont typeface="+mj-lt"/>
              <a:buAutoNum type="arabicPeriod" startAt="1"/>
            </a:pPr>
            <a:r>
              <a:rPr lang="en-US" sz="1900" dirty="0">
                <a:solidFill>
                  <a:srgbClr val="1B1F3B"/>
                </a:solidFill>
              </a:rPr>
              <a:t>Descriptive stats in course conventions (n-1, Tukey IQR, G1, G2)</a:t>
            </a:r>
            <a:endParaRPr lang="en-US" sz="1900" dirty="0"/>
          </a:p>
          <a:p>
            <a:pPr marL="342900" indent="-342900">
              <a:spcAft>
                <a:spcPts val="600"/>
              </a:spcAft>
              <a:buSzPct val="100000"/>
              <a:buFont typeface="+mj-lt"/>
              <a:buAutoNum type="arabicPeriod" startAt="1"/>
            </a:pPr>
            <a:r>
              <a:rPr lang="en-US" sz="1900" dirty="0">
                <a:solidFill>
                  <a:srgbClr val="1B1F3B"/>
                </a:solidFill>
              </a:rPr>
              <a:t>Correlation and multivariate genre fingerprints</a:t>
            </a:r>
            <a:endParaRPr lang="en-US" sz="1900" dirty="0"/>
          </a:p>
          <a:p>
            <a:pPr marL="342900" indent="-342900">
              <a:spcAft>
                <a:spcPts val="600"/>
              </a:spcAft>
              <a:buSzPct val="100000"/>
              <a:buFont typeface="+mj-lt"/>
              <a:buAutoNum type="arabicPeriod" startAt="1"/>
            </a:pPr>
            <a:r>
              <a:rPr lang="en-US" sz="1900" dirty="0">
                <a:solidFill>
                  <a:srgbClr val="1B1F3B"/>
                </a:solidFill>
              </a:rPr>
              <a:t>Compare PCA, t-SNE, LLE, UMAP; name acoustic clusters</a:t>
            </a:r>
            <a:endParaRPr lang="en-US" sz="1900" dirty="0"/>
          </a:p>
          <a:p>
            <a:pPr marL="342900" indent="-342900">
              <a:spcAft>
                <a:spcPts val="600"/>
              </a:spcAft>
              <a:buSzPct val="100000"/>
              <a:buFont typeface="+mj-lt"/>
              <a:buAutoNum type="arabicPeriod" startAt="1"/>
            </a:pPr>
            <a:r>
              <a:rPr lang="en-US" sz="1900" dirty="0">
                <a:solidFill>
                  <a:srgbClr val="1B1F3B"/>
                </a:solidFill>
              </a:rPr>
              <a:t>Trends, STL seasonality, change points, forecast</a:t>
            </a:r>
            <a:endParaRPr lang="en-US" sz="1900" dirty="0"/>
          </a:p>
          <a:p>
            <a:pPr marL="342900" indent="-342900">
              <a:spcAft>
                <a:spcPts val="600"/>
              </a:spcAft>
              <a:buSzPct val="100000"/>
              <a:buFont typeface="+mj-lt"/>
              <a:buAutoNum type="arabicPeriod" startAt="1"/>
            </a:pPr>
            <a:r>
              <a:rPr lang="en-US" sz="1900" dirty="0">
                <a:solidFill>
                  <a:srgbClr val="1B1F3B"/>
                </a:solidFill>
              </a:rPr>
              <a:t>ANOVA, chi-square, feature selection; lyrics sentiment</a:t>
            </a:r>
            <a:endParaRPr lang="en-US" sz="1900" dirty="0"/>
          </a:p>
          <a:p>
            <a:pPr marL="342900" indent="-342900">
              <a:spcAft>
                <a:spcPts val="600"/>
              </a:spcAft>
              <a:buSzPct val="100000"/>
              <a:buFont typeface="+mj-lt"/>
              <a:buAutoNum type="arabicPeriod" startAt="1"/>
            </a:pPr>
            <a:r>
              <a:rPr lang="en-US" sz="1900" dirty="0">
                <a:solidFill>
                  <a:srgbClr val="1B1F3B"/>
                </a:solidFill>
              </a:rPr>
              <a:t>In-browser SQL with lite-data queries under 1 second</a:t>
            </a:r>
            <a:endParaRPr lang="en-US" sz="1900" dirty="0"/>
          </a:p>
        </p:txBody>
      </p:sp>
      <p:pic>
        <p:nvPicPr>
          <p:cNvPr id="5" name="Image 0" descr="fig_00_02_methodology_flow.png">    </p:cNvPr>
          <p:cNvPicPr>
            <a:picLocks noChangeAspect="1"/>
          </p:cNvPicPr>
          <p:nvPr/>
        </p:nvPicPr>
        <p:blipFill>
          <a:blip r:embed="rId1"/>
          <a:stretch>
            <a:fillRect/>
          </a:stretch>
        </p:blipFill>
        <p:spPr>
          <a:xfrm>
            <a:off x="7498080" y="2194560"/>
            <a:ext cx="4206240" cy="1073308"/>
          </a:xfrm>
          <a:prstGeom prst="rect">
            <a:avLst/>
          </a:prstGeom>
        </p:spPr>
      </p:pic>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EXISTING SYSTEMS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Existing systems cover only parts of the need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47120" cy="914400"/>
        </p:xfrm>
        <a:graphic>
          <a:graphicData uri="http://schemas.openxmlformats.org/drawingml/2006/table">
            <a:tbl>
              <a:tblPr/>
              <a:tblGrid>
                <a:gridCol w="3108960"/>
                <a:gridCol w="1463040"/>
                <a:gridCol w="2011680"/>
                <a:gridCol w="1645920"/>
                <a:gridCol w="1463040"/>
                <a:gridCol w="155448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System</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Open data</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Music-specific EDA</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Audio + lyrics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Interactive</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Serverless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Spotify app / Web API</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 (closed)</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 (app)</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Static notebooks / papers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Partly</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Rarely</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Streamlit EDA app [25]</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Generic</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 (server)</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YData / Sweetviz / D-Tale</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Generic</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Partly</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 (server for D-Tale)</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5120640"/>
            <a:ext cx="11247120" cy="731520"/>
          </a:xfrm>
          <a:prstGeom prst="rect">
            <a:avLst/>
          </a:prstGeom>
          <a:noFill/>
          <a:ln/>
        </p:spPr>
        <p:txBody>
          <a:bodyPr wrap="square" lIns="0" tIns="0" rIns="0" bIns="0" rtlCol="0" anchor="ctr"/>
          <a:lstStyle/>
          <a:p>
            <a:pPr indent="0" marL="0">
              <a:buNone/>
            </a:pPr>
            <a:r>
              <a:rPr lang="en-US" sz="1800" b="1" dirty="0">
                <a:solidFill>
                  <a:srgbClr val="1B1F3B"/>
                </a:solidFill>
              </a:rPr>
              <a:t>No existing option is open, music-aware, interactive and serverless at the same time.</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PROPOSED SYSTEM</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A documented pipeline plus a serverless query platform</a:t>
            </a:r>
            <a:endParaRPr lang="en-US" sz="3000" dirty="0"/>
          </a:p>
        </p:txBody>
      </p:sp>
      <p:sp>
        <p:nvSpPr>
          <p:cNvPr id="4" name="Shape 2"/>
          <p:cNvSpPr/>
          <p:nvPr/>
        </p:nvSpPr>
        <p:spPr>
          <a:xfrm>
            <a:off x="457200" y="1645920"/>
            <a:ext cx="2103120" cy="2743200"/>
          </a:xfrm>
          <a:prstGeom prst="roundRect">
            <a:avLst>
              <a:gd name="adj" fmla="val 5217"/>
            </a:avLst>
          </a:prstGeom>
          <a:solidFill>
            <a:srgbClr val="EEF0F7"/>
          </a:solidFill>
          <a:ln w="12700">
            <a:solidFill>
              <a:srgbClr val="EEF0F7"/>
            </a:solidFill>
            <a:prstDash val="solid"/>
          </a:ln>
        </p:spPr>
      </p:sp>
      <p:sp>
        <p:nvSpPr>
          <p:cNvPr id="5" name="Text 3"/>
          <p:cNvSpPr txBox="1"/>
          <p:nvPr/>
        </p:nvSpPr>
        <p:spPr>
          <a:xfrm>
            <a:off x="640080" y="1755648"/>
            <a:ext cx="1737360" cy="411480"/>
          </a:xfrm>
          <a:prstGeom prst="rect">
            <a:avLst/>
          </a:prstGeom>
          <a:noFill/>
          <a:ln/>
        </p:spPr>
        <p:txBody>
          <a:bodyPr wrap="square" lIns="0" tIns="0" rIns="0" bIns="0" rtlCol="0" anchor="ctr"/>
          <a:lstStyle/>
          <a:p>
            <a:pPr indent="0" marL="0">
              <a:buNone/>
            </a:pPr>
            <a:r>
              <a:rPr lang="en-US" sz="2000" b="1" dirty="0">
                <a:solidFill>
                  <a:srgbClr val="1B1F3B"/>
                </a:solidFill>
              </a:rPr>
              <a:t>Clean</a:t>
            </a:r>
            <a:endParaRPr lang="en-US" sz="2000" dirty="0"/>
          </a:p>
        </p:txBody>
      </p:sp>
      <p:sp>
        <p:nvSpPr>
          <p:cNvPr id="6" name="Text 4"/>
          <p:cNvSpPr txBox="1"/>
          <p:nvPr/>
        </p:nvSpPr>
        <p:spPr>
          <a:xfrm>
            <a:off x="640080" y="2194560"/>
            <a:ext cx="1737360" cy="210312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MICE for impossible values, re-issue and outlier flags, scaling</a:t>
            </a:r>
            <a:endParaRPr lang="en-US" sz="1600" dirty="0"/>
          </a:p>
        </p:txBody>
      </p:sp>
      <p:sp>
        <p:nvSpPr>
          <p:cNvPr id="7" name="Shape 5"/>
          <p:cNvSpPr/>
          <p:nvPr/>
        </p:nvSpPr>
        <p:spPr>
          <a:xfrm>
            <a:off x="2743200" y="1645920"/>
            <a:ext cx="2103120" cy="2743200"/>
          </a:xfrm>
          <a:prstGeom prst="roundRect">
            <a:avLst>
              <a:gd name="adj" fmla="val 5217"/>
            </a:avLst>
          </a:prstGeom>
          <a:solidFill>
            <a:srgbClr val="EEF0F7"/>
          </a:solidFill>
          <a:ln w="12700">
            <a:solidFill>
              <a:srgbClr val="EEF0F7"/>
            </a:solidFill>
            <a:prstDash val="solid"/>
          </a:ln>
        </p:spPr>
      </p:sp>
      <p:sp>
        <p:nvSpPr>
          <p:cNvPr id="8" name="Text 6"/>
          <p:cNvSpPr txBox="1"/>
          <p:nvPr/>
        </p:nvSpPr>
        <p:spPr>
          <a:xfrm>
            <a:off x="2926080" y="1755648"/>
            <a:ext cx="1737360" cy="411480"/>
          </a:xfrm>
          <a:prstGeom prst="rect">
            <a:avLst/>
          </a:prstGeom>
          <a:noFill/>
          <a:ln/>
        </p:spPr>
        <p:txBody>
          <a:bodyPr wrap="square" lIns="0" tIns="0" rIns="0" bIns="0" rtlCol="0" anchor="ctr"/>
          <a:lstStyle/>
          <a:p>
            <a:pPr indent="0" marL="0">
              <a:buNone/>
            </a:pPr>
            <a:r>
              <a:rPr lang="en-US" sz="2000" b="1" dirty="0">
                <a:solidFill>
                  <a:srgbClr val="1B1F3B"/>
                </a:solidFill>
              </a:rPr>
              <a:t>Explore</a:t>
            </a:r>
            <a:endParaRPr lang="en-US" sz="2000" dirty="0"/>
          </a:p>
        </p:txBody>
      </p:sp>
      <p:sp>
        <p:nvSpPr>
          <p:cNvPr id="9" name="Text 7"/>
          <p:cNvSpPr txBox="1"/>
          <p:nvPr/>
        </p:nvSpPr>
        <p:spPr>
          <a:xfrm>
            <a:off x="2926080" y="2194560"/>
            <a:ext cx="1737360" cy="210312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statistics, correlation, parallel coordinates, Andrews curves</a:t>
            </a:r>
            <a:endParaRPr lang="en-US" sz="1600" dirty="0"/>
          </a:p>
        </p:txBody>
      </p:sp>
      <p:sp>
        <p:nvSpPr>
          <p:cNvPr id="10" name="Shape 8"/>
          <p:cNvSpPr/>
          <p:nvPr/>
        </p:nvSpPr>
        <p:spPr>
          <a:xfrm>
            <a:off x="5029200" y="1645920"/>
            <a:ext cx="2103120" cy="2743200"/>
          </a:xfrm>
          <a:prstGeom prst="roundRect">
            <a:avLst>
              <a:gd name="adj" fmla="val 5217"/>
            </a:avLst>
          </a:prstGeom>
          <a:solidFill>
            <a:srgbClr val="EEF0F7"/>
          </a:solidFill>
          <a:ln w="12700">
            <a:solidFill>
              <a:srgbClr val="EEF0F7"/>
            </a:solidFill>
            <a:prstDash val="solid"/>
          </a:ln>
        </p:spPr>
      </p:sp>
      <p:sp>
        <p:nvSpPr>
          <p:cNvPr id="11" name="Text 9"/>
          <p:cNvSpPr txBox="1"/>
          <p:nvPr/>
        </p:nvSpPr>
        <p:spPr>
          <a:xfrm>
            <a:off x="5212080" y="1755648"/>
            <a:ext cx="1737360" cy="411480"/>
          </a:xfrm>
          <a:prstGeom prst="rect">
            <a:avLst/>
          </a:prstGeom>
          <a:noFill/>
          <a:ln/>
        </p:spPr>
        <p:txBody>
          <a:bodyPr wrap="square" lIns="0" tIns="0" rIns="0" bIns="0" rtlCol="0" anchor="ctr"/>
          <a:lstStyle/>
          <a:p>
            <a:pPr indent="0" marL="0">
              <a:buNone/>
            </a:pPr>
            <a:r>
              <a:rPr lang="en-US" sz="2000" b="1" dirty="0">
                <a:solidFill>
                  <a:srgbClr val="1B1F3B"/>
                </a:solidFill>
              </a:rPr>
              <a:t>Map</a:t>
            </a:r>
            <a:endParaRPr lang="en-US" sz="2000" dirty="0"/>
          </a:p>
        </p:txBody>
      </p:sp>
      <p:sp>
        <p:nvSpPr>
          <p:cNvPr id="12" name="Text 10"/>
          <p:cNvSpPr txBox="1"/>
          <p:nvPr/>
        </p:nvSpPr>
        <p:spPr>
          <a:xfrm>
            <a:off x="5212080" y="2194560"/>
            <a:ext cx="1737360" cy="210312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PCA, SVD, t-SNE, LLE, UMAP and named clusters</a:t>
            </a:r>
            <a:endParaRPr lang="en-US" sz="1600" dirty="0"/>
          </a:p>
        </p:txBody>
      </p:sp>
      <p:sp>
        <p:nvSpPr>
          <p:cNvPr id="13" name="Shape 11"/>
          <p:cNvSpPr/>
          <p:nvPr/>
        </p:nvSpPr>
        <p:spPr>
          <a:xfrm>
            <a:off x="7315200" y="1645920"/>
            <a:ext cx="2103120" cy="2743200"/>
          </a:xfrm>
          <a:prstGeom prst="roundRect">
            <a:avLst>
              <a:gd name="adj" fmla="val 5217"/>
            </a:avLst>
          </a:prstGeom>
          <a:solidFill>
            <a:srgbClr val="EEF0F7"/>
          </a:solidFill>
          <a:ln w="12700">
            <a:solidFill>
              <a:srgbClr val="EEF0F7"/>
            </a:solidFill>
            <a:prstDash val="solid"/>
          </a:ln>
        </p:spPr>
      </p:sp>
      <p:sp>
        <p:nvSpPr>
          <p:cNvPr id="14" name="Text 12"/>
          <p:cNvSpPr txBox="1"/>
          <p:nvPr/>
        </p:nvSpPr>
        <p:spPr>
          <a:xfrm>
            <a:off x="7498080" y="1755648"/>
            <a:ext cx="1737360" cy="411480"/>
          </a:xfrm>
          <a:prstGeom prst="rect">
            <a:avLst/>
          </a:prstGeom>
          <a:noFill/>
          <a:ln/>
        </p:spPr>
        <p:txBody>
          <a:bodyPr wrap="square" lIns="0" tIns="0" rIns="0" bIns="0" rtlCol="0" anchor="ctr"/>
          <a:lstStyle/>
          <a:p>
            <a:pPr indent="0" marL="0">
              <a:buNone/>
            </a:pPr>
            <a:r>
              <a:rPr lang="en-US" sz="2000" b="1" dirty="0">
                <a:solidFill>
                  <a:srgbClr val="1B1F3B"/>
                </a:solidFill>
              </a:rPr>
              <a:t>Explain</a:t>
            </a:r>
            <a:endParaRPr lang="en-US" sz="2000" dirty="0"/>
          </a:p>
        </p:txBody>
      </p:sp>
      <p:sp>
        <p:nvSpPr>
          <p:cNvPr id="15" name="Text 13"/>
          <p:cNvSpPr txBox="1"/>
          <p:nvPr/>
        </p:nvSpPr>
        <p:spPr>
          <a:xfrm>
            <a:off x="7498080" y="2194560"/>
            <a:ext cx="1737360" cy="210312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STL, change points, ANOVA, chi-square, lyrics sentiment</a:t>
            </a:r>
            <a:endParaRPr lang="en-US" sz="1600" dirty="0"/>
          </a:p>
        </p:txBody>
      </p:sp>
      <p:sp>
        <p:nvSpPr>
          <p:cNvPr id="16" name="Shape 14"/>
          <p:cNvSpPr/>
          <p:nvPr/>
        </p:nvSpPr>
        <p:spPr>
          <a:xfrm>
            <a:off x="9601200" y="1645920"/>
            <a:ext cx="2103120" cy="2743200"/>
          </a:xfrm>
          <a:prstGeom prst="roundRect">
            <a:avLst>
              <a:gd name="adj" fmla="val 5217"/>
            </a:avLst>
          </a:prstGeom>
          <a:solidFill>
            <a:srgbClr val="EEF0F7"/>
          </a:solidFill>
          <a:ln w="12700">
            <a:solidFill>
              <a:srgbClr val="EEF0F7"/>
            </a:solidFill>
            <a:prstDash val="solid"/>
          </a:ln>
        </p:spPr>
      </p:sp>
      <p:sp>
        <p:nvSpPr>
          <p:cNvPr id="17" name="Text 15"/>
          <p:cNvSpPr txBox="1"/>
          <p:nvPr/>
        </p:nvSpPr>
        <p:spPr>
          <a:xfrm>
            <a:off x="9784080" y="1755648"/>
            <a:ext cx="1737360" cy="411480"/>
          </a:xfrm>
          <a:prstGeom prst="rect">
            <a:avLst/>
          </a:prstGeom>
          <a:noFill/>
          <a:ln/>
        </p:spPr>
        <p:txBody>
          <a:bodyPr wrap="square" lIns="0" tIns="0" rIns="0" bIns="0" rtlCol="0" anchor="ctr"/>
          <a:lstStyle/>
          <a:p>
            <a:pPr indent="0" marL="0">
              <a:buNone/>
            </a:pPr>
            <a:r>
              <a:rPr lang="en-US" sz="2000" b="1" dirty="0">
                <a:solidFill>
                  <a:srgbClr val="1B1F3B"/>
                </a:solidFill>
              </a:rPr>
              <a:t>Share</a:t>
            </a:r>
            <a:endParaRPr lang="en-US" sz="2000" dirty="0"/>
          </a:p>
        </p:txBody>
      </p:sp>
      <p:sp>
        <p:nvSpPr>
          <p:cNvPr id="18" name="Text 16"/>
          <p:cNvSpPr txBox="1"/>
          <p:nvPr/>
        </p:nvSpPr>
        <p:spPr>
          <a:xfrm>
            <a:off x="9784080" y="2194560"/>
            <a:ext cx="1737360" cy="210312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static website: DuckDB-WASM SQL, maps, comparisons, URLs</a:t>
            </a:r>
            <a:endParaRPr lang="en-US" sz="1600" dirty="0"/>
          </a:p>
        </p:txBody>
      </p:sp>
      <p:sp>
        <p:nvSpPr>
          <p:cNvPr id="19" name="Text 17"/>
          <p:cNvSpPr txBox="1"/>
          <p:nvPr/>
        </p:nvSpPr>
        <p:spPr>
          <a:xfrm>
            <a:off x="457200" y="4846320"/>
            <a:ext cx="11247120" cy="731520"/>
          </a:xfrm>
          <a:prstGeom prst="rect">
            <a:avLst/>
          </a:prstGeom>
          <a:noFill/>
          <a:ln/>
        </p:spPr>
        <p:txBody>
          <a:bodyPr wrap="square" lIns="0" tIns="0" rIns="0" bIns="0" rtlCol="0" anchor="ctr"/>
          <a:lstStyle/>
          <a:p>
            <a:pPr indent="0" marL="0">
              <a:buNone/>
            </a:pPr>
            <a:r>
              <a:rPr lang="en-US" sz="1800" dirty="0">
                <a:solidFill>
                  <a:srgbClr val="1B1F3B"/>
                </a:solidFill>
              </a:rPr>
              <a:t>Heavy computation runs once in Python; every interaction runs locally in the user's browser.</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ARCHITECTURE / SYSTEM FLOW / MODULES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Heavy maths runs offline; querying runs in the user's browser</a:t>
            </a:r>
            <a:endParaRPr lang="en-US" sz="3000" dirty="0"/>
          </a:p>
        </p:txBody>
      </p:sp>
      <p:pic>
        <p:nvPicPr>
          <p:cNvPr id="4" name="Image 0" descr="fig_00_01_system_architecture.png">    </p:cNvPr>
          <p:cNvPicPr>
            <a:picLocks noChangeAspect="1"/>
          </p:cNvPicPr>
          <p:nvPr/>
        </p:nvPicPr>
        <p:blipFill>
          <a:blip r:embed="rId1"/>
          <a:stretch>
            <a:fillRect/>
          </a:stretch>
        </p:blipFill>
        <p:spPr>
          <a:xfrm>
            <a:off x="1812567" y="1463040"/>
            <a:ext cx="8536386" cy="4846320"/>
          </a:xfrm>
          <a:prstGeom prst="rect">
            <a:avLst/>
          </a:prstGeom>
        </p:spPr>
      </p:pic>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Vellore Institute of Technology,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SonicAtlas: An Interactive In-Browser EDA Platform for Spotify Audio Features and Lyrics Across Genres and Eras</dc:title>
  <dc:subject>BACSE301 EDA - Review-1 presentation, Team 05</dc:subject>
  <dc:creator>Sharvesh Prabhu (25BDS0318), Nithin S (25BDS0308)</dc:creator>
  <cp:lastModifiedBy>Sharvesh Prabhu (25BDS0318), Nithin S (25BDS0308)</cp:lastModifiedBy>
  <cp:revision>1</cp:revision>
  <dcterms:created xsi:type="dcterms:W3CDTF">2026-10-20T11:23:05Z</dcterms:created>
  <dcterms:modified xsi:type="dcterms:W3CDTF">2026-10-20T11:23:05Z</dcterms:modified>
</cp:coreProperties>
</file>