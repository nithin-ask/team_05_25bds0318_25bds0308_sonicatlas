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Review-3. Since Review-2 we finished every notebook, the lyrics and network analyses, the website, the evaluation and the IEEE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and objectives are unchanged. What is new since Review-2: the lyrics analysis, the collaboration network, the automated EDA benchmark, the full website, the evaluation and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notebooks clean the data and compute statistics, embeddings and clusters, and export compact Parquet files. In the browser, DuckDB compiled to WebAssembly runs in a Web Worker and answers SQL queries locally. The React interface has eleven modules and keeps its state in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Yearly means of canonical releases show loudness rising from -17.4 to -9.7 decibels, energy and danceability rising, and acousticness falling. Change-point detection finds breaks in 1989 and 1999, the CD loudness-war period. Our ARIMA forecast is no better than a naive one because loudness has plateaued.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with six clusters gives groups we can name, from quiet acoustic instrumentals to spoken word and rap. The negative silhouette by genre and the high HDBSCAN noise share tell us that audio space is a continuum: genre is partly a cultural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Genre explains about 42% of the variance in danceability, a large effect confirmed by Kruskal-Wallis. Mode depends on genre moderately but on decade only negligibly. In the lyrics, sentiment of the words barely correlates with the musical valence, so sound and words carry different emotional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of SonicAtlas. Query Studio builds SQL from filters or plain English; the Acoustic Map switches between PCA, t-SNE, LLE and UMAP; Compare runs live significance tests; Time Machine shows trends, seasonality and change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each part: embeddings by trustworthiness and silhouette, the website by query time, automated tests and Lighthouse audits, and the automated EDA tools by what they found and missed compared with our manual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outcome is an IEEE-format paper prepared for submission to one of these venues, the open-source repository and the live website. Our own similarity self-check found very low overlap; the official Turnitin check is done by the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careful cleaning changes the conclusions, music has become louder and less acoustic, genre matters but genres overlap, and lyrics add independent information. Our main limitations are the proprietary features and data bias.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5B6178"/>
                </a:solidFill>
                <a:latin typeface="Calibri" pitchFamily="34" charset="0"/>
                <a:ea typeface="Calibri" pitchFamily="34" charset="-122"/>
                <a:cs typeface="Calibri" pitchFamily="34" charset="-120"/>
              </a:rPr>
              <a:t>Team 05  |  SonicAtlas  |  BACSE301 Exploratory Data Analysis</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5486400" cy="457200"/>
          </a:xfrm>
          <a:prstGeom prst="rect">
            <a:avLst/>
          </a:prstGeom>
          <a:noFill/>
          <a:ln/>
        </p:spPr>
        <p:txBody>
          <a:bodyPr wrap="square" lIns="0" tIns="0" rIns="0" bIns="0" rtlCol="0" anchor="ctr"/>
          <a:lstStyle/>
          <a:p>
            <a:pPr indent="0" marL="0">
              <a:buNone/>
            </a:pPr>
            <a:r>
              <a:rPr lang="en-US" sz="1800" b="1" spc="600" kern="0" dirty="0">
                <a:solidFill>
                  <a:srgbClr val="F2A541"/>
                </a:solidFill>
              </a:rPr>
              <a:t>SONICATLAS</a:t>
            </a:r>
            <a:endParaRPr lang="en-US" sz="1800" dirty="0"/>
          </a:p>
        </p:txBody>
      </p:sp>
      <p:sp>
        <p:nvSpPr>
          <p:cNvPr id="3" name="Text 1"/>
          <p:cNvSpPr txBox="1"/>
          <p:nvPr/>
        </p:nvSpPr>
        <p:spPr>
          <a:xfrm>
            <a:off x="640080" y="1097280"/>
            <a:ext cx="7498080" cy="1828800"/>
          </a:xfrm>
          <a:prstGeom prst="rect">
            <a:avLst/>
          </a:prstGeom>
          <a:noFill/>
          <a:ln/>
        </p:spPr>
        <p:txBody>
          <a:bodyPr wrap="square" lIns="0" tIns="0" rIns="0" bIns="0" rtlCol="0" anchor="t"/>
          <a:lstStyle/>
          <a:p>
            <a:pPr indent="0" marL="0">
              <a:buNone/>
            </a:pPr>
            <a:r>
              <a:rPr lang="en-US" sz="3200" b="1" dirty="0">
                <a:solidFill>
                  <a:srgbClr val="FFFFFF"/>
                </a:solidFill>
              </a:rPr>
              <a:t>An Interactive In-Browser EDA Platform for Spotify Audio Features and Lyrics Across Genres and Eras</a:t>
            </a:r>
            <a:endParaRPr lang="en-US" sz="3200" dirty="0"/>
          </a:p>
        </p:txBody>
      </p:sp>
      <p:sp>
        <p:nvSpPr>
          <p:cNvPr id="4" name="Text 2"/>
          <p:cNvSpPr txBox="1"/>
          <p:nvPr/>
        </p:nvSpPr>
        <p:spPr>
          <a:xfrm>
            <a:off x="640080" y="3108960"/>
            <a:ext cx="7589520" cy="457200"/>
          </a:xfrm>
          <a:prstGeom prst="rect">
            <a:avLst/>
          </a:prstGeom>
          <a:noFill/>
          <a:ln/>
        </p:spPr>
        <p:txBody>
          <a:bodyPr wrap="square" lIns="0" tIns="0" rIns="0" bIns="0" rtlCol="0" anchor="ctr"/>
          <a:lstStyle/>
          <a:p>
            <a:pPr indent="0" marL="0">
              <a:buNone/>
            </a:pPr>
            <a:r>
              <a:rPr lang="en-US" sz="2200" b="1" dirty="0">
                <a:solidFill>
                  <a:srgbClr val="F2A541"/>
                </a:solidFill>
              </a:rPr>
              <a:t>Review-3  |  Implementation complete, evaluation and outcome</a:t>
            </a:r>
            <a:endParaRPr lang="en-US" sz="2200" dirty="0"/>
          </a:p>
        </p:txBody>
      </p:sp>
      <p:sp>
        <p:nvSpPr>
          <p:cNvPr id="5" name="Text 3"/>
          <p:cNvSpPr txBox="1"/>
          <p:nvPr/>
        </p:nvSpPr>
        <p:spPr>
          <a:xfrm>
            <a:off x="640080" y="3749040"/>
            <a:ext cx="5486400" cy="1188720"/>
          </a:xfrm>
          <a:prstGeom prst="rect">
            <a:avLst/>
          </a:prstGeom>
          <a:noFill/>
          <a:ln/>
        </p:spPr>
        <p:txBody>
          <a:bodyPr wrap="square" lIns="0" tIns="0" rIns="0" bIns="0" rtlCol="0" anchor="t"/>
          <a:lstStyle/>
          <a:p>
            <a:pPr indent="0" marL="0">
              <a:buNone/>
            </a:pPr>
            <a:r>
              <a:rPr lang="en-US" sz="1800" b="1" dirty="0">
                <a:solidFill>
                  <a:srgbClr val="FFFFFF"/>
                </a:solidFill>
              </a:rPr>
              <a:t>Team 05</a:t>
            </a:r>
            <a:endParaRPr lang="en-US" sz="1800" dirty="0"/>
          </a:p>
          <a:p>
            <a:pPr indent="0" marL="0">
              <a:buNone/>
            </a:pPr>
            <a:r>
              <a:rPr lang="en-US" sz="1800" dirty="0">
                <a:solidFill>
                  <a:srgbClr val="FFFFFF"/>
                </a:solidFill>
              </a:rPr>
              <a:t>25BDS0318  Sharvesh Prabhu</a:t>
            </a:r>
            <a:endParaRPr lang="en-US" sz="1800" dirty="0"/>
          </a:p>
          <a:p>
            <a:pPr indent="0" marL="0">
              <a:buNone/>
            </a:pPr>
            <a:r>
              <a:rPr lang="en-US" sz="1800" dirty="0">
                <a:solidFill>
                  <a:srgbClr val="FFFFFF"/>
                </a:solidFill>
              </a:rPr>
              <a:t>25BDS0308  Nithin S</a:t>
            </a:r>
            <a:endParaRPr lang="en-US" sz="1800" dirty="0"/>
          </a:p>
        </p:txBody>
      </p:sp>
      <p:sp>
        <p:nvSpPr>
          <p:cNvPr id="6" name="Text 4"/>
          <p:cNvSpPr txBox="1"/>
          <p:nvPr/>
        </p:nvSpPr>
        <p:spPr>
          <a:xfrm>
            <a:off x="640080" y="5120640"/>
            <a:ext cx="8229600" cy="1005840"/>
          </a:xfrm>
          <a:prstGeom prst="rect">
            <a:avLst/>
          </a:prstGeom>
          <a:noFill/>
          <a:ln/>
        </p:spPr>
        <p:txBody>
          <a:bodyPr wrap="square" lIns="0" tIns="0" rIns="0" bIns="0" rtlCol="0" anchor="t"/>
          <a:lstStyle/>
          <a:p>
            <a:pPr indent="0" marL="0">
              <a:buNone/>
            </a:pPr>
            <a:r>
              <a:rPr lang="en-US" sz="1500" dirty="0">
                <a:solidFill>
                  <a:srgbClr val="C9CDDB"/>
                </a:solidFill>
              </a:rPr>
              <a:t>BACSE301 Exploratory Data Analysis (Project-based Course)</a:t>
            </a:r>
            <a:endParaRPr lang="en-US" sz="1500" dirty="0"/>
          </a:p>
          <a:p>
            <a:pPr indent="0" marL="0">
              <a:buNone/>
            </a:pPr>
            <a:r>
              <a:rPr lang="en-US" sz="1500" dirty="0">
                <a:solidFill>
                  <a:srgbClr val="C9CDDB"/>
                </a:solidFill>
              </a:rPr>
              <a:t>Faculty: ____________</a:t>
            </a:r>
            <a:endParaRPr lang="en-US" sz="1500" dirty="0"/>
          </a:p>
          <a:p>
            <a:pPr indent="0" marL="0">
              <a:buNone/>
            </a:pPr>
            <a:r>
              <a:rPr lang="en-US" sz="1500" dirty="0">
                <a:solidFill>
                  <a:srgbClr val="C9CDDB"/>
                </a:solidFill>
              </a:rPr>
              <a:t>School of Computer Science and Engineering, VIT Vellore  |  October 2026</a:t>
            </a:r>
            <a:endParaRPr lang="en-US" sz="1500" dirty="0"/>
          </a:p>
        </p:txBody>
      </p:sp>
      <p:sp>
        <p:nvSpPr>
          <p:cNvPr id="7" name="Shape 5"/>
          <p:cNvSpPr/>
          <p:nvPr/>
        </p:nvSpPr>
        <p:spPr>
          <a:xfrm>
            <a:off x="8412480" y="1097280"/>
            <a:ext cx="3291840" cy="3291840"/>
          </a:xfrm>
          <a:prstGeom prst="roundRect">
            <a:avLst>
              <a:gd name="adj" fmla="val 4167"/>
            </a:avLst>
          </a:prstGeom>
          <a:solidFill>
            <a:srgbClr val="FFFFFF"/>
          </a:solidFill>
          <a:ln w="12700">
            <a:solidFill>
              <a:srgbClr val="FFFFFF"/>
            </a:solidFill>
            <a:prstDash val="solid"/>
          </a:ln>
        </p:spPr>
      </p:sp>
      <p:pic>
        <p:nvPicPr>
          <p:cNvPr id="8" name="Image 0" descr="Acoustic cluster map">    </p:cNvPr>
          <p:cNvPicPr>
            <a:picLocks noChangeAspect="1"/>
          </p:cNvPicPr>
          <p:nvPr/>
        </p:nvPicPr>
        <p:blipFill>
          <a:blip r:embed="rId1"/>
          <a:stretch>
            <a:fillRect/>
          </a:stretch>
        </p:blipFill>
        <p:spPr>
          <a:xfrm>
            <a:off x="8549640" y="1234440"/>
            <a:ext cx="3017520" cy="2665759"/>
          </a:xfrm>
          <a:prstGeom prst="rect">
            <a:avLst/>
          </a:prstGeom>
        </p:spPr>
      </p:pic>
      <p:sp>
        <p:nvSpPr>
          <p:cNvPr id="9" name="Text 6"/>
          <p:cNvSpPr txBox="1"/>
          <p:nvPr/>
        </p:nvSpPr>
        <p:spPr>
          <a:xfrm>
            <a:off x="8412480" y="4480560"/>
            <a:ext cx="3291840" cy="365760"/>
          </a:xfrm>
          <a:prstGeom prst="rect">
            <a:avLst/>
          </a:prstGeom>
          <a:noFill/>
          <a:ln/>
        </p:spPr>
        <p:txBody>
          <a:bodyPr wrap="square" lIns="0" tIns="0" rIns="0" bIns="0" rtlCol="0" anchor="ctr"/>
          <a:lstStyle/>
          <a:p>
            <a:pPr algn="ctr" indent="0" marL="0">
              <a:buNone/>
            </a:pPr>
            <a:r>
              <a:rPr lang="en-US" sz="1200" dirty="0">
                <a:solidFill>
                  <a:srgbClr val="C9CDDB"/>
                </a:solidFill>
              </a:rPr>
              <a:t>Real acoustic map of 10,000 tracks (t-SNE)</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PROBLEM, OBJECTIVES AND WHAT CHANGED</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Since Review-2: website, lyrics, network, tests and paper finished</a:t>
            </a:r>
            <a:endParaRPr lang="en-US" sz="3000" dirty="0"/>
          </a:p>
        </p:txBody>
      </p:sp>
      <p:sp>
        <p:nvSpPr>
          <p:cNvPr id="4" name="Shape 2"/>
          <p:cNvSpPr/>
          <p:nvPr/>
        </p:nvSpPr>
        <p:spPr>
          <a:xfrm>
            <a:off x="457200" y="1554480"/>
            <a:ext cx="5486400" cy="4480560"/>
          </a:xfrm>
          <a:prstGeom prst="roundRect">
            <a:avLst>
              <a:gd name="adj" fmla="val 2449"/>
            </a:avLst>
          </a:prstGeom>
          <a:solidFill>
            <a:srgbClr val="EEF0F7"/>
          </a:solidFill>
          <a:ln w="12700">
            <a:solidFill>
              <a:srgbClr val="EEF0F7"/>
            </a:solidFill>
            <a:prstDash val="solid"/>
          </a:ln>
        </p:spPr>
      </p:sp>
      <p:sp>
        <p:nvSpPr>
          <p:cNvPr id="5" name="Text 3"/>
          <p:cNvSpPr txBox="1"/>
          <p:nvPr/>
        </p:nvSpPr>
        <p:spPr>
          <a:xfrm>
            <a:off x="640080" y="1664208"/>
            <a:ext cx="5120640" cy="411480"/>
          </a:xfrm>
          <a:prstGeom prst="rect">
            <a:avLst/>
          </a:prstGeom>
          <a:noFill/>
          <a:ln/>
        </p:spPr>
        <p:txBody>
          <a:bodyPr wrap="square" lIns="0" tIns="0" rIns="0" bIns="0" rtlCol="0" anchor="ctr"/>
          <a:lstStyle/>
          <a:p>
            <a:pPr indent="0" marL="0">
              <a:buNone/>
            </a:pPr>
            <a:r>
              <a:rPr lang="en-US" sz="1800" b="1" dirty="0">
                <a:solidFill>
                  <a:srgbClr val="1B1F3B"/>
                </a:solidFill>
              </a:rPr>
              <a:t>Problem and objectives</a:t>
            </a:r>
            <a:endParaRPr lang="en-US" sz="1800" dirty="0"/>
          </a:p>
        </p:txBody>
      </p:sp>
      <p:sp>
        <p:nvSpPr>
          <p:cNvPr id="6" name="Text 4"/>
          <p:cNvSpPr txBox="1"/>
          <p:nvPr/>
        </p:nvSpPr>
        <p:spPr>
          <a:xfrm>
            <a:off x="640080" y="2103120"/>
            <a:ext cx="5120640" cy="3840480"/>
          </a:xfrm>
          <a:prstGeom prst="rect">
            <a:avLst/>
          </a:prstGeom>
          <a:noFill/>
          <a:ln/>
        </p:spPr>
        <p:txBody>
          <a:bodyPr wrap="square" lIns="0" tIns="0" rIns="0" bIns="0" rtlCol="0" anchor="t"/>
          <a:lstStyle/>
          <a:p>
            <a:pPr indent="0" marL="0">
              <a:spcAft>
                <a:spcPts val="400"/>
              </a:spcAft>
              <a:buNone/>
            </a:pPr>
            <a:r>
              <a:rPr lang="en-US" sz="1700" dirty="0">
                <a:solidFill>
                  <a:srgbClr val="1B1F3B"/>
                </a:solidFill>
              </a:rPr>
              <a:t>Open music data is messy and its insights are locked in static charts. Objectives: clean 1M+ tracks with validated repairs, apply the course EDA methods, compare embeddings, model trends, test genre differences, mine lyrics, and serve it all in a serverless website.</a:t>
            </a:r>
            <a:endParaRPr lang="en-US" sz="1700" dirty="0"/>
          </a:p>
        </p:txBody>
      </p:sp>
      <p:sp>
        <p:nvSpPr>
          <p:cNvPr id="7" name="Shape 5"/>
          <p:cNvSpPr/>
          <p:nvPr/>
        </p:nvSpPr>
        <p:spPr>
          <a:xfrm>
            <a:off x="6217920" y="1554480"/>
            <a:ext cx="5486400" cy="4480560"/>
          </a:xfrm>
          <a:prstGeom prst="roundRect">
            <a:avLst>
              <a:gd name="adj" fmla="val 2449"/>
            </a:avLst>
          </a:prstGeom>
          <a:solidFill>
            <a:srgbClr val="EEF0F7"/>
          </a:solidFill>
          <a:ln w="12700">
            <a:solidFill>
              <a:srgbClr val="EEF0F7"/>
            </a:solidFill>
            <a:prstDash val="solid"/>
          </a:ln>
        </p:spPr>
      </p:sp>
      <p:sp>
        <p:nvSpPr>
          <p:cNvPr id="8" name="Text 6"/>
          <p:cNvSpPr txBox="1"/>
          <p:nvPr/>
        </p:nvSpPr>
        <p:spPr>
          <a:xfrm>
            <a:off x="6400800" y="1664208"/>
            <a:ext cx="5120640" cy="411480"/>
          </a:xfrm>
          <a:prstGeom prst="rect">
            <a:avLst/>
          </a:prstGeom>
          <a:noFill/>
          <a:ln/>
        </p:spPr>
        <p:txBody>
          <a:bodyPr wrap="square" lIns="0" tIns="0" rIns="0" bIns="0" rtlCol="0" anchor="ctr"/>
          <a:lstStyle/>
          <a:p>
            <a:pPr indent="0" marL="0">
              <a:buNone/>
            </a:pPr>
            <a:r>
              <a:rPr lang="en-US" sz="1800" b="1" dirty="0">
                <a:solidFill>
                  <a:srgbClr val="1B1F3B"/>
                </a:solidFill>
              </a:rPr>
              <a:t>What changed since Review-2</a:t>
            </a:r>
            <a:endParaRPr lang="en-US" sz="1800" dirty="0"/>
          </a:p>
        </p:txBody>
      </p:sp>
      <p:sp>
        <p:nvSpPr>
          <p:cNvPr id="9" name="Text 7"/>
          <p:cNvSpPr txBox="1"/>
          <p:nvPr/>
        </p:nvSpPr>
        <p:spPr>
          <a:xfrm>
            <a:off x="6400800" y="2103120"/>
            <a:ext cx="5120640" cy="3840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B1F3B"/>
                </a:solidFill>
              </a:rPr>
              <a:t>Lyrics mining on 161,401 English songs</a:t>
            </a:r>
            <a:endParaRPr lang="en-US" sz="1600" dirty="0"/>
          </a:p>
          <a:p>
            <a:pPr marL="228600" indent="-228600">
              <a:spcAft>
                <a:spcPts val="800"/>
              </a:spcAft>
              <a:buSzPct val="100000"/>
              <a:buChar char="•"/>
            </a:pPr>
            <a:r>
              <a:rPr lang="en-US" sz="1600" dirty="0">
                <a:solidFill>
                  <a:srgbClr val="1B1F3B"/>
                </a:solidFill>
              </a:rPr>
              <a:t>Artist network: 84,132 artists, 189 communities</a:t>
            </a:r>
            <a:endParaRPr lang="en-US" sz="1600" dirty="0"/>
          </a:p>
          <a:p>
            <a:pPr marL="228600" indent="-228600">
              <a:spcAft>
                <a:spcPts val="800"/>
              </a:spcAft>
              <a:buSzPct val="100000"/>
              <a:buChar char="•"/>
            </a:pPr>
            <a:r>
              <a:rPr lang="en-US" sz="1600" dirty="0">
                <a:solidFill>
                  <a:srgbClr val="1B1F3B"/>
                </a:solidFill>
              </a:rPr>
              <a:t>Automated EDA benchmark (YData, Sweetviz, D-Tale)</a:t>
            </a:r>
            <a:endParaRPr lang="en-US" sz="1600" dirty="0"/>
          </a:p>
          <a:p>
            <a:pPr marL="228600" indent="-228600">
              <a:spcAft>
                <a:spcPts val="800"/>
              </a:spcAft>
              <a:buSzPct val="100000"/>
              <a:buChar char="•"/>
            </a:pPr>
            <a:r>
              <a:rPr lang="en-US" sz="1600" dirty="0">
                <a:solidFill>
                  <a:srgbClr val="1B1F3B"/>
                </a:solidFill>
              </a:rPr>
              <a:t>SonicAtlas website with 11 modules</a:t>
            </a:r>
            <a:endParaRPr lang="en-US" sz="1600" dirty="0"/>
          </a:p>
          <a:p>
            <a:pPr marL="228600" indent="-228600">
              <a:spcAft>
                <a:spcPts val="800"/>
              </a:spcAft>
              <a:buSzPct val="100000"/>
              <a:buChar char="•"/>
            </a:pPr>
            <a:r>
              <a:rPr lang="en-US" sz="1600" dirty="0">
                <a:solidFill>
                  <a:srgbClr val="1B1F3B"/>
                </a:solidFill>
              </a:rPr>
              <a:t>Tests, Lighthouse audit, IEEE paper, self-check</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FINAL ARCHITECTURE AND MODULES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Heavy maths runs offline; querying runs in the user's browser</a:t>
            </a:r>
            <a:endParaRPr lang="en-US" sz="3000" dirty="0"/>
          </a:p>
        </p:txBody>
      </p:sp>
      <p:pic>
        <p:nvPicPr>
          <p:cNvPr id="4" name="Image 0" descr="fig_00_01_system_architecture.png">    </p:cNvPr>
          <p:cNvPicPr>
            <a:picLocks noChangeAspect="1"/>
          </p:cNvPicPr>
          <p:nvPr/>
        </p:nvPicPr>
        <p:blipFill>
          <a:blip r:embed="rId1"/>
          <a:stretch>
            <a:fillRect/>
          </a:stretch>
        </p:blipFill>
        <p:spPr>
          <a:xfrm>
            <a:off x="1812567" y="1463040"/>
            <a:ext cx="8536386" cy="4846320"/>
          </a:xfrm>
          <a:prstGeom prst="rect">
            <a:avLst/>
          </a:prstGeom>
        </p:spPr>
      </p:pic>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TIME-SERIES AND DECADE TRENDS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Music got 7.8 dB louder and far less acoustic</a:t>
            </a:r>
            <a:endParaRPr lang="en-US" sz="3000" dirty="0"/>
          </a:p>
        </p:txBody>
      </p:sp>
      <p:pic>
        <p:nvPicPr>
          <p:cNvPr id="4" name="Image 0" descr="fig_06_02_yearly_trends_rolling.png">    </p:cNvPr>
          <p:cNvPicPr>
            <a:picLocks noChangeAspect="1"/>
          </p:cNvPicPr>
          <p:nvPr/>
        </p:nvPicPr>
        <p:blipFill>
          <a:blip r:embed="rId1"/>
          <a:stretch>
            <a:fillRect/>
          </a:stretch>
        </p:blipFill>
        <p:spPr>
          <a:xfrm>
            <a:off x="457200" y="1417320"/>
            <a:ext cx="6949440" cy="3372065"/>
          </a:xfrm>
          <a:prstGeom prst="rect">
            <a:avLst/>
          </a:prstGeom>
        </p:spPr>
      </p:pic>
      <p:pic>
        <p:nvPicPr>
          <p:cNvPr id="5" name="Image 1" descr="fig_06_03_change_points.png">    </p:cNvPr>
          <p:cNvPicPr>
            <a:picLocks noChangeAspect="1"/>
          </p:cNvPicPr>
          <p:nvPr/>
        </p:nvPicPr>
        <p:blipFill>
          <a:blip r:embed="rId2"/>
          <a:stretch>
            <a:fillRect/>
          </a:stretch>
        </p:blipFill>
        <p:spPr>
          <a:xfrm>
            <a:off x="7589520" y="1417320"/>
            <a:ext cx="4114800" cy="1268951"/>
          </a:xfrm>
          <a:prstGeom prst="rect">
            <a:avLst/>
          </a:prstGeom>
        </p:spPr>
      </p:pic>
      <p:sp>
        <p:nvSpPr>
          <p:cNvPr id="6" name="Text 2"/>
          <p:cNvSpPr txBox="1"/>
          <p:nvPr/>
        </p:nvSpPr>
        <p:spPr>
          <a:xfrm>
            <a:off x="7589520" y="3657600"/>
            <a:ext cx="4114800" cy="25603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B1F3B"/>
                </a:solidFill>
              </a:rPr>
              <a:t>Loudness -17.4 -&gt; -9.7 dB (1959-2020)</a:t>
            </a:r>
            <a:endParaRPr lang="en-US" sz="1500" dirty="0"/>
          </a:p>
          <a:p>
            <a:pPr marL="228600" indent="-228600">
              <a:spcAft>
                <a:spcPts val="800"/>
              </a:spcAft>
              <a:buSzPct val="100000"/>
              <a:buChar char="•"/>
            </a:pPr>
            <a:r>
              <a:rPr lang="en-US" sz="1500" dirty="0">
                <a:solidFill>
                  <a:srgbClr val="1B1F3B"/>
                </a:solidFill>
              </a:rPr>
              <a:t>Acousticness 0.86 -&gt; 0.31</a:t>
            </a:r>
            <a:endParaRPr lang="en-US" sz="1500" dirty="0"/>
          </a:p>
          <a:p>
            <a:pPr marL="228600" indent="-228600">
              <a:spcAft>
                <a:spcPts val="800"/>
              </a:spcAft>
              <a:buSzPct val="100000"/>
              <a:buChar char="•"/>
            </a:pPr>
            <a:r>
              <a:rPr lang="en-US" sz="1500" dirty="0">
                <a:solidFill>
                  <a:srgbClr val="1B1F3B"/>
                </a:solidFill>
              </a:rPr>
              <a:t>Loudness change points: 1989, 1999 ("loudness war")</a:t>
            </a:r>
            <a:endParaRPr lang="en-US" sz="1500" dirty="0"/>
          </a:p>
          <a:p>
            <a:pPr marL="228600" indent="-228600">
              <a:spcAft>
                <a:spcPts val="800"/>
              </a:spcAft>
              <a:buSzPct val="100000"/>
              <a:buChar char="•"/>
            </a:pPr>
            <a:r>
              <a:rPr lang="en-US" sz="1500" dirty="0">
                <a:solidFill>
                  <a:srgbClr val="1B1F3B"/>
                </a:solidFill>
              </a:rPr>
              <a:t>ARIMA MAE 0.58 dB vs naive 0.59 dB</a:t>
            </a:r>
            <a:endParaRPr lang="en-US" sz="15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CLUSTERING AND ACOUSTIC MAP</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Six named acoustic clusters, but genres overlap heavily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400800" cy="914400"/>
        </p:xfrm>
        <a:graphic>
          <a:graphicData uri="http://schemas.openxmlformats.org/drawingml/2006/table">
            <a:tbl>
              <a:tblPr/>
              <a:tblGrid>
                <a:gridCol w="2651760"/>
                <a:gridCol w="914400"/>
                <a:gridCol w="28346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Cluster</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Share</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Top genres</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Live recordings</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pagode, sertanejo, samba</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Upbeat danceable pop</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28.5%</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salsa, dance, forro</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Soft acoustic songs</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20.5%</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romance, tango, honky-tonk</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Loud &amp; intense (rock/metal)</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21.9%</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black-metal, grindcore, death-metal</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Quiet acoustic instrumentals</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18.7%</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new-age, ambient, sleep</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Spoken word &amp; rap</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comedy, j-dance, dancehall</a:t>
                      </a:r>
                      <a:endParaRPr lang="en-US" sz="14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bl>
          </a:graphicData>
        </a:graphic>
      </p:graphicFrame>
      <p:pic>
        <p:nvPicPr>
          <p:cNvPr id="5" name="Image 0" descr="fig_05_05_clusters_on_tsne.png">    </p:cNvPr>
          <p:cNvPicPr>
            <a:picLocks noChangeAspect="1"/>
          </p:cNvPicPr>
          <p:nvPr/>
        </p:nvPicPr>
        <p:blipFill>
          <a:blip r:embed="rId1"/>
          <a:stretch>
            <a:fillRect/>
          </a:stretch>
        </p:blipFill>
        <p:spPr>
          <a:xfrm>
            <a:off x="7132320" y="1463040"/>
            <a:ext cx="4572000" cy="4039028"/>
          </a:xfrm>
          <a:prstGeom prst="rect">
            <a:avLst/>
          </a:prstGeom>
        </p:spPr>
      </p:pic>
      <p:sp>
        <p:nvSpPr>
          <p:cNvPr id="6" name="Text 2"/>
          <p:cNvSpPr txBox="1"/>
          <p:nvPr/>
        </p:nvSpPr>
        <p:spPr>
          <a:xfrm>
            <a:off x="457200" y="5577840"/>
            <a:ext cx="6400800" cy="731520"/>
          </a:xfrm>
          <a:prstGeom prst="rect">
            <a:avLst/>
          </a:prstGeom>
          <a:noFill/>
          <a:ln/>
        </p:spPr>
        <p:txBody>
          <a:bodyPr wrap="square" lIns="0" tIns="0" rIns="0" bIns="0" rtlCol="0" anchor="ctr"/>
          <a:lstStyle/>
          <a:p>
            <a:pPr indent="0" marL="0">
              <a:buNone/>
            </a:pPr>
            <a:r>
              <a:rPr lang="en-US" sz="1500" dirty="0">
                <a:solidFill>
                  <a:srgbClr val="5B6178"/>
                </a:solidFill>
              </a:rPr>
              <a:t>KMeans k = 6 on 7 PCs; HDBSCAN marks 65% as noise; genre silhouette is negative in every embedding.</a:t>
            </a:r>
            <a:endParaRPr lang="en-US" sz="15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LYRICS TEXT EDA AND HYPOTHESIS TESTS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Genre shapes danceability; lyric mood barely follows the music</a:t>
            </a:r>
            <a:endParaRPr lang="en-US" sz="3000" dirty="0"/>
          </a:p>
        </p:txBody>
      </p:sp>
      <p:pic>
        <p:nvPicPr>
          <p:cNvPr id="4" name="Image 0" descr="fig_07_01_sentiment_vs_valence.png">    </p:cNvPr>
          <p:cNvPicPr>
            <a:picLocks noChangeAspect="1"/>
          </p:cNvPicPr>
          <p:nvPr/>
        </p:nvPicPr>
        <p:blipFill>
          <a:blip r:embed="rId1"/>
          <a:stretch>
            <a:fillRect/>
          </a:stretch>
        </p:blipFill>
        <p:spPr>
          <a:xfrm>
            <a:off x="457200" y="1463040"/>
            <a:ext cx="5852160" cy="2053246"/>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92240" y="1554480"/>
          <a:ext cx="5212080" cy="914400"/>
        </p:xfrm>
        <a:graphic>
          <a:graphicData uri="http://schemas.openxmlformats.org/drawingml/2006/table">
            <a:tbl>
              <a:tblPr/>
              <a:tblGrid>
                <a:gridCol w="2286000"/>
                <a:gridCol w="1097280"/>
                <a:gridCol w="731520"/>
                <a:gridCol w="109728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Statistic</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Effect size</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ANOVA danceability x genre</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F = 512.1</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&lt; 0.001</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eta2 = 0.425</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Kruskal-Wallis</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H = 2061</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&lt; 0.001</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eps2 = 0.423</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Chi-square mode x genre</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539.4</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&lt; 0.001</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V = 0.333</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Chi-square mode x decade</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3089</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&lt; 0.001</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300" dirty="0">
                          <a:solidFill>
                            <a:srgbClr val="1B1F3B"/>
                          </a:solidFill>
                          <a:latin typeface="Calibri" pitchFamily="34" charset="0"/>
                          <a:ea typeface="Calibri" pitchFamily="34" charset="-122"/>
                          <a:cs typeface="Calibri" pitchFamily="34" charset="-120"/>
                        </a:rPr>
                        <a:t>V = 0.054</a:t>
                      </a:r>
                      <a:endParaRPr lang="en-US" sz="13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931920"/>
            <a:ext cx="5852160" cy="22860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B1F3B"/>
                </a:solidFill>
              </a:rPr>
              <a:t>161,401 English songs; median 243 words, 24% repeated lines</a:t>
            </a:r>
            <a:endParaRPr lang="en-US" sz="1500" dirty="0"/>
          </a:p>
          <a:p>
            <a:pPr marL="228600" indent="-228600">
              <a:spcAft>
                <a:spcPts val="800"/>
              </a:spcAft>
              <a:buSzPct val="100000"/>
              <a:buChar char="•"/>
            </a:pPr>
            <a:r>
              <a:rPr lang="en-US" sz="1500" dirty="0">
                <a:solidFill>
                  <a:srgbClr val="1B1F3B"/>
                </a:solidFill>
              </a:rPr>
              <a:t>VADER vs TextBlob agree on sign for 71.0% (r = 0.48)</a:t>
            </a:r>
            <a:endParaRPr lang="en-US" sz="1500" dirty="0"/>
          </a:p>
          <a:p>
            <a:pPr marL="228600" indent="-228600">
              <a:spcAft>
                <a:spcPts val="800"/>
              </a:spcAft>
              <a:buSzPct val="100000"/>
              <a:buChar char="•"/>
            </a:pPr>
            <a:r>
              <a:rPr lang="en-US" sz="1500" dirty="0">
                <a:solidFill>
                  <a:srgbClr val="1B1F3B"/>
                </a:solidFill>
              </a:rPr>
              <a:t>Lyric sentiment vs audio valence r = 0.06 (n = 1,202)</a:t>
            </a:r>
            <a:endParaRPr lang="en-US" sz="1500" dirty="0"/>
          </a:p>
          <a:p>
            <a:pPr marL="228600" indent="-228600">
              <a:spcAft>
                <a:spcPts val="800"/>
              </a:spcAft>
              <a:buSzPct val="100000"/>
              <a:buChar char="•"/>
            </a:pPr>
            <a:r>
              <a:rPr lang="en-US" sz="1500" dirty="0">
                <a:solidFill>
                  <a:srgbClr val="1B1F3B"/>
                </a:solidFill>
              </a:rPr>
              <a:t>Country most positive, rap most negative</a:t>
            </a:r>
            <a:endParaRPr lang="en-US" sz="1500" dirty="0"/>
          </a:p>
        </p:txBody>
      </p:sp>
      <p:sp>
        <p:nvSpPr>
          <p:cNvPr id="7" name="Text 3"/>
          <p:cNvSpPr txBox="1"/>
          <p:nvPr/>
        </p:nvSpPr>
        <p:spPr>
          <a:xfrm>
            <a:off x="6492240" y="3931920"/>
            <a:ext cx="5212080" cy="22860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B1F3B"/>
                </a:solidFill>
              </a:rPr>
              <a:t>Tukey HSD: 26/28 genre pairs differ</a:t>
            </a:r>
            <a:endParaRPr lang="en-US" sz="1500" dirty="0"/>
          </a:p>
          <a:p>
            <a:pPr marL="228600" indent="-228600">
              <a:spcAft>
                <a:spcPts val="800"/>
              </a:spcAft>
              <a:buSzPct val="100000"/>
              <a:buChar char="•"/>
            </a:pPr>
            <a:r>
              <a:rPr lang="en-US" sz="1500" dirty="0">
                <a:solidFill>
                  <a:srgbClr val="1B1F3B"/>
                </a:solidFill>
              </a:rPr>
              <a:t>Large n: read effect sizes, not p-values</a:t>
            </a:r>
            <a:endParaRPr lang="en-US" sz="1500" dirty="0"/>
          </a:p>
          <a:p>
            <a:pPr marL="228600" indent="-228600">
              <a:spcAft>
                <a:spcPts val="800"/>
              </a:spcAft>
              <a:buSzPct val="100000"/>
              <a:buChar char="•"/>
            </a:pPr>
            <a:r>
              <a:rPr lang="en-US" sz="1500" dirty="0">
                <a:solidFill>
                  <a:srgbClr val="1B1F3B"/>
                </a:solidFill>
              </a:rPr>
              <a:t>Top features: acousticness, loudness, energy</a:t>
            </a:r>
            <a:endParaRPr lang="en-US" sz="15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WEBSITE DEMO</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SonicAtlas runs every query inside the browser</a:t>
            </a:r>
            <a:endParaRPr lang="en-US" sz="3000" dirty="0"/>
          </a:p>
        </p:txBody>
      </p:sp>
      <p:sp>
        <p:nvSpPr>
          <p:cNvPr id="4" name="Shape 2"/>
          <p:cNvSpPr/>
          <p:nvPr/>
        </p:nvSpPr>
        <p:spPr>
          <a:xfrm>
            <a:off x="1527048" y="1435608"/>
            <a:ext cx="3346704" cy="2112264"/>
          </a:xfrm>
          <a:prstGeom prst="rect">
            <a:avLst/>
          </a:prstGeom>
          <a:solidFill>
            <a:srgbClr val="FFFFFF"/>
          </a:solidFill>
          <a:ln w="9525">
            <a:solidFill>
              <a:srgbClr val="C9CDDB"/>
            </a:solidFill>
            <a:prstDash val="solid"/>
          </a:ln>
        </p:spPr>
      </p:sp>
      <p:pic>
        <p:nvPicPr>
          <p:cNvPr id="5" name="Image 0" descr="web_02b_query_studio_sql_light.png">    </p:cNvPr>
          <p:cNvPicPr>
            <a:picLocks noChangeAspect="1"/>
          </p:cNvPicPr>
          <p:nvPr/>
        </p:nvPicPr>
        <p:blipFill>
          <a:blip r:embed="rId1"/>
          <a:stretch>
            <a:fillRect/>
          </a:stretch>
        </p:blipFill>
        <p:spPr>
          <a:xfrm>
            <a:off x="1554480" y="1463040"/>
            <a:ext cx="3291840" cy="2057400"/>
          </a:xfrm>
          <a:prstGeom prst="rect">
            <a:avLst/>
          </a:prstGeom>
        </p:spPr>
      </p:pic>
      <p:sp>
        <p:nvSpPr>
          <p:cNvPr id="6" name="Text 3"/>
          <p:cNvSpPr txBox="1"/>
          <p:nvPr/>
        </p:nvSpPr>
        <p:spPr>
          <a:xfrm>
            <a:off x="457200" y="3547872"/>
            <a:ext cx="5486400" cy="274320"/>
          </a:xfrm>
          <a:prstGeom prst="rect">
            <a:avLst/>
          </a:prstGeom>
          <a:noFill/>
          <a:ln/>
        </p:spPr>
        <p:txBody>
          <a:bodyPr wrap="square" lIns="0" tIns="0" rIns="0" bIns="0" rtlCol="0" anchor="ctr"/>
          <a:lstStyle/>
          <a:p>
            <a:pPr algn="ctr" indent="0" marL="0">
              <a:buNone/>
            </a:pPr>
            <a:r>
              <a:rPr lang="en-US" sz="1400" b="1" dirty="0">
                <a:solidFill>
                  <a:srgbClr val="5B6178"/>
                </a:solidFill>
              </a:rPr>
              <a:t>Query Studio</a:t>
            </a:r>
            <a:endParaRPr lang="en-US" sz="1400" dirty="0"/>
          </a:p>
        </p:txBody>
      </p:sp>
      <p:sp>
        <p:nvSpPr>
          <p:cNvPr id="7" name="Shape 4"/>
          <p:cNvSpPr/>
          <p:nvPr/>
        </p:nvSpPr>
        <p:spPr>
          <a:xfrm>
            <a:off x="7242048" y="1435608"/>
            <a:ext cx="3346704" cy="2112264"/>
          </a:xfrm>
          <a:prstGeom prst="rect">
            <a:avLst/>
          </a:prstGeom>
          <a:solidFill>
            <a:srgbClr val="FFFFFF"/>
          </a:solidFill>
          <a:ln w="9525">
            <a:solidFill>
              <a:srgbClr val="C9CDDB"/>
            </a:solidFill>
            <a:prstDash val="solid"/>
          </a:ln>
        </p:spPr>
      </p:sp>
      <p:pic>
        <p:nvPicPr>
          <p:cNvPr id="8" name="Image 1" descr="web_03_acoustic_map_light.png">    </p:cNvPr>
          <p:cNvPicPr>
            <a:picLocks noChangeAspect="1"/>
          </p:cNvPicPr>
          <p:nvPr/>
        </p:nvPicPr>
        <p:blipFill>
          <a:blip r:embed="rId2"/>
          <a:stretch>
            <a:fillRect/>
          </a:stretch>
        </p:blipFill>
        <p:spPr>
          <a:xfrm>
            <a:off x="7269480" y="1463040"/>
            <a:ext cx="3291840" cy="2057400"/>
          </a:xfrm>
          <a:prstGeom prst="rect">
            <a:avLst/>
          </a:prstGeom>
        </p:spPr>
      </p:pic>
      <p:sp>
        <p:nvSpPr>
          <p:cNvPr id="9" name="Text 5"/>
          <p:cNvSpPr txBox="1"/>
          <p:nvPr/>
        </p:nvSpPr>
        <p:spPr>
          <a:xfrm>
            <a:off x="6172200" y="3547872"/>
            <a:ext cx="5486400" cy="274320"/>
          </a:xfrm>
          <a:prstGeom prst="rect">
            <a:avLst/>
          </a:prstGeom>
          <a:noFill/>
          <a:ln/>
        </p:spPr>
        <p:txBody>
          <a:bodyPr wrap="square" lIns="0" tIns="0" rIns="0" bIns="0" rtlCol="0" anchor="ctr"/>
          <a:lstStyle/>
          <a:p>
            <a:pPr algn="ctr" indent="0" marL="0">
              <a:buNone/>
            </a:pPr>
            <a:r>
              <a:rPr lang="en-US" sz="1400" b="1" dirty="0">
                <a:solidFill>
                  <a:srgbClr val="5B6178"/>
                </a:solidFill>
              </a:rPr>
              <a:t>Acoustic Map</a:t>
            </a:r>
            <a:endParaRPr lang="en-US" sz="1400" dirty="0"/>
          </a:p>
        </p:txBody>
      </p:sp>
      <p:sp>
        <p:nvSpPr>
          <p:cNvPr id="10" name="Shape 6"/>
          <p:cNvSpPr/>
          <p:nvPr/>
        </p:nvSpPr>
        <p:spPr>
          <a:xfrm>
            <a:off x="1527048" y="3904488"/>
            <a:ext cx="3346704" cy="2112264"/>
          </a:xfrm>
          <a:prstGeom prst="rect">
            <a:avLst/>
          </a:prstGeom>
          <a:solidFill>
            <a:srgbClr val="FFFFFF"/>
          </a:solidFill>
          <a:ln w="9525">
            <a:solidFill>
              <a:srgbClr val="C9CDDB"/>
            </a:solidFill>
            <a:prstDash val="solid"/>
          </a:ln>
        </p:spPr>
      </p:sp>
      <p:pic>
        <p:nvPicPr>
          <p:cNvPr id="11" name="Image 2" descr="web_05_compare_light.png">    </p:cNvPr>
          <p:cNvPicPr>
            <a:picLocks noChangeAspect="1"/>
          </p:cNvPicPr>
          <p:nvPr/>
        </p:nvPicPr>
        <p:blipFill>
          <a:blip r:embed="rId3"/>
          <a:stretch>
            <a:fillRect/>
          </a:stretch>
        </p:blipFill>
        <p:spPr>
          <a:xfrm>
            <a:off x="1554480" y="3931920"/>
            <a:ext cx="3291840" cy="2057400"/>
          </a:xfrm>
          <a:prstGeom prst="rect">
            <a:avLst/>
          </a:prstGeom>
        </p:spPr>
      </p:pic>
      <p:sp>
        <p:nvSpPr>
          <p:cNvPr id="12" name="Text 7"/>
          <p:cNvSpPr txBox="1"/>
          <p:nvPr/>
        </p:nvSpPr>
        <p:spPr>
          <a:xfrm>
            <a:off x="457200" y="6016752"/>
            <a:ext cx="5486400" cy="274320"/>
          </a:xfrm>
          <a:prstGeom prst="rect">
            <a:avLst/>
          </a:prstGeom>
          <a:noFill/>
          <a:ln/>
        </p:spPr>
        <p:txBody>
          <a:bodyPr wrap="square" lIns="0" tIns="0" rIns="0" bIns="0" rtlCol="0" anchor="ctr"/>
          <a:lstStyle/>
          <a:p>
            <a:pPr algn="ctr" indent="0" marL="0">
              <a:buNone/>
            </a:pPr>
            <a:r>
              <a:rPr lang="en-US" sz="1400" b="1" dirty="0">
                <a:solidFill>
                  <a:srgbClr val="5B6178"/>
                </a:solidFill>
              </a:rPr>
              <a:t>Compare</a:t>
            </a:r>
            <a:endParaRPr lang="en-US" sz="1400" dirty="0"/>
          </a:p>
        </p:txBody>
      </p:sp>
      <p:sp>
        <p:nvSpPr>
          <p:cNvPr id="13" name="Shape 8"/>
          <p:cNvSpPr/>
          <p:nvPr/>
        </p:nvSpPr>
        <p:spPr>
          <a:xfrm>
            <a:off x="7242048" y="3904488"/>
            <a:ext cx="3346704" cy="2112264"/>
          </a:xfrm>
          <a:prstGeom prst="rect">
            <a:avLst/>
          </a:prstGeom>
          <a:solidFill>
            <a:srgbClr val="FFFFFF"/>
          </a:solidFill>
          <a:ln w="9525">
            <a:solidFill>
              <a:srgbClr val="C9CDDB"/>
            </a:solidFill>
            <a:prstDash val="solid"/>
          </a:ln>
        </p:spPr>
      </p:sp>
      <p:pic>
        <p:nvPicPr>
          <p:cNvPr id="14" name="Image 3" descr="web_06_time_machine_light.png">    </p:cNvPr>
          <p:cNvPicPr>
            <a:picLocks noChangeAspect="1"/>
          </p:cNvPicPr>
          <p:nvPr/>
        </p:nvPicPr>
        <p:blipFill>
          <a:blip r:embed="rId4"/>
          <a:stretch>
            <a:fillRect/>
          </a:stretch>
        </p:blipFill>
        <p:spPr>
          <a:xfrm>
            <a:off x="7269480" y="3931920"/>
            <a:ext cx="3291840" cy="2057400"/>
          </a:xfrm>
          <a:prstGeom prst="rect">
            <a:avLst/>
          </a:prstGeom>
        </p:spPr>
      </p:pic>
      <p:sp>
        <p:nvSpPr>
          <p:cNvPr id="15" name="Text 9"/>
          <p:cNvSpPr txBox="1"/>
          <p:nvPr/>
        </p:nvSpPr>
        <p:spPr>
          <a:xfrm>
            <a:off x="6172200" y="6016752"/>
            <a:ext cx="5486400" cy="274320"/>
          </a:xfrm>
          <a:prstGeom prst="rect">
            <a:avLst/>
          </a:prstGeom>
          <a:noFill/>
          <a:ln/>
        </p:spPr>
        <p:txBody>
          <a:bodyPr wrap="square" lIns="0" tIns="0" rIns="0" bIns="0" rtlCol="0" anchor="ctr"/>
          <a:lstStyle/>
          <a:p>
            <a:pPr algn="ctr" indent="0" marL="0">
              <a:buNone/>
            </a:pPr>
            <a:r>
              <a:rPr lang="en-US" sz="1400" b="1" dirty="0">
                <a:solidFill>
                  <a:srgbClr val="5B6178"/>
                </a:solidFill>
              </a:rPr>
              <a:t>Time Machine</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EVALUATION</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Every component is measured, not just demonstrated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5120640" cy="914400"/>
        </p:xfrm>
        <a:graphic>
          <a:graphicData uri="http://schemas.openxmlformats.org/drawingml/2006/table">
            <a:tbl>
              <a:tblPr/>
              <a:tblGrid>
                <a:gridCol w="1280160"/>
                <a:gridCol w="1188720"/>
                <a:gridCol w="1280160"/>
                <a:gridCol w="137160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Time (s)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Trust.</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Silh.</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PCA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0.779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-0.085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t-SNE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49.8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0.976</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-0.061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LLE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42.4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0.671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-0.140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UMAP</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32.2</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0.947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-0.055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bl>
          </a:graphicData>
        </a:graphic>
      </p:graphicFrame>
      <p:sp>
        <p:nvSpPr>
          <p:cNvPr id="5" name="Shape 2"/>
          <p:cNvSpPr/>
          <p:nvPr/>
        </p:nvSpPr>
        <p:spPr>
          <a:xfrm>
            <a:off x="5943600" y="1554480"/>
            <a:ext cx="2743200" cy="1417320"/>
          </a:xfrm>
          <a:prstGeom prst="roundRect">
            <a:avLst>
              <a:gd name="adj" fmla="val 7742"/>
            </a:avLst>
          </a:prstGeom>
          <a:solidFill>
            <a:srgbClr val="EEF0F7"/>
          </a:solidFill>
          <a:ln w="12700">
            <a:solidFill>
              <a:srgbClr val="EEF0F7"/>
            </a:solidFill>
            <a:prstDash val="solid"/>
          </a:ln>
        </p:spPr>
      </p:sp>
      <p:sp>
        <p:nvSpPr>
          <p:cNvPr id="6" name="Text 3"/>
          <p:cNvSpPr txBox="1"/>
          <p:nvPr/>
        </p:nvSpPr>
        <p:spPr>
          <a:xfrm>
            <a:off x="6080760" y="1664208"/>
            <a:ext cx="2468880" cy="685800"/>
          </a:xfrm>
          <a:prstGeom prst="rect">
            <a:avLst/>
          </a:prstGeom>
          <a:noFill/>
          <a:ln/>
        </p:spPr>
        <p:txBody>
          <a:bodyPr wrap="square" lIns="0" tIns="0" rIns="0" bIns="0" rtlCol="0" anchor="ctr"/>
          <a:lstStyle/>
          <a:p>
            <a:pPr indent="0" marL="0">
              <a:buNone/>
            </a:pPr>
            <a:r>
              <a:rPr lang="en-US" sz="2400" b="1" dirty="0">
                <a:solidFill>
                  <a:srgbClr val="1B1F3B"/>
                </a:solidFill>
              </a:rPr>
              <a:t>4.7 ms</a:t>
            </a:r>
            <a:endParaRPr lang="en-US" sz="2400" dirty="0"/>
          </a:p>
        </p:txBody>
      </p:sp>
      <p:sp>
        <p:nvSpPr>
          <p:cNvPr id="7" name="Text 4"/>
          <p:cNvSpPr txBox="1"/>
          <p:nvPr/>
        </p:nvSpPr>
        <p:spPr>
          <a:xfrm>
            <a:off x="6080760" y="2331720"/>
            <a:ext cx="2468880" cy="566928"/>
          </a:xfrm>
          <a:prstGeom prst="rect">
            <a:avLst/>
          </a:prstGeom>
          <a:noFill/>
          <a:ln/>
        </p:spPr>
        <p:txBody>
          <a:bodyPr wrap="square" lIns="0" tIns="0" rIns="0" bIns="0" rtlCol="0" anchor="t"/>
          <a:lstStyle/>
          <a:p>
            <a:pPr indent="0" marL="0">
              <a:buNone/>
            </a:pPr>
            <a:r>
              <a:rPr lang="en-US" sz="1400" dirty="0">
                <a:solidFill>
                  <a:srgbClr val="5B6178"/>
                </a:solidFill>
              </a:rPr>
              <a:t>median lite-data query time</a:t>
            </a:r>
            <a:endParaRPr lang="en-US" sz="1400" dirty="0"/>
          </a:p>
        </p:txBody>
      </p:sp>
      <p:sp>
        <p:nvSpPr>
          <p:cNvPr id="8" name="Shape 5"/>
          <p:cNvSpPr/>
          <p:nvPr/>
        </p:nvSpPr>
        <p:spPr>
          <a:xfrm>
            <a:off x="8869680" y="1554480"/>
            <a:ext cx="2743200" cy="1417320"/>
          </a:xfrm>
          <a:prstGeom prst="roundRect">
            <a:avLst>
              <a:gd name="adj" fmla="val 7742"/>
            </a:avLst>
          </a:prstGeom>
          <a:solidFill>
            <a:srgbClr val="EEF0F7"/>
          </a:solidFill>
          <a:ln w="12700">
            <a:solidFill>
              <a:srgbClr val="EEF0F7"/>
            </a:solidFill>
            <a:prstDash val="solid"/>
          </a:ln>
        </p:spPr>
      </p:sp>
      <p:sp>
        <p:nvSpPr>
          <p:cNvPr id="9" name="Text 6"/>
          <p:cNvSpPr txBox="1"/>
          <p:nvPr/>
        </p:nvSpPr>
        <p:spPr>
          <a:xfrm>
            <a:off x="9006840" y="1664208"/>
            <a:ext cx="2468880" cy="685800"/>
          </a:xfrm>
          <a:prstGeom prst="rect">
            <a:avLst/>
          </a:prstGeom>
          <a:noFill/>
          <a:ln/>
        </p:spPr>
        <p:txBody>
          <a:bodyPr wrap="square" lIns="0" tIns="0" rIns="0" bIns="0" rtlCol="0" anchor="ctr"/>
          <a:lstStyle/>
          <a:p>
            <a:pPr indent="0" marL="0">
              <a:buNone/>
            </a:pPr>
            <a:r>
              <a:rPr lang="en-US" sz="2400" b="1" dirty="0">
                <a:solidFill>
                  <a:srgbClr val="1B1F3B"/>
                </a:solidFill>
              </a:rPr>
              <a:t>7/7</a:t>
            </a:r>
            <a:endParaRPr lang="en-US" sz="2400" dirty="0"/>
          </a:p>
        </p:txBody>
      </p:sp>
      <p:sp>
        <p:nvSpPr>
          <p:cNvPr id="10" name="Text 7"/>
          <p:cNvSpPr txBox="1"/>
          <p:nvPr/>
        </p:nvSpPr>
        <p:spPr>
          <a:xfrm>
            <a:off x="9006840" y="2331720"/>
            <a:ext cx="2468880" cy="566928"/>
          </a:xfrm>
          <a:prstGeom prst="rect">
            <a:avLst/>
          </a:prstGeom>
          <a:noFill/>
          <a:ln/>
        </p:spPr>
        <p:txBody>
          <a:bodyPr wrap="square" lIns="0" tIns="0" rIns="0" bIns="0" rtlCol="0" anchor="t"/>
          <a:lstStyle/>
          <a:p>
            <a:pPr indent="0" marL="0">
              <a:buNone/>
            </a:pPr>
            <a:r>
              <a:rPr lang="en-US" sz="1400" dirty="0">
                <a:solidFill>
                  <a:srgbClr val="5B6178"/>
                </a:solidFill>
              </a:rPr>
              <a:t>Python unit tests passed</a:t>
            </a:r>
            <a:endParaRPr lang="en-US" sz="1400" dirty="0"/>
          </a:p>
        </p:txBody>
      </p:sp>
      <p:sp>
        <p:nvSpPr>
          <p:cNvPr id="11" name="Shape 8"/>
          <p:cNvSpPr/>
          <p:nvPr/>
        </p:nvSpPr>
        <p:spPr>
          <a:xfrm>
            <a:off x="5943600" y="3154680"/>
            <a:ext cx="2743200" cy="1417320"/>
          </a:xfrm>
          <a:prstGeom prst="roundRect">
            <a:avLst>
              <a:gd name="adj" fmla="val 7742"/>
            </a:avLst>
          </a:prstGeom>
          <a:solidFill>
            <a:srgbClr val="EEF0F7"/>
          </a:solidFill>
          <a:ln w="12700">
            <a:solidFill>
              <a:srgbClr val="EEF0F7"/>
            </a:solidFill>
            <a:prstDash val="solid"/>
          </a:ln>
        </p:spPr>
      </p:sp>
      <p:sp>
        <p:nvSpPr>
          <p:cNvPr id="12" name="Text 9"/>
          <p:cNvSpPr txBox="1"/>
          <p:nvPr/>
        </p:nvSpPr>
        <p:spPr>
          <a:xfrm>
            <a:off x="6080760" y="3264408"/>
            <a:ext cx="2468880" cy="685800"/>
          </a:xfrm>
          <a:prstGeom prst="rect">
            <a:avLst/>
          </a:prstGeom>
          <a:noFill/>
          <a:ln/>
        </p:spPr>
        <p:txBody>
          <a:bodyPr wrap="square" lIns="0" tIns="0" rIns="0" bIns="0" rtlCol="0" anchor="ctr"/>
          <a:lstStyle/>
          <a:p>
            <a:pPr indent="0" marL="0">
              <a:buNone/>
            </a:pPr>
            <a:r>
              <a:rPr lang="en-US" sz="2400" b="1" dirty="0">
                <a:solidFill>
                  <a:srgbClr val="1B1F3B"/>
                </a:solidFill>
              </a:rPr>
              <a:t>65/65</a:t>
            </a:r>
            <a:endParaRPr lang="en-US" sz="2400" dirty="0"/>
          </a:p>
        </p:txBody>
      </p:sp>
      <p:sp>
        <p:nvSpPr>
          <p:cNvPr id="13" name="Text 10"/>
          <p:cNvSpPr txBox="1"/>
          <p:nvPr/>
        </p:nvSpPr>
        <p:spPr>
          <a:xfrm>
            <a:off x="6080760" y="3931920"/>
            <a:ext cx="2468880" cy="566928"/>
          </a:xfrm>
          <a:prstGeom prst="rect">
            <a:avLst/>
          </a:prstGeom>
          <a:noFill/>
          <a:ln/>
        </p:spPr>
        <p:txBody>
          <a:bodyPr wrap="square" lIns="0" tIns="0" rIns="0" bIns="0" rtlCol="0" anchor="t"/>
          <a:lstStyle/>
          <a:p>
            <a:pPr indent="0" marL="0">
              <a:buNone/>
            </a:pPr>
            <a:r>
              <a:rPr lang="en-US" sz="1400" dirty="0">
                <a:solidFill>
                  <a:srgbClr val="5B6178"/>
                </a:solidFill>
              </a:rPr>
              <a:t>web unit tests passed</a:t>
            </a:r>
            <a:endParaRPr lang="en-US" sz="1400" dirty="0"/>
          </a:p>
        </p:txBody>
      </p:sp>
      <p:sp>
        <p:nvSpPr>
          <p:cNvPr id="14" name="Shape 11"/>
          <p:cNvSpPr/>
          <p:nvPr/>
        </p:nvSpPr>
        <p:spPr>
          <a:xfrm>
            <a:off x="8869680" y="3154680"/>
            <a:ext cx="2743200" cy="1417320"/>
          </a:xfrm>
          <a:prstGeom prst="roundRect">
            <a:avLst>
              <a:gd name="adj" fmla="val 7742"/>
            </a:avLst>
          </a:prstGeom>
          <a:solidFill>
            <a:srgbClr val="EEF0F7"/>
          </a:solidFill>
          <a:ln w="12700">
            <a:solidFill>
              <a:srgbClr val="EEF0F7"/>
            </a:solidFill>
            <a:prstDash val="solid"/>
          </a:ln>
        </p:spPr>
      </p:sp>
      <p:sp>
        <p:nvSpPr>
          <p:cNvPr id="15" name="Text 12"/>
          <p:cNvSpPr txBox="1"/>
          <p:nvPr/>
        </p:nvSpPr>
        <p:spPr>
          <a:xfrm>
            <a:off x="9006840" y="3264408"/>
            <a:ext cx="2468880" cy="685800"/>
          </a:xfrm>
          <a:prstGeom prst="rect">
            <a:avLst/>
          </a:prstGeom>
          <a:noFill/>
          <a:ln/>
        </p:spPr>
        <p:txBody>
          <a:bodyPr wrap="square" lIns="0" tIns="0" rIns="0" bIns="0" rtlCol="0" anchor="ctr"/>
          <a:lstStyle/>
          <a:p>
            <a:pPr indent="0" marL="0">
              <a:buNone/>
            </a:pPr>
            <a:r>
              <a:rPr lang="en-US" sz="2400" b="1" dirty="0">
                <a:solidFill>
                  <a:srgbClr val="1B1F3B"/>
                </a:solidFill>
              </a:rPr>
              <a:t>8/8</a:t>
            </a:r>
            <a:endParaRPr lang="en-US" sz="2400" dirty="0"/>
          </a:p>
        </p:txBody>
      </p:sp>
      <p:sp>
        <p:nvSpPr>
          <p:cNvPr id="16" name="Text 13"/>
          <p:cNvSpPr txBox="1"/>
          <p:nvPr/>
        </p:nvSpPr>
        <p:spPr>
          <a:xfrm>
            <a:off x="9006840" y="3931920"/>
            <a:ext cx="2468880" cy="566928"/>
          </a:xfrm>
          <a:prstGeom prst="rect">
            <a:avLst/>
          </a:prstGeom>
          <a:noFill/>
          <a:ln/>
        </p:spPr>
        <p:txBody>
          <a:bodyPr wrap="square" lIns="0" tIns="0" rIns="0" bIns="0" rtlCol="0" anchor="t"/>
          <a:lstStyle/>
          <a:p>
            <a:pPr indent="0" marL="0">
              <a:buNone/>
            </a:pPr>
            <a:r>
              <a:rPr lang="en-US" sz="1400" dirty="0">
                <a:solidFill>
                  <a:srgbClr val="5B6178"/>
                </a:solidFill>
              </a:rPr>
              <a:t>Playwright end-to-end tests</a:t>
            </a:r>
            <a:endParaRPr lang="en-US" sz="1400" dirty="0"/>
          </a:p>
        </p:txBody>
      </p:sp>
      <p:sp>
        <p:nvSpPr>
          <p:cNvPr id="17" name="Shape 14"/>
          <p:cNvSpPr/>
          <p:nvPr/>
        </p:nvSpPr>
        <p:spPr>
          <a:xfrm>
            <a:off x="5943600" y="4754880"/>
            <a:ext cx="2743200" cy="1417320"/>
          </a:xfrm>
          <a:prstGeom prst="roundRect">
            <a:avLst>
              <a:gd name="adj" fmla="val 7742"/>
            </a:avLst>
          </a:prstGeom>
          <a:solidFill>
            <a:srgbClr val="EEF0F7"/>
          </a:solidFill>
          <a:ln w="12700">
            <a:solidFill>
              <a:srgbClr val="EEF0F7"/>
            </a:solidFill>
            <a:prstDash val="solid"/>
          </a:ln>
        </p:spPr>
      </p:sp>
      <p:sp>
        <p:nvSpPr>
          <p:cNvPr id="18" name="Text 15"/>
          <p:cNvSpPr txBox="1"/>
          <p:nvPr/>
        </p:nvSpPr>
        <p:spPr>
          <a:xfrm>
            <a:off x="6080760" y="4864608"/>
            <a:ext cx="2468880" cy="685800"/>
          </a:xfrm>
          <a:prstGeom prst="rect">
            <a:avLst/>
          </a:prstGeom>
          <a:noFill/>
          <a:ln/>
        </p:spPr>
        <p:txBody>
          <a:bodyPr wrap="square" lIns="0" tIns="0" rIns="0" bIns="0" rtlCol="0" anchor="ctr"/>
          <a:lstStyle/>
          <a:p>
            <a:pPr indent="0" marL="0">
              <a:buNone/>
            </a:pPr>
            <a:r>
              <a:rPr lang="en-US" sz="2400" b="1" dirty="0">
                <a:solidFill>
                  <a:srgbClr val="1B1F3B"/>
                </a:solidFill>
              </a:rPr>
              <a:t>98-100</a:t>
            </a:r>
            <a:endParaRPr lang="en-US" sz="2400" dirty="0"/>
          </a:p>
        </p:txBody>
      </p:sp>
      <p:sp>
        <p:nvSpPr>
          <p:cNvPr id="19" name="Text 16"/>
          <p:cNvSpPr txBox="1"/>
          <p:nvPr/>
        </p:nvSpPr>
        <p:spPr>
          <a:xfrm>
            <a:off x="6080760" y="5532120"/>
            <a:ext cx="2468880" cy="566928"/>
          </a:xfrm>
          <a:prstGeom prst="rect">
            <a:avLst/>
          </a:prstGeom>
          <a:noFill/>
          <a:ln/>
        </p:spPr>
        <p:txBody>
          <a:bodyPr wrap="square" lIns="0" tIns="0" rIns="0" bIns="0" rtlCol="0" anchor="t"/>
          <a:lstStyle/>
          <a:p>
            <a:pPr indent="0" marL="0">
              <a:buNone/>
            </a:pPr>
            <a:r>
              <a:rPr lang="en-US" sz="1400" dirty="0">
                <a:solidFill>
                  <a:srgbClr val="5B6178"/>
                </a:solidFill>
              </a:rPr>
              <a:t>Lighthouse performance, accessibility, best practice, SEO (4 pages)</a:t>
            </a:r>
            <a:endParaRPr lang="en-US" sz="1400" dirty="0"/>
          </a:p>
        </p:txBody>
      </p:sp>
      <p:sp>
        <p:nvSpPr>
          <p:cNvPr id="20" name="Text 17"/>
          <p:cNvSpPr txBox="1"/>
          <p:nvPr/>
        </p:nvSpPr>
        <p:spPr>
          <a:xfrm>
            <a:off x="457200" y="4206240"/>
            <a:ext cx="5120640" cy="1463040"/>
          </a:xfrm>
          <a:prstGeom prst="rect">
            <a:avLst/>
          </a:prstGeom>
          <a:noFill/>
          <a:ln/>
        </p:spPr>
        <p:txBody>
          <a:bodyPr wrap="square" lIns="0" tIns="0" rIns="0" bIns="0" rtlCol="0" anchor="ctr"/>
          <a:lstStyle/>
          <a:p>
            <a:pPr indent="0" marL="0">
              <a:buNone/>
            </a:pPr>
            <a:r>
              <a:rPr lang="en-US" sz="1500" dirty="0">
                <a:solidFill>
                  <a:srgbClr val="1B1F3B"/>
                </a:solidFill>
              </a:rPr>
              <a:t>Automated EDA: YData 4.8 s, Sweetviz 6.3 s, D-Tale 4.1 s - fast overviews, but none flagged 0-BPM tempos or ran tests/embeddings.</a:t>
            </a:r>
            <a:endParaRPr lang="en-US" sz="15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OUTCOME</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An IEEE paper, an open repository and a live tool</a:t>
            </a:r>
            <a:endParaRPr lang="en-US" sz="3000" dirty="0"/>
          </a:p>
        </p:txBody>
      </p:sp>
      <p:sp>
        <p:nvSpPr>
          <p:cNvPr id="4" name="Shape 2"/>
          <p:cNvSpPr/>
          <p:nvPr/>
        </p:nvSpPr>
        <p:spPr>
          <a:xfrm>
            <a:off x="459324" y="1435608"/>
            <a:ext cx="3287591" cy="4626864"/>
          </a:xfrm>
          <a:prstGeom prst="rect">
            <a:avLst/>
          </a:prstGeom>
          <a:solidFill>
            <a:srgbClr val="FFFFFF"/>
          </a:solidFill>
          <a:ln w="9525">
            <a:solidFill>
              <a:srgbClr val="C9CDDB"/>
            </a:solidFill>
            <a:prstDash val="solid"/>
          </a:ln>
        </p:spPr>
      </p:sp>
      <p:pic>
        <p:nvPicPr>
          <p:cNvPr id="5" name="Image 0" descr="paper_page1.png">    </p:cNvPr>
          <p:cNvPicPr>
            <a:picLocks noChangeAspect="1"/>
          </p:cNvPicPr>
          <p:nvPr/>
        </p:nvPicPr>
        <p:blipFill>
          <a:blip r:embed="rId1"/>
          <a:stretch>
            <a:fillRect/>
          </a:stretch>
        </p:blipFill>
        <p:spPr>
          <a:xfrm>
            <a:off x="486756" y="1463040"/>
            <a:ext cx="3232727" cy="4572000"/>
          </a:xfrm>
          <a:prstGeom prst="rect">
            <a:avLst/>
          </a:prstGeom>
        </p:spPr>
      </p:pic>
      <p:sp>
        <p:nvSpPr>
          <p:cNvPr id="6" name="Text 3"/>
          <p:cNvSpPr txBox="1"/>
          <p:nvPr/>
        </p:nvSpPr>
        <p:spPr>
          <a:xfrm>
            <a:off x="4114800" y="1463040"/>
            <a:ext cx="7589520" cy="411480"/>
          </a:xfrm>
          <a:prstGeom prst="rect">
            <a:avLst/>
          </a:prstGeom>
          <a:noFill/>
          <a:ln/>
        </p:spPr>
        <p:txBody>
          <a:bodyPr wrap="square" lIns="0" tIns="0" rIns="0" bIns="0" rtlCol="0" anchor="ctr"/>
          <a:lstStyle/>
          <a:p>
            <a:pPr indent="0" marL="0">
              <a:buNone/>
            </a:pPr>
            <a:r>
              <a:rPr lang="en-US" sz="1800" b="1" dirty="0">
                <a:solidFill>
                  <a:srgbClr val="1B1F3B"/>
                </a:solidFill>
              </a:rPr>
              <a:t>IEEE-format paper (6 pages) - status: prepared for submission</a:t>
            </a:r>
            <a:endParaRPr lang="en-US" sz="1800" dirty="0"/>
          </a:p>
        </p:txBody>
      </p:sp>
      <p:sp>
        <p:nvSpPr>
          <p:cNvPr id="7" name="Text 4"/>
          <p:cNvSpPr txBox="1"/>
          <p:nvPr/>
        </p:nvSpPr>
        <p:spPr>
          <a:xfrm>
            <a:off x="4114800" y="1965960"/>
            <a:ext cx="7589520" cy="17373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B1F3B"/>
                </a:solidFill>
              </a:rPr>
              <a:t>IEEE CONECCT 2027: 29-31 July 2027, Bangalore, India</a:t>
            </a:r>
            <a:endParaRPr lang="en-US" sz="1500" dirty="0"/>
          </a:p>
          <a:p>
            <a:pPr marL="228600" indent="-228600">
              <a:spcAft>
                <a:spcPts val="800"/>
              </a:spcAft>
              <a:buSzPct val="100000"/>
              <a:buChar char="•"/>
            </a:pPr>
            <a:r>
              <a:rPr lang="en-US" sz="1500" dirty="0">
                <a:solidFill>
                  <a:srgbClr val="1B1F3B"/>
                </a:solidFill>
              </a:rPr>
              <a:t>ISMIR: ISMIR 2026 runs 8-12 November 2026 in Abu Dhabi</a:t>
            </a:r>
            <a:endParaRPr lang="en-US" sz="1500" dirty="0"/>
          </a:p>
          <a:p>
            <a:pPr marL="228600" indent="-228600">
              <a:spcAft>
                <a:spcPts val="800"/>
              </a:spcAft>
              <a:buSzPct val="100000"/>
              <a:buChar char="•"/>
            </a:pPr>
            <a:r>
              <a:rPr lang="en-US" sz="1500" dirty="0">
                <a:solidFill>
                  <a:srgbClr val="1B1F3B"/>
                </a:solidFill>
              </a:rPr>
              <a:t>IEEE VIS: VIS 2026 runs 9-13 November 2026 in Boston</a:t>
            </a:r>
            <a:endParaRPr lang="en-US" sz="1500" dirty="0"/>
          </a:p>
        </p:txBody>
      </p:sp>
      <p:sp>
        <p:nvSpPr>
          <p:cNvPr id="8" name="Text 5"/>
          <p:cNvSpPr txBox="1"/>
          <p:nvPr/>
        </p:nvSpPr>
        <p:spPr>
          <a:xfrm>
            <a:off x="4114800" y="3840480"/>
            <a:ext cx="758952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B1F3B"/>
                </a:solidFill>
              </a:rPr>
              <a:t>GitHub: [GitHub Link]</a:t>
            </a:r>
            <a:endParaRPr lang="en-US" sz="1500" dirty="0"/>
          </a:p>
          <a:p>
            <a:pPr marL="228600" indent="-228600">
              <a:spcAft>
                <a:spcPts val="800"/>
              </a:spcAft>
              <a:buSzPct val="100000"/>
              <a:buChar char="•"/>
            </a:pPr>
            <a:r>
              <a:rPr lang="en-US" sz="1500" dirty="0">
                <a:solidFill>
                  <a:srgbClr val="1B1F3B"/>
                </a:solidFill>
              </a:rPr>
              <a:t>Live site: [Live Website Link]</a:t>
            </a:r>
            <a:endParaRPr lang="en-US" sz="1500" dirty="0"/>
          </a:p>
          <a:p>
            <a:pPr marL="228600" indent="-228600">
              <a:spcAft>
                <a:spcPts val="800"/>
              </a:spcAft>
              <a:buSzPct val="100000"/>
              <a:buChar char="•"/>
            </a:pPr>
            <a:r>
              <a:rPr lang="en-US" sz="1500" dirty="0">
                <a:solidFill>
                  <a:srgbClr val="1B1F3B"/>
                </a:solidFill>
              </a:rPr>
              <a:t>IEEE checks: A4, 6 pages, fonts embedded yes, Type-3 fonts 0</a:t>
            </a:r>
            <a:endParaRPr lang="en-US" sz="1500" dirty="0"/>
          </a:p>
          <a:p>
            <a:pPr marL="228600" indent="-228600">
              <a:spcAft>
                <a:spcPts val="800"/>
              </a:spcAft>
              <a:buSzPct val="100000"/>
              <a:buChar char="•"/>
            </a:pPr>
            <a:r>
              <a:rPr lang="en-US" sz="1500" dirty="0">
                <a:solidFill>
                  <a:srgbClr val="1B1F3B"/>
                </a:solidFill>
              </a:rPr>
              <a:t>Similarity self-check: report 0.18%, paper 0.00% (not Turnitin)</a:t>
            </a:r>
            <a:endParaRPr lang="en-US" sz="15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CONCLUSION, LIMITATIONS, FUTURE WORK</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Louder, less acoustic, and more than genre alone</a:t>
            </a:r>
            <a:endParaRPr lang="en-US" sz="3000" dirty="0"/>
          </a:p>
        </p:txBody>
      </p:sp>
      <p:sp>
        <p:nvSpPr>
          <p:cNvPr id="4" name="Shape 2"/>
          <p:cNvSpPr/>
          <p:nvPr/>
        </p:nvSpPr>
        <p:spPr>
          <a:xfrm>
            <a:off x="457200" y="1554480"/>
            <a:ext cx="3657600" cy="4480560"/>
          </a:xfrm>
          <a:prstGeom prst="roundRect">
            <a:avLst>
              <a:gd name="adj" fmla="val 3000"/>
            </a:avLst>
          </a:prstGeom>
          <a:solidFill>
            <a:srgbClr val="EEF0F7"/>
          </a:solidFill>
          <a:ln w="12700">
            <a:solidFill>
              <a:srgbClr val="EEF0F7"/>
            </a:solidFill>
            <a:prstDash val="solid"/>
          </a:ln>
        </p:spPr>
      </p:sp>
      <p:sp>
        <p:nvSpPr>
          <p:cNvPr id="5" name="Text 3"/>
          <p:cNvSpPr txBox="1"/>
          <p:nvPr/>
        </p:nvSpPr>
        <p:spPr>
          <a:xfrm>
            <a:off x="640080" y="1664208"/>
            <a:ext cx="3291840" cy="411480"/>
          </a:xfrm>
          <a:prstGeom prst="rect">
            <a:avLst/>
          </a:prstGeom>
          <a:noFill/>
          <a:ln/>
        </p:spPr>
        <p:txBody>
          <a:bodyPr wrap="square" lIns="0" tIns="0" rIns="0" bIns="0" rtlCol="0" anchor="ctr"/>
          <a:lstStyle/>
          <a:p>
            <a:pPr indent="0" marL="0">
              <a:buNone/>
            </a:pPr>
            <a:r>
              <a:rPr lang="en-US" sz="1800" b="1" dirty="0">
                <a:solidFill>
                  <a:srgbClr val="1B1F3B"/>
                </a:solidFill>
              </a:rPr>
              <a:t>Conclusion</a:t>
            </a:r>
            <a:endParaRPr lang="en-US" sz="1800" dirty="0"/>
          </a:p>
        </p:txBody>
      </p:sp>
      <p:sp>
        <p:nvSpPr>
          <p:cNvPr id="6" name="Text 4"/>
          <p:cNvSpPr txBox="1"/>
          <p:nvPr/>
        </p:nvSpPr>
        <p:spPr>
          <a:xfrm>
            <a:off x="640080" y="2103120"/>
            <a:ext cx="3291840" cy="384048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Careful cleaning matters; music got louder and less acoustic; genre explains 42% of danceability but overlaps in every map; lyrics and sound carry different moods.</a:t>
            </a:r>
            <a:endParaRPr lang="en-US" sz="1600" dirty="0"/>
          </a:p>
        </p:txBody>
      </p:sp>
      <p:sp>
        <p:nvSpPr>
          <p:cNvPr id="7" name="Shape 5"/>
          <p:cNvSpPr/>
          <p:nvPr/>
        </p:nvSpPr>
        <p:spPr>
          <a:xfrm>
            <a:off x="4297680" y="1554480"/>
            <a:ext cx="3657600" cy="4480560"/>
          </a:xfrm>
          <a:prstGeom prst="roundRect">
            <a:avLst>
              <a:gd name="adj" fmla="val 3000"/>
            </a:avLst>
          </a:prstGeom>
          <a:solidFill>
            <a:srgbClr val="EEF0F7"/>
          </a:solidFill>
          <a:ln w="12700">
            <a:solidFill>
              <a:srgbClr val="EEF0F7"/>
            </a:solidFill>
            <a:prstDash val="solid"/>
          </a:ln>
        </p:spPr>
      </p:sp>
      <p:sp>
        <p:nvSpPr>
          <p:cNvPr id="8" name="Text 6"/>
          <p:cNvSpPr txBox="1"/>
          <p:nvPr/>
        </p:nvSpPr>
        <p:spPr>
          <a:xfrm>
            <a:off x="4480560" y="1664208"/>
            <a:ext cx="3291840" cy="411480"/>
          </a:xfrm>
          <a:prstGeom prst="rect">
            <a:avLst/>
          </a:prstGeom>
          <a:noFill/>
          <a:ln/>
        </p:spPr>
        <p:txBody>
          <a:bodyPr wrap="square" lIns="0" tIns="0" rIns="0" bIns="0" rtlCol="0" anchor="ctr"/>
          <a:lstStyle/>
          <a:p>
            <a:pPr indent="0" marL="0">
              <a:buNone/>
            </a:pPr>
            <a:r>
              <a:rPr lang="en-US" sz="1800" b="1" dirty="0">
                <a:solidFill>
                  <a:srgbClr val="1B1F3B"/>
                </a:solidFill>
              </a:rPr>
              <a:t>Limitations</a:t>
            </a:r>
            <a:endParaRPr lang="en-US" sz="1800" dirty="0"/>
          </a:p>
        </p:txBody>
      </p:sp>
      <p:sp>
        <p:nvSpPr>
          <p:cNvPr id="9" name="Text 7"/>
          <p:cNvSpPr txBox="1"/>
          <p:nvPr/>
        </p:nvSpPr>
        <p:spPr>
          <a:xfrm>
            <a:off x="4480560" y="2103120"/>
            <a:ext cx="3291840" cy="384048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Spotify features are model-derived; catalogue favours recent years; genre join only 10.7%; English-only lyrics; the 2020s have one year.</a:t>
            </a:r>
            <a:endParaRPr lang="en-US" sz="1600" dirty="0"/>
          </a:p>
        </p:txBody>
      </p:sp>
      <p:sp>
        <p:nvSpPr>
          <p:cNvPr id="10" name="Shape 8"/>
          <p:cNvSpPr/>
          <p:nvPr/>
        </p:nvSpPr>
        <p:spPr>
          <a:xfrm>
            <a:off x="8138160" y="1554480"/>
            <a:ext cx="3566160" cy="2103120"/>
          </a:xfrm>
          <a:prstGeom prst="roundRect">
            <a:avLst>
              <a:gd name="adj" fmla="val 5217"/>
            </a:avLst>
          </a:prstGeom>
          <a:solidFill>
            <a:srgbClr val="EEF0F7"/>
          </a:solidFill>
          <a:ln w="12700">
            <a:solidFill>
              <a:srgbClr val="EEF0F7"/>
            </a:solidFill>
            <a:prstDash val="solid"/>
          </a:ln>
        </p:spPr>
      </p:sp>
      <p:sp>
        <p:nvSpPr>
          <p:cNvPr id="11" name="Text 9"/>
          <p:cNvSpPr txBox="1"/>
          <p:nvPr/>
        </p:nvSpPr>
        <p:spPr>
          <a:xfrm>
            <a:off x="8321040" y="1664208"/>
            <a:ext cx="3200400" cy="411480"/>
          </a:xfrm>
          <a:prstGeom prst="rect">
            <a:avLst/>
          </a:prstGeom>
          <a:noFill/>
          <a:ln/>
        </p:spPr>
        <p:txBody>
          <a:bodyPr wrap="square" lIns="0" tIns="0" rIns="0" bIns="0" rtlCol="0" anchor="ctr"/>
          <a:lstStyle/>
          <a:p>
            <a:pPr indent="0" marL="0">
              <a:buNone/>
            </a:pPr>
            <a:r>
              <a:rPr lang="en-US" sz="1800" b="1" dirty="0">
                <a:solidFill>
                  <a:srgbClr val="1B1F3B"/>
                </a:solidFill>
              </a:rPr>
              <a:t>Future work</a:t>
            </a:r>
            <a:endParaRPr lang="en-US" sz="1800" dirty="0"/>
          </a:p>
        </p:txBody>
      </p:sp>
      <p:sp>
        <p:nvSpPr>
          <p:cNvPr id="12" name="Text 10"/>
          <p:cNvSpPr txBox="1"/>
          <p:nvPr/>
        </p:nvSpPr>
        <p:spPr>
          <a:xfrm>
            <a:off x="8321040" y="2103120"/>
            <a:ext cx="3200400" cy="146304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Open audio features, multilingual lyrics, user study.</a:t>
            </a:r>
            <a:endParaRPr lang="en-US" sz="1600" dirty="0"/>
          </a:p>
        </p:txBody>
      </p:sp>
      <p:sp>
        <p:nvSpPr>
          <p:cNvPr id="13" name="Text 11"/>
          <p:cNvSpPr txBox="1"/>
          <p:nvPr/>
        </p:nvSpPr>
        <p:spPr>
          <a:xfrm>
            <a:off x="8138160" y="3840480"/>
            <a:ext cx="3566160" cy="2286000"/>
          </a:xfrm>
          <a:prstGeom prst="rect">
            <a:avLst/>
          </a:prstGeom>
          <a:noFill/>
          <a:ln/>
        </p:spPr>
        <p:txBody>
          <a:bodyPr wrap="square" lIns="0" tIns="0" rIns="0" bIns="0" rtlCol="0" anchor="t"/>
          <a:lstStyle/>
          <a:p>
            <a:pPr indent="0" marL="0">
              <a:buNone/>
            </a:pPr>
            <a:r>
              <a:rPr lang="en-US" sz="1100" dirty="0">
                <a:solidFill>
                  <a:srgbClr val="5B6178"/>
                </a:solidFill>
              </a:rPr>
              <a:t>[9] J. Serrà et al. (2012), Measuring the Evolution of Contemporary Western Popular Music</a:t>
            </a:r>
            <a:endParaRPr lang="en-US" sz="1100" dirty="0"/>
          </a:p>
          <a:p>
            <a:pPr indent="0" marL="0">
              <a:buNone/>
            </a:pPr>
            <a:r>
              <a:rPr lang="en-US" sz="1100" dirty="0">
                <a:solidFill>
                  <a:srgbClr val="5B6178"/>
                </a:solidFill>
              </a:rPr>
              <a:t>[11] C. Hutto et al. (2014), VADER: A Parsimonious Rule-Based Model for Sentiment Analysis of Social Media Text</a:t>
            </a:r>
            <a:endParaRPr lang="en-US" sz="1100" dirty="0"/>
          </a:p>
          <a:p>
            <a:pPr indent="0" marL="0">
              <a:buNone/>
            </a:pPr>
            <a:r>
              <a:rPr lang="en-US" sz="1100" dirty="0">
                <a:solidFill>
                  <a:srgbClr val="5B6178"/>
                </a:solidFill>
              </a:rPr>
              <a:t>[16] L. van der Maaten et al. (2008), Visualizing Data using t-SNE</a:t>
            </a:r>
            <a:endParaRPr lang="en-US" sz="1100" dirty="0"/>
          </a:p>
          <a:p>
            <a:pPr indent="0" marL="0">
              <a:buNone/>
            </a:pPr>
            <a:r>
              <a:rPr lang="en-US" sz="1100" dirty="0">
                <a:solidFill>
                  <a:srgbClr val="5B6178"/>
                </a:solidFill>
              </a:rPr>
              <a:t>[25] D. H. da Silva et al. (2025), A Web Application for exploratory data analysis and classification of Parkinson's Disease patients using machine learning models on different datasets</a:t>
            </a:r>
            <a:endParaRPr lang="en-US" sz="11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Vellore Institute of Technology,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SonicAtlas: An Interactive In-Browser EDA Platform for Spotify Audio Features and Lyrics Across Genres and Eras</dc:title>
  <dc:subject>BACSE301 EDA - Review-3 presentation, Team 05</dc:subject>
  <dc:creator>Sharvesh Prabhu (25BDS0318), Nithin S (25BDS0308)</dc:creator>
  <cp:lastModifiedBy>Sharvesh Prabhu (25BDS0318), Nithin S (25BDS0308)</cp:lastModifiedBy>
  <cp:revision>1</cp:revision>
  <dcterms:created xsi:type="dcterms:W3CDTF">2026-10-20T11:40:24Z</dcterms:created>
  <dcterms:modified xsi:type="dcterms:W3CDTF">2026-10-20T11:40:24Z</dcterms:modified>
</cp:coreProperties>
</file>