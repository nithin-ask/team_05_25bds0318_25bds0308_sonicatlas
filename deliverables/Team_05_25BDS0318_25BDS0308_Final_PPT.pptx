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Lst>
  <p:notesMasterIdLst>
    <p:notesMasterId r:id="rId12"/>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notesMaster" Target="notesMasters/notesMaster1.xml"/><Relationship Id="rId13" Type="http://schemas.openxmlformats.org/officeDocument/2006/relationships/presProps" Target="presProps.xml"/><Relationship Id="rId14" Type="http://schemas.openxmlformats.org/officeDocument/2006/relationships/viewProps" Target="viewProps.xml"/><Relationship Id="rId15" Type="http://schemas.openxmlformats.org/officeDocument/2006/relationships/theme" Target="theme/theme1.xml"/><Relationship Id="rId16"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morning. We are Team 05 and this is the complete story of SonicAtlas.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SonicAtlas studies how musical characteristics change across genres and decades using public Spotify data and lyrics. We cleaned over a million tracks, applied the methods from our syllabus, and built a website so anyone can explore the results.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reviewed 25 verified papers. The main gaps: results are static, audio and lyrics are studied separately, data quality is rarely discussed, and generic EDA tools are not music-aware and need a server.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data is public but noisy: impossible tempos, duplicates and sources without common keys. Results in the literature are static, sound and lyrics are studied separately, and interactive tools cost money to host. Our objectives address each problem with a measurable target.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Spotify's own tools are closed, notebooks are static, the Streamlit application from our faculty reading needs a Python server and is not music-aware, and automated EDA tools are generic. SonicAtlas covers all columns.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Python notebooks clean the data and compute statistics, embeddings and clusters, and export compact Parquet files. In the browser, DuckDB compiled to WebAssembly runs in a Web Worker and answers SQL queries locally. The React interface has eleven modules and keeps its state in the URL.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Our methodology moves from acquisition and cleaning through statistics, multivariate views, dimensionality reduction, clustering, time series and tests to deployment. Every number in our documents is generated from a single results file.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Our five headline findings: music became louder; energy is almost a restatement of loudness; genre strongly shapes danceability; t-SNE keeps local structure best; and lyric sentiment is nearly independent of musical mood.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SonicAtlas live: the Query Studio, the Acoustic Map and the Compare page, all running in the browser. On the right is the first page of our IEEE-format paper, prepared for submission, and links to the repository and live site.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To conclude: careful cleaning changes the conclusions, music has become louder and less acoustic, genre matters but genres overlap, and lyrics add independent information. Our main limitations are the proprietary features and data bias. Thank you.</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DARK">
    <p:bg>
      <p:bgPr>
        <a:solidFill>
          <a:srgbClr val="1B1F3B"/>
        </a:solidFill>
      </p:bgPr>
    </p:bg>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11247120" y="6400800"/>
            <a:ext cx="548640" cy="320040"/>
          </a:xfrm>
          <a:prstGeom prst="rect">
            <a:avLst/>
          </a:prstGeom>
          <a:extLst>
            <a:ext uri="{C572A759-6A51-4108-AA02-DFA0A04FC94B}">
              <ma14:wrappingTextBoxFlag xmlns:ma14="http://schemas.microsoft.com/office/mac/drawingml/2011/main" val="0"/>
            </a:ext>
          </a:extLst>
        </p:spPr>
        <p:txBody>
          <a:bodyPr/>
          <a:lstStyle>
            <a:lvl1pPr>
              <a:defRPr sz="1100">
                <a:solidFill>
                  <a:srgbClr val="C9CDDB"/>
                </a:solidFill>
                <a:latin typeface="Calibri"/>
                <a:ea typeface="Calibri"/>
                <a:cs typeface="Calibri"/>
              </a:defRPr>
            </a:lvl1pPr>
          </a:lstStyle>
          <a:p>
            <a:pPr algn="l"/>
            <a:fld id="{F7021451-1387-4CA6-816F-3879F97B5CBC}" type="slidenum">
              <a:rPr b="0" lang="en-US"/>
              <a:t>1002</a:t>
            </a:fld>
            <a:endParaRPr lang="en-US"/>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CONTENT">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457200" y="6446520"/>
            <a:ext cx="7315200" cy="274320"/>
          </a:xfrm>
          <a:prstGeom prst="rect">
            <a:avLst/>
          </a:prstGeom>
          <a:noFill/>
          <a:ln/>
        </p:spPr>
        <p:txBody>
          <a:bodyPr wrap="square" rtlCol="0" anchor="ctr"/>
          <a:lstStyle/>
          <a:p>
            <a:pPr indent="0" marL="0">
              <a:buNone/>
            </a:pPr>
            <a:r>
              <a:rPr lang="en-US" sz="1000" dirty="0">
                <a:solidFill>
                  <a:srgbClr val="5B6178"/>
                </a:solidFill>
                <a:latin typeface="Calibri" pitchFamily="34" charset="0"/>
                <a:ea typeface="Calibri" pitchFamily="34" charset="-122"/>
                <a:cs typeface="Calibri" pitchFamily="34" charset="-120"/>
              </a:rPr>
              <a:t>Team 05  |  SonicAtlas  |  BACSE301 Exploratory Data Analysis</a:t>
            </a:r>
            <a:endParaRPr lang="en-US" sz="1000" dirty="0"/>
          </a:p>
        </p:txBody>
      </p:sp>
      <p:sp>
        <p:nvSpPr>
          <p:cNvPr id="25" name="Slide Number Placeholder 0"/>
          <p:cNvSpPr>
            <a:spLocks noGrp="1"/>
          </p:cNvSpPr>
          <p:nvPr>
            <p:ph type="sldNum" sz="quarter" idx="4294967295"/>
          </p:nvPr>
        </p:nvSpPr>
        <p:spPr>
          <a:xfrm>
            <a:off x="11247120" y="6400800"/>
            <a:ext cx="548640" cy="320040"/>
          </a:xfrm>
          <a:prstGeom prst="rect">
            <a:avLst/>
          </a:prstGeom>
          <a:extLst>
            <a:ext uri="{C572A759-6A51-4108-AA02-DFA0A04FC94B}">
              <ma14:wrappingTextBoxFlag xmlns:ma14="http://schemas.microsoft.com/office/mac/drawingml/2011/main" val="0"/>
            </a:ext>
          </a:extLst>
        </p:spPr>
        <p:txBody>
          <a:bodyPr/>
          <a:lstStyle>
            <a:lvl1pPr>
              <a:defRPr sz="1100">
                <a:solidFill>
                  <a:srgbClr val="5B6178"/>
                </a:solidFill>
                <a:latin typeface="Calibri"/>
                <a:ea typeface="Calibri"/>
                <a:cs typeface="Calibri"/>
              </a:defRPr>
            </a:lvl1pPr>
          </a:lstStyle>
          <a:p>
            <a:pPr algn="l"/>
            <a:fld id="{F7021451-1387-4CA6-816F-3879F97B5CBC}" type="slidenum">
              <a:rPr b="0" lang="en-US"/>
              <a:t>1003</a:t>
            </a:fld>
            <a:endParaRPr lang="en-US"/>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11247120" y="6400800"/>
            <a:ext cx="548640" cy="320040"/>
          </a:xfrm>
          <a:prstGeom prst="rect">
            <a:avLst/>
          </a:prstGeom>
          <a:extLst>
            <a:ext uri="{C572A759-6A51-4108-AA02-DFA0A04FC94B}">
              <ma14:wrappingTextBoxFlag xmlns:ma14="http://schemas.microsoft.com/office/mac/drawingml/2011/main" val="0"/>
            </a:ext>
          </a:extLst>
        </p:spPr>
        <p:txBody>
          <a:bodyPr/>
          <a:lstStyle>
            <a:lvl1pPr>
              <a:defRPr sz="1100">
                <a:solidFill>
                  <a:srgbClr val="C9CDDB"/>
                </a:solidFill>
                <a:latin typeface="Calibri"/>
                <a:ea typeface="Calibri"/>
                <a:cs typeface="Calibri"/>
              </a:defRPr>
            </a:lvl1pPr>
          </a:lstStyle>
          <a:p>
            <a:pPr algn="l"/>
            <a:fld id="{F7021451-1387-4CA6-816F-3879F97B5CBC}" type="slidenum">
              <a:rPr b="0"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slideLayout" Target="../slideLayouts/slideLayout2.xm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png"/><Relationship Id="rId2" Type="http://schemas.openxmlformats.org/officeDocument/2006/relationships/slideLayout" Target="../slideLayouts/slideLayout3.xml"/><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png"/><Relationship Id="rId2" Type="http://schemas.openxmlformats.org/officeDocument/2006/relationships/slideLayout" Target="../slideLayouts/slideLayout3.xml"/><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png"/><Relationship Id="rId2" Type="http://schemas.openxmlformats.org/officeDocument/2006/relationships/image" Target="../media/image-8-2.png"/><Relationship Id="rId3" Type="http://schemas.openxmlformats.org/officeDocument/2006/relationships/slideLayout" Target="../slideLayouts/slideLayout3.xml"/><Relationship Id="rId4"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png"/><Relationship Id="rId2" Type="http://schemas.openxmlformats.org/officeDocument/2006/relationships/image" Target="../media/image-9-2.png"/><Relationship Id="rId3" Type="http://schemas.openxmlformats.org/officeDocument/2006/relationships/image" Target="../media/image-9-3.png"/><Relationship Id="rId4" Type="http://schemas.openxmlformats.org/officeDocument/2006/relationships/image" Target="../media/image-9-4.png"/><Relationship Id="rId5" Type="http://schemas.openxmlformats.org/officeDocument/2006/relationships/slideLayout" Target="../slideLayouts/slideLayout3.xml"/><Relationship Id="rId6"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0.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Text 0"/>
          <p:cNvSpPr txBox="1"/>
          <p:nvPr/>
        </p:nvSpPr>
        <p:spPr>
          <a:xfrm>
            <a:off x="640080" y="548640"/>
            <a:ext cx="5486400" cy="457200"/>
          </a:xfrm>
          <a:prstGeom prst="rect">
            <a:avLst/>
          </a:prstGeom>
          <a:noFill/>
          <a:ln/>
        </p:spPr>
        <p:txBody>
          <a:bodyPr wrap="square" lIns="0" tIns="0" rIns="0" bIns="0" rtlCol="0" anchor="ctr"/>
          <a:lstStyle/>
          <a:p>
            <a:pPr indent="0" marL="0">
              <a:buNone/>
            </a:pPr>
            <a:r>
              <a:rPr lang="en-US" sz="1800" b="1" spc="600" kern="0" dirty="0">
                <a:solidFill>
                  <a:srgbClr val="F2A541"/>
                </a:solidFill>
              </a:rPr>
              <a:t>SONICATLAS</a:t>
            </a:r>
            <a:endParaRPr lang="en-US" sz="1800" dirty="0"/>
          </a:p>
        </p:txBody>
      </p:sp>
      <p:sp>
        <p:nvSpPr>
          <p:cNvPr id="3" name="Text 1"/>
          <p:cNvSpPr txBox="1"/>
          <p:nvPr/>
        </p:nvSpPr>
        <p:spPr>
          <a:xfrm>
            <a:off x="640080" y="1097280"/>
            <a:ext cx="7498080" cy="1828800"/>
          </a:xfrm>
          <a:prstGeom prst="rect">
            <a:avLst/>
          </a:prstGeom>
          <a:noFill/>
          <a:ln/>
        </p:spPr>
        <p:txBody>
          <a:bodyPr wrap="square" lIns="0" tIns="0" rIns="0" bIns="0" rtlCol="0" anchor="t"/>
          <a:lstStyle/>
          <a:p>
            <a:pPr indent="0" marL="0">
              <a:buNone/>
            </a:pPr>
            <a:r>
              <a:rPr lang="en-US" sz="3200" b="1" dirty="0">
                <a:solidFill>
                  <a:srgbClr val="FFFFFF"/>
                </a:solidFill>
              </a:rPr>
              <a:t>An Interactive In-Browser EDA Platform for Spotify Audio Features and Lyrics Across Genres and Eras</a:t>
            </a:r>
            <a:endParaRPr lang="en-US" sz="3200" dirty="0"/>
          </a:p>
        </p:txBody>
      </p:sp>
      <p:sp>
        <p:nvSpPr>
          <p:cNvPr id="4" name="Text 2"/>
          <p:cNvSpPr txBox="1"/>
          <p:nvPr/>
        </p:nvSpPr>
        <p:spPr>
          <a:xfrm>
            <a:off x="640080" y="3108960"/>
            <a:ext cx="7589520" cy="457200"/>
          </a:xfrm>
          <a:prstGeom prst="rect">
            <a:avLst/>
          </a:prstGeom>
          <a:noFill/>
          <a:ln/>
        </p:spPr>
        <p:txBody>
          <a:bodyPr wrap="square" lIns="0" tIns="0" rIns="0" bIns="0" rtlCol="0" anchor="ctr"/>
          <a:lstStyle/>
          <a:p>
            <a:pPr indent="0" marL="0">
              <a:buNone/>
            </a:pPr>
            <a:r>
              <a:rPr lang="en-US" sz="2200" b="1" dirty="0">
                <a:solidFill>
                  <a:srgbClr val="F2A541"/>
                </a:solidFill>
              </a:rPr>
              <a:t>Final Review  |  Complete project</a:t>
            </a:r>
            <a:endParaRPr lang="en-US" sz="2200" dirty="0"/>
          </a:p>
        </p:txBody>
      </p:sp>
      <p:sp>
        <p:nvSpPr>
          <p:cNvPr id="5" name="Text 3"/>
          <p:cNvSpPr txBox="1"/>
          <p:nvPr/>
        </p:nvSpPr>
        <p:spPr>
          <a:xfrm>
            <a:off x="640080" y="3749040"/>
            <a:ext cx="5486400" cy="1188720"/>
          </a:xfrm>
          <a:prstGeom prst="rect">
            <a:avLst/>
          </a:prstGeom>
          <a:noFill/>
          <a:ln/>
        </p:spPr>
        <p:txBody>
          <a:bodyPr wrap="square" lIns="0" tIns="0" rIns="0" bIns="0" rtlCol="0" anchor="t"/>
          <a:lstStyle/>
          <a:p>
            <a:pPr indent="0" marL="0">
              <a:buNone/>
            </a:pPr>
            <a:r>
              <a:rPr lang="en-US" sz="1800" b="1" dirty="0">
                <a:solidFill>
                  <a:srgbClr val="FFFFFF"/>
                </a:solidFill>
              </a:rPr>
              <a:t>Team 05</a:t>
            </a:r>
            <a:endParaRPr lang="en-US" sz="1800" dirty="0"/>
          </a:p>
          <a:p>
            <a:pPr indent="0" marL="0">
              <a:buNone/>
            </a:pPr>
            <a:r>
              <a:rPr lang="en-US" sz="1800" dirty="0">
                <a:solidFill>
                  <a:srgbClr val="FFFFFF"/>
                </a:solidFill>
              </a:rPr>
              <a:t>25BDS0318  Sharvesh Prabhu</a:t>
            </a:r>
            <a:endParaRPr lang="en-US" sz="1800" dirty="0"/>
          </a:p>
          <a:p>
            <a:pPr indent="0" marL="0">
              <a:buNone/>
            </a:pPr>
            <a:r>
              <a:rPr lang="en-US" sz="1800" dirty="0">
                <a:solidFill>
                  <a:srgbClr val="FFFFFF"/>
                </a:solidFill>
              </a:rPr>
              <a:t>25BDS0308  Nithin S</a:t>
            </a:r>
            <a:endParaRPr lang="en-US" sz="1800" dirty="0"/>
          </a:p>
        </p:txBody>
      </p:sp>
      <p:sp>
        <p:nvSpPr>
          <p:cNvPr id="6" name="Text 4"/>
          <p:cNvSpPr txBox="1"/>
          <p:nvPr/>
        </p:nvSpPr>
        <p:spPr>
          <a:xfrm>
            <a:off x="640080" y="5120640"/>
            <a:ext cx="8229600" cy="1005840"/>
          </a:xfrm>
          <a:prstGeom prst="rect">
            <a:avLst/>
          </a:prstGeom>
          <a:noFill/>
          <a:ln/>
        </p:spPr>
        <p:txBody>
          <a:bodyPr wrap="square" lIns="0" tIns="0" rIns="0" bIns="0" rtlCol="0" anchor="t"/>
          <a:lstStyle/>
          <a:p>
            <a:pPr indent="0" marL="0">
              <a:buNone/>
            </a:pPr>
            <a:r>
              <a:rPr lang="en-US" sz="1500" dirty="0">
                <a:solidFill>
                  <a:srgbClr val="C9CDDB"/>
                </a:solidFill>
              </a:rPr>
              <a:t>BACSE301 Exploratory Data Analysis (Project-based Course)</a:t>
            </a:r>
            <a:endParaRPr lang="en-US" sz="1500" dirty="0"/>
          </a:p>
          <a:p>
            <a:pPr indent="0" marL="0">
              <a:buNone/>
            </a:pPr>
            <a:r>
              <a:rPr lang="en-US" sz="1500" dirty="0">
                <a:solidFill>
                  <a:srgbClr val="C9CDDB"/>
                </a:solidFill>
              </a:rPr>
              <a:t>Faculty: ____________</a:t>
            </a:r>
            <a:endParaRPr lang="en-US" sz="1500" dirty="0"/>
          </a:p>
          <a:p>
            <a:pPr indent="0" marL="0">
              <a:buNone/>
            </a:pPr>
            <a:r>
              <a:rPr lang="en-US" sz="1500" dirty="0">
                <a:solidFill>
                  <a:srgbClr val="C9CDDB"/>
                </a:solidFill>
              </a:rPr>
              <a:t>School of Computer Science and Engineering, VIT Vellore  |  October 2026</a:t>
            </a:r>
            <a:endParaRPr lang="en-US" sz="1500" dirty="0"/>
          </a:p>
        </p:txBody>
      </p:sp>
      <p:sp>
        <p:nvSpPr>
          <p:cNvPr id="7" name="Shape 5"/>
          <p:cNvSpPr/>
          <p:nvPr/>
        </p:nvSpPr>
        <p:spPr>
          <a:xfrm>
            <a:off x="8412480" y="1097280"/>
            <a:ext cx="3291840" cy="3291840"/>
          </a:xfrm>
          <a:prstGeom prst="roundRect">
            <a:avLst>
              <a:gd name="adj" fmla="val 4167"/>
            </a:avLst>
          </a:prstGeom>
          <a:solidFill>
            <a:srgbClr val="FFFFFF"/>
          </a:solidFill>
          <a:ln w="12700">
            <a:solidFill>
              <a:srgbClr val="FFFFFF"/>
            </a:solidFill>
            <a:prstDash val="solid"/>
          </a:ln>
        </p:spPr>
      </p:sp>
      <p:pic>
        <p:nvPicPr>
          <p:cNvPr id="8" name="Image 0" descr="Acoustic cluster map">    </p:cNvPr>
          <p:cNvPicPr>
            <a:picLocks noChangeAspect="1"/>
          </p:cNvPicPr>
          <p:nvPr/>
        </p:nvPicPr>
        <p:blipFill>
          <a:blip r:embed="rId1"/>
          <a:stretch>
            <a:fillRect/>
          </a:stretch>
        </p:blipFill>
        <p:spPr>
          <a:xfrm>
            <a:off x="8549640" y="1234440"/>
            <a:ext cx="3017520" cy="2665759"/>
          </a:xfrm>
          <a:prstGeom prst="rect">
            <a:avLst/>
          </a:prstGeom>
        </p:spPr>
      </p:pic>
      <p:sp>
        <p:nvSpPr>
          <p:cNvPr id="9" name="Text 6"/>
          <p:cNvSpPr txBox="1"/>
          <p:nvPr/>
        </p:nvSpPr>
        <p:spPr>
          <a:xfrm>
            <a:off x="8412480" y="4480560"/>
            <a:ext cx="3291840" cy="365760"/>
          </a:xfrm>
          <a:prstGeom prst="rect">
            <a:avLst/>
          </a:prstGeom>
          <a:noFill/>
          <a:ln/>
        </p:spPr>
        <p:txBody>
          <a:bodyPr wrap="square" lIns="0" tIns="0" rIns="0" bIns="0" rtlCol="0" anchor="ctr"/>
          <a:lstStyle/>
          <a:p>
            <a:pPr algn="ctr" indent="0" marL="0">
              <a:buNone/>
            </a:pPr>
            <a:r>
              <a:rPr lang="en-US" sz="1200" dirty="0">
                <a:solidFill>
                  <a:srgbClr val="C9CDDB"/>
                </a:solidFill>
              </a:rPr>
              <a:t>Real acoustic map of 10,000 tracks (t-SNE)</a:t>
            </a:r>
            <a:endParaRPr lang="en-US" sz="1200" dirty="0"/>
          </a:p>
        </p:txBody>
      </p:sp>
      <p:sp>
        <p:nvSpPr>
          <p:cNvPr id="25" name="Slide Number Placeholder 0"/>
          <p:cNvSpPr>
            <a:spLocks noGrp="1"/>
          </p:cNvSpPr>
          <p:nvPr>
            <p:ph type="sldNum" sz="quarter" idx="4294967295"/>
          </p:nvPr>
        </p:nvSpPr>
        <p:spPr>
          <a:xfrm>
            <a:off x="11247120" y="6400800"/>
            <a:ext cx="548640" cy="320040"/>
          </a:xfrm>
          <a:prstGeom prst="rect">
            <a:avLst/>
          </a:prstGeom>
          <a:extLst>
            <a:ext uri="{C572A759-6A51-4108-AA02-DFA0A04FC94B}">
              <ma14:wrappingTextBoxFlag xmlns:ma14="http://schemas.microsoft.com/office/mac/drawingml/2011/main" val="0"/>
            </a:ext>
          </a:extLst>
        </p:spPr>
        <p:txBody>
          <a:bodyPr/>
          <a:lstStyle>
            <a:lvl1pPr>
              <a:defRPr sz="1100">
                <a:solidFill>
                  <a:srgbClr val="C9CDDB"/>
                </a:solidFill>
                <a:latin typeface="Calibri"/>
                <a:ea typeface="Calibri"/>
                <a:cs typeface="Calibri"/>
              </a:defRPr>
            </a:lvl1pPr>
          </a:lstStyle>
          <a:p>
            <a:pPr algn="l"/>
            <a:fld id="{F7021451-1387-4CA6-816F-3879F97B5CBC}" type="slidenum">
              <a:rPr b="0" lang="en-US"/>
              <a:t>1</a:t>
            </a:fld>
            <a:endParaRPr lang="en-US"/>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0"/>
          <p:cNvSpPr txBox="1"/>
          <p:nvPr/>
        </p:nvSpPr>
        <p:spPr>
          <a:xfrm>
            <a:off x="457200" y="274320"/>
            <a:ext cx="10972800" cy="320040"/>
          </a:xfrm>
          <a:prstGeom prst="rect">
            <a:avLst/>
          </a:prstGeom>
          <a:noFill/>
          <a:ln/>
        </p:spPr>
        <p:txBody>
          <a:bodyPr wrap="square" lIns="0" tIns="0" rIns="0" bIns="0" rtlCol="0" anchor="ctr"/>
          <a:lstStyle/>
          <a:p>
            <a:pPr indent="0" marL="0">
              <a:buNone/>
            </a:pPr>
            <a:r>
              <a:rPr lang="en-US" sz="1300" b="1" spc="200" kern="0" dirty="0">
                <a:solidFill>
                  <a:srgbClr val="B7791F"/>
                </a:solidFill>
              </a:rPr>
              <a:t>ABSTRACT</a:t>
            </a:r>
            <a:endParaRPr lang="en-US" sz="1300" dirty="0"/>
          </a:p>
        </p:txBody>
      </p:sp>
      <p:sp>
        <p:nvSpPr>
          <p:cNvPr id="3" name="Text 1"/>
          <p:cNvSpPr txBox="1"/>
          <p:nvPr/>
        </p:nvSpPr>
        <p:spPr>
          <a:xfrm>
            <a:off x="457200" y="566928"/>
            <a:ext cx="11247120" cy="777240"/>
          </a:xfrm>
          <a:prstGeom prst="rect">
            <a:avLst/>
          </a:prstGeom>
          <a:noFill/>
          <a:ln/>
        </p:spPr>
        <p:txBody>
          <a:bodyPr wrap="square" lIns="0" tIns="0" rIns="0" bIns="0" rtlCol="0" anchor="t"/>
          <a:lstStyle/>
          <a:p>
            <a:pPr indent="0" marL="0">
              <a:buNone/>
            </a:pPr>
            <a:r>
              <a:rPr lang="en-US" sz="3000" b="1" dirty="0">
                <a:solidFill>
                  <a:srgbClr val="1B1F3B"/>
                </a:solidFill>
              </a:rPr>
              <a:t>Mapping how the sound of music changes across genres and eras</a:t>
            </a:r>
            <a:endParaRPr lang="en-US" sz="3000" dirty="0"/>
          </a:p>
        </p:txBody>
      </p:sp>
      <p:sp>
        <p:nvSpPr>
          <p:cNvPr id="4" name="Shape 2"/>
          <p:cNvSpPr/>
          <p:nvPr/>
        </p:nvSpPr>
        <p:spPr>
          <a:xfrm>
            <a:off x="457200" y="1554480"/>
            <a:ext cx="6949440" cy="4480560"/>
          </a:xfrm>
          <a:prstGeom prst="roundRect">
            <a:avLst>
              <a:gd name="adj" fmla="val 2449"/>
            </a:avLst>
          </a:prstGeom>
          <a:solidFill>
            <a:srgbClr val="EEF0F7"/>
          </a:solidFill>
          <a:ln w="12700">
            <a:solidFill>
              <a:srgbClr val="EEF0F7"/>
            </a:solidFill>
            <a:prstDash val="solid"/>
          </a:ln>
        </p:spPr>
      </p:sp>
      <p:sp>
        <p:nvSpPr>
          <p:cNvPr id="5" name="Text 3"/>
          <p:cNvSpPr txBox="1"/>
          <p:nvPr/>
        </p:nvSpPr>
        <p:spPr>
          <a:xfrm>
            <a:off x="640080" y="1691640"/>
            <a:ext cx="6583680" cy="4206240"/>
          </a:xfrm>
          <a:prstGeom prst="rect">
            <a:avLst/>
          </a:prstGeom>
          <a:noFill/>
          <a:ln/>
        </p:spPr>
        <p:txBody>
          <a:bodyPr wrap="square" lIns="0" tIns="0" rIns="0" bIns="0" rtlCol="0" anchor="t"/>
          <a:lstStyle/>
          <a:p>
            <a:pPr indent="0" marL="0">
              <a:spcAft>
                <a:spcPts val="400"/>
              </a:spcAft>
              <a:buNone/>
            </a:pPr>
            <a:r>
              <a:rPr lang="en-US" sz="1800" dirty="0">
                <a:solidFill>
                  <a:srgbClr val="1B1F3B"/>
                </a:solidFill>
              </a:rPr>
              <a:t>Spotify's archived audio descriptors (energy, valence, danceability, acousticness and more) are rarely explored beyond static charts. SonicAtlas cleans 1,204,025 tracks released 1900-2020, a genre table of 89,740 tracks in 114 genres and 161,401 English lyrics, explores them with the course methods (descriptive statistics, correlation, PCA/t-SNE/LLE, time series, hypothesis tests, text mining), and publishes everything in a website that runs SQL inside the browser with DuckDB-WASM.</a:t>
            </a:r>
            <a:endParaRPr lang="en-US" sz="1800" dirty="0"/>
          </a:p>
        </p:txBody>
      </p:sp>
      <p:sp>
        <p:nvSpPr>
          <p:cNvPr id="6" name="Shape 4"/>
          <p:cNvSpPr/>
          <p:nvPr/>
        </p:nvSpPr>
        <p:spPr>
          <a:xfrm>
            <a:off x="7772400" y="1554480"/>
            <a:ext cx="3931920" cy="1417320"/>
          </a:xfrm>
          <a:prstGeom prst="roundRect">
            <a:avLst>
              <a:gd name="adj" fmla="val 7742"/>
            </a:avLst>
          </a:prstGeom>
          <a:solidFill>
            <a:srgbClr val="EEF0F7"/>
          </a:solidFill>
          <a:ln w="12700">
            <a:solidFill>
              <a:srgbClr val="EEF0F7"/>
            </a:solidFill>
            <a:prstDash val="solid"/>
          </a:ln>
        </p:spPr>
      </p:sp>
      <p:sp>
        <p:nvSpPr>
          <p:cNvPr id="7" name="Text 5"/>
          <p:cNvSpPr txBox="1"/>
          <p:nvPr/>
        </p:nvSpPr>
        <p:spPr>
          <a:xfrm>
            <a:off x="7909560" y="1664208"/>
            <a:ext cx="3657600" cy="685800"/>
          </a:xfrm>
          <a:prstGeom prst="rect">
            <a:avLst/>
          </a:prstGeom>
          <a:noFill/>
          <a:ln/>
        </p:spPr>
        <p:txBody>
          <a:bodyPr wrap="square" lIns="0" tIns="0" rIns="0" bIns="0" rtlCol="0" anchor="ctr"/>
          <a:lstStyle/>
          <a:p>
            <a:pPr indent="0" marL="0">
              <a:buNone/>
            </a:pPr>
            <a:r>
              <a:rPr lang="en-US" sz="3200" b="1" dirty="0">
                <a:solidFill>
                  <a:srgbClr val="1B1F3B"/>
                </a:solidFill>
              </a:rPr>
              <a:t>1,204,025</a:t>
            </a:r>
            <a:endParaRPr lang="en-US" sz="3200" dirty="0"/>
          </a:p>
        </p:txBody>
      </p:sp>
      <p:sp>
        <p:nvSpPr>
          <p:cNvPr id="8" name="Text 6"/>
          <p:cNvSpPr txBox="1"/>
          <p:nvPr/>
        </p:nvSpPr>
        <p:spPr>
          <a:xfrm>
            <a:off x="7909560" y="2331720"/>
            <a:ext cx="3657600" cy="566928"/>
          </a:xfrm>
          <a:prstGeom prst="rect">
            <a:avLst/>
          </a:prstGeom>
          <a:noFill/>
          <a:ln/>
        </p:spPr>
        <p:txBody>
          <a:bodyPr wrap="square" lIns="0" tIns="0" rIns="0" bIns="0" rtlCol="0" anchor="t"/>
          <a:lstStyle/>
          <a:p>
            <a:pPr indent="0" marL="0">
              <a:buNone/>
            </a:pPr>
            <a:r>
              <a:rPr lang="en-US" sz="1400" dirty="0">
                <a:solidFill>
                  <a:srgbClr val="5B6178"/>
                </a:solidFill>
              </a:rPr>
              <a:t>tracks analysed</a:t>
            </a:r>
            <a:endParaRPr lang="en-US" sz="1400" dirty="0"/>
          </a:p>
        </p:txBody>
      </p:sp>
      <p:sp>
        <p:nvSpPr>
          <p:cNvPr id="9" name="Shape 7"/>
          <p:cNvSpPr/>
          <p:nvPr/>
        </p:nvSpPr>
        <p:spPr>
          <a:xfrm>
            <a:off x="7772400" y="3108960"/>
            <a:ext cx="3931920" cy="1417320"/>
          </a:xfrm>
          <a:prstGeom prst="roundRect">
            <a:avLst>
              <a:gd name="adj" fmla="val 7742"/>
            </a:avLst>
          </a:prstGeom>
          <a:solidFill>
            <a:srgbClr val="EEF0F7"/>
          </a:solidFill>
          <a:ln w="12700">
            <a:solidFill>
              <a:srgbClr val="EEF0F7"/>
            </a:solidFill>
            <a:prstDash val="solid"/>
          </a:ln>
        </p:spPr>
      </p:sp>
      <p:sp>
        <p:nvSpPr>
          <p:cNvPr id="10" name="Text 8"/>
          <p:cNvSpPr txBox="1"/>
          <p:nvPr/>
        </p:nvSpPr>
        <p:spPr>
          <a:xfrm>
            <a:off x="7909560" y="3218688"/>
            <a:ext cx="3657600" cy="685800"/>
          </a:xfrm>
          <a:prstGeom prst="rect">
            <a:avLst/>
          </a:prstGeom>
          <a:noFill/>
          <a:ln/>
        </p:spPr>
        <p:txBody>
          <a:bodyPr wrap="square" lIns="0" tIns="0" rIns="0" bIns="0" rtlCol="0" anchor="ctr"/>
          <a:lstStyle/>
          <a:p>
            <a:pPr indent="0" marL="0">
              <a:buNone/>
            </a:pPr>
            <a:r>
              <a:rPr lang="en-US" sz="3200" b="1" dirty="0">
                <a:solidFill>
                  <a:srgbClr val="1B1F3B"/>
                </a:solidFill>
              </a:rPr>
              <a:t>114</a:t>
            </a:r>
            <a:endParaRPr lang="en-US" sz="3200" dirty="0"/>
          </a:p>
        </p:txBody>
      </p:sp>
      <p:sp>
        <p:nvSpPr>
          <p:cNvPr id="11" name="Text 9"/>
          <p:cNvSpPr txBox="1"/>
          <p:nvPr/>
        </p:nvSpPr>
        <p:spPr>
          <a:xfrm>
            <a:off x="7909560" y="3886200"/>
            <a:ext cx="3657600" cy="566928"/>
          </a:xfrm>
          <a:prstGeom prst="rect">
            <a:avLst/>
          </a:prstGeom>
          <a:noFill/>
          <a:ln/>
        </p:spPr>
        <p:txBody>
          <a:bodyPr wrap="square" lIns="0" tIns="0" rIns="0" bIns="0" rtlCol="0" anchor="t"/>
          <a:lstStyle/>
          <a:p>
            <a:pPr indent="0" marL="0">
              <a:buNone/>
            </a:pPr>
            <a:r>
              <a:rPr lang="en-US" sz="1400" dirty="0">
                <a:solidFill>
                  <a:srgbClr val="5B6178"/>
                </a:solidFill>
              </a:rPr>
              <a:t>genres compared</a:t>
            </a:r>
            <a:endParaRPr lang="en-US" sz="1400" dirty="0"/>
          </a:p>
        </p:txBody>
      </p:sp>
      <p:sp>
        <p:nvSpPr>
          <p:cNvPr id="12" name="Shape 10"/>
          <p:cNvSpPr/>
          <p:nvPr/>
        </p:nvSpPr>
        <p:spPr>
          <a:xfrm>
            <a:off x="7772400" y="4663440"/>
            <a:ext cx="3931920" cy="1417320"/>
          </a:xfrm>
          <a:prstGeom prst="roundRect">
            <a:avLst>
              <a:gd name="adj" fmla="val 7742"/>
            </a:avLst>
          </a:prstGeom>
          <a:solidFill>
            <a:srgbClr val="EEF0F7"/>
          </a:solidFill>
          <a:ln w="12700">
            <a:solidFill>
              <a:srgbClr val="EEF0F7"/>
            </a:solidFill>
            <a:prstDash val="solid"/>
          </a:ln>
        </p:spPr>
      </p:sp>
      <p:sp>
        <p:nvSpPr>
          <p:cNvPr id="13" name="Text 11"/>
          <p:cNvSpPr txBox="1"/>
          <p:nvPr/>
        </p:nvSpPr>
        <p:spPr>
          <a:xfrm>
            <a:off x="7909560" y="4773168"/>
            <a:ext cx="3657600" cy="685800"/>
          </a:xfrm>
          <a:prstGeom prst="rect">
            <a:avLst/>
          </a:prstGeom>
          <a:noFill/>
          <a:ln/>
        </p:spPr>
        <p:txBody>
          <a:bodyPr wrap="square" lIns="0" tIns="0" rIns="0" bIns="0" rtlCol="0" anchor="ctr"/>
          <a:lstStyle/>
          <a:p>
            <a:pPr indent="0" marL="0">
              <a:buNone/>
            </a:pPr>
            <a:r>
              <a:rPr lang="en-US" sz="3200" b="1" dirty="0">
                <a:solidFill>
                  <a:srgbClr val="1B1F3B"/>
                </a:solidFill>
              </a:rPr>
              <a:t>1959-2020</a:t>
            </a:r>
            <a:endParaRPr lang="en-US" sz="3200" dirty="0"/>
          </a:p>
        </p:txBody>
      </p:sp>
      <p:sp>
        <p:nvSpPr>
          <p:cNvPr id="14" name="Text 12"/>
          <p:cNvSpPr txBox="1"/>
          <p:nvPr/>
        </p:nvSpPr>
        <p:spPr>
          <a:xfrm>
            <a:off x="7909560" y="5440680"/>
            <a:ext cx="3657600" cy="566928"/>
          </a:xfrm>
          <a:prstGeom prst="rect">
            <a:avLst/>
          </a:prstGeom>
          <a:noFill/>
          <a:ln/>
        </p:spPr>
        <p:txBody>
          <a:bodyPr wrap="square" lIns="0" tIns="0" rIns="0" bIns="0" rtlCol="0" anchor="t"/>
          <a:lstStyle/>
          <a:p>
            <a:pPr indent="0" marL="0">
              <a:buNone/>
            </a:pPr>
            <a:r>
              <a:rPr lang="en-US" sz="1400" dirty="0">
                <a:solidFill>
                  <a:srgbClr val="5B6178"/>
                </a:solidFill>
              </a:rPr>
              <a:t>years of trends</a:t>
            </a:r>
            <a:endParaRPr lang="en-US" sz="1400" dirty="0"/>
          </a:p>
        </p:txBody>
      </p:sp>
      <p:sp>
        <p:nvSpPr>
          <p:cNvPr id="25" name="Slide Number Placeholder 0"/>
          <p:cNvSpPr>
            <a:spLocks noGrp="1"/>
          </p:cNvSpPr>
          <p:nvPr>
            <p:ph type="sldNum" sz="quarter" idx="4294967295"/>
          </p:nvPr>
        </p:nvSpPr>
        <p:spPr>
          <a:xfrm>
            <a:off x="11247120" y="6400800"/>
            <a:ext cx="548640" cy="320040"/>
          </a:xfrm>
          <a:prstGeom prst="rect">
            <a:avLst/>
          </a:prstGeom>
          <a:extLst>
            <a:ext uri="{C572A759-6A51-4108-AA02-DFA0A04FC94B}">
              <ma14:wrappingTextBoxFlag xmlns:ma14="http://schemas.microsoft.com/office/mac/drawingml/2011/main" val="0"/>
            </a:ext>
          </a:extLst>
        </p:spPr>
        <p:txBody>
          <a:bodyPr/>
          <a:lstStyle>
            <a:lvl1pPr>
              <a:defRPr sz="1100">
                <a:solidFill>
                  <a:srgbClr val="5B6178"/>
                </a:solidFill>
                <a:latin typeface="Calibri"/>
                <a:ea typeface="Calibri"/>
                <a:cs typeface="Calibri"/>
              </a:defRPr>
            </a:lvl1pPr>
          </a:lstStyle>
          <a:p>
            <a:pPr algn="l"/>
            <a:fld id="{F7021451-1387-4CA6-816F-3879F97B5CBC}" type="slidenum">
              <a:rPr b="0"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0"/>
          <p:cNvSpPr txBox="1"/>
          <p:nvPr/>
        </p:nvSpPr>
        <p:spPr>
          <a:xfrm>
            <a:off x="457200" y="274320"/>
            <a:ext cx="10972800" cy="320040"/>
          </a:xfrm>
          <a:prstGeom prst="rect">
            <a:avLst/>
          </a:prstGeom>
          <a:noFill/>
          <a:ln/>
        </p:spPr>
        <p:txBody>
          <a:bodyPr wrap="square" lIns="0" tIns="0" rIns="0" bIns="0" rtlCol="0" anchor="ctr"/>
          <a:lstStyle/>
          <a:p>
            <a:pPr indent="0" marL="0">
              <a:buNone/>
            </a:pPr>
            <a:r>
              <a:rPr lang="en-US" sz="1300" b="1" spc="200" kern="0" dirty="0">
                <a:solidFill>
                  <a:srgbClr val="B7791F"/>
                </a:solidFill>
              </a:rPr>
              <a:t>LITERATURE SURVEY AND GAPS</a:t>
            </a:r>
            <a:endParaRPr lang="en-US" sz="1300" dirty="0"/>
          </a:p>
        </p:txBody>
      </p:sp>
      <p:sp>
        <p:nvSpPr>
          <p:cNvPr id="3" name="Text 1"/>
          <p:cNvSpPr txBox="1"/>
          <p:nvPr/>
        </p:nvSpPr>
        <p:spPr>
          <a:xfrm>
            <a:off x="457200" y="566928"/>
            <a:ext cx="11247120" cy="777240"/>
          </a:xfrm>
          <a:prstGeom prst="rect">
            <a:avLst/>
          </a:prstGeom>
          <a:noFill/>
          <a:ln/>
        </p:spPr>
        <p:txBody>
          <a:bodyPr wrap="square" lIns="0" tIns="0" rIns="0" bIns="0" rtlCol="0" anchor="t"/>
          <a:lstStyle/>
          <a:p>
            <a:pPr indent="0" marL="0">
              <a:buNone/>
            </a:pPr>
            <a:r>
              <a:rPr lang="en-US" sz="3000" b="1" dirty="0">
                <a:solidFill>
                  <a:srgbClr val="1B1F3B"/>
                </a:solidFill>
              </a:rPr>
              <a:t>Prior work is static and studies sound and words apart</a:t>
            </a:r>
            <a:endParaRPr lang="en-US" sz="3000" dirty="0"/>
          </a:p>
        </p:txBody>
      </p:sp>
      <p:graphicFrame>
        <p:nvGraphicFramePr>
          <p:cNvPr id="4" name="Table 0"/>
          <p:cNvGraphicFramePr>
            <a:graphicFrameLocks noGrp="1"/>
          </p:cNvGraphicFramePr>
          <p:nvPr>
            <p:extLst>
              <p:ext uri="{D42A27DB-BD31-4B8C-83A1-F6EECF244321}">
                <p14:modId xmlns:p14="http://schemas.microsoft.com/office/powerpoint/2010/main" val="1579011935"/>
              </p:ext>
            </p:extLst>
          </p:nvPr>
        </p:nvGraphicFramePr>
        <p:xfrm>
          <a:off x="457200" y="1554480"/>
          <a:ext cx="11247120" cy="914400"/>
        </p:xfrm>
        <a:graphic>
          <a:graphicData uri="http://schemas.openxmlformats.org/drawingml/2006/table">
            <a:tbl>
              <a:tblPr/>
              <a:tblGrid>
                <a:gridCol w="2651760"/>
                <a:gridCol w="4572000"/>
                <a:gridCol w="4023360"/>
              </a:tblGrid>
              <a:tr h="0">
                <a:tc>
                  <a:txBody>
                    <a:bodyPr/>
                    <a:lstStyle/>
                    <a:p>
                      <a:pPr indent="0" marL="0">
                        <a:buNone/>
                      </a:pPr>
                      <a:r>
                        <a:rPr lang="en-US" sz="1500" b="1" dirty="0">
                          <a:solidFill>
                            <a:srgbClr val="FFFFFF"/>
                          </a:solidFill>
                          <a:latin typeface="Calibri" pitchFamily="34" charset="0"/>
                          <a:ea typeface="Calibri" pitchFamily="34" charset="-122"/>
                          <a:cs typeface="Calibri" pitchFamily="34" charset="-120"/>
                        </a:rPr>
                        <a:t>Study</a:t>
                      </a:r>
                      <a:endParaRPr lang="en-US" sz="1500" dirty="0">
                        <a:latin typeface="Calibri" charset="0"/>
                        <a:ea typeface="Calibri" charset="0"/>
                        <a:cs typeface="Calibri" charset="0"/>
                      </a:endParaRPr>
                    </a:p>
                  </a:txBody>
                  <a:tcPr marL="45720" marR="45720" marT="45720" marB="45720" anchor="ctr">
                    <a:lnL w="6350" cap="flat" cmpd="sng" algn="ctr">
                      <a:solidFill>
                        <a:srgbClr val="C9CDDB"/>
                      </a:solidFill>
                      <a:prstDash val="solid"/>
                      <a:round/>
                      <a:headEnd type="none" w="med" len="med"/>
                      <a:tailEnd type="none" w="med" len="med"/>
                    </a:lnL>
                    <a:lnR w="6350" cap="flat" cmpd="sng" algn="ctr">
                      <a:solidFill>
                        <a:srgbClr val="C9CDDB"/>
                      </a:solidFill>
                      <a:prstDash val="solid"/>
                      <a:round/>
                      <a:headEnd type="none" w="med" len="med"/>
                      <a:tailEnd type="none" w="med" len="med"/>
                    </a:lnR>
                    <a:lnT w="6350" cap="flat" cmpd="sng" algn="ctr">
                      <a:solidFill>
                        <a:srgbClr val="C9CDDB"/>
                      </a:solidFill>
                      <a:prstDash val="solid"/>
                      <a:round/>
                      <a:headEnd type="none" w="med" len="med"/>
                      <a:tailEnd type="none" w="med" len="med"/>
                    </a:lnT>
                    <a:lnB w="6350" cap="flat" cmpd="sng" algn="ctr">
                      <a:solidFill>
                        <a:srgbClr val="C9CDDB"/>
                      </a:solidFill>
                      <a:prstDash val="solid"/>
                      <a:round/>
                      <a:headEnd type="none" w="med" len="med"/>
                      <a:tailEnd type="none" w="med" len="med"/>
                    </a:lnB>
                    <a:solidFill>
                      <a:srgbClr val="1B1F3B"/>
                    </a:solidFill>
                  </a:tcPr>
                </a:tc>
                <a:tc>
                  <a:txBody>
                    <a:bodyPr/>
                    <a:lstStyle/>
                    <a:p>
                      <a:pPr indent="0" marL="0">
                        <a:buNone/>
                      </a:pPr>
                      <a:r>
                        <a:rPr lang="en-US" sz="1500" b="1" dirty="0">
                          <a:solidFill>
                            <a:srgbClr val="FFFFFF"/>
                          </a:solidFill>
                          <a:latin typeface="Calibri" pitchFamily="34" charset="0"/>
                          <a:ea typeface="Calibri" pitchFamily="34" charset="-122"/>
                          <a:cs typeface="Calibri" pitchFamily="34" charset="-120"/>
                        </a:rPr>
                        <a:t>What they did</a:t>
                      </a:r>
                      <a:endParaRPr lang="en-US" sz="1500" dirty="0">
                        <a:latin typeface="Calibri" charset="0"/>
                        <a:ea typeface="Calibri" charset="0"/>
                        <a:cs typeface="Calibri" charset="0"/>
                      </a:endParaRPr>
                    </a:p>
                  </a:txBody>
                  <a:tcPr marL="45720" marR="45720" marT="45720" marB="45720" anchor="ctr">
                    <a:lnL w="6350" cap="flat" cmpd="sng" algn="ctr">
                      <a:solidFill>
                        <a:srgbClr val="C9CDDB"/>
                      </a:solidFill>
                      <a:prstDash val="solid"/>
                      <a:round/>
                      <a:headEnd type="none" w="med" len="med"/>
                      <a:tailEnd type="none" w="med" len="med"/>
                    </a:lnL>
                    <a:lnR w="6350" cap="flat" cmpd="sng" algn="ctr">
                      <a:solidFill>
                        <a:srgbClr val="C9CDDB"/>
                      </a:solidFill>
                      <a:prstDash val="solid"/>
                      <a:round/>
                      <a:headEnd type="none" w="med" len="med"/>
                      <a:tailEnd type="none" w="med" len="med"/>
                    </a:lnR>
                    <a:lnT w="6350" cap="flat" cmpd="sng" algn="ctr">
                      <a:solidFill>
                        <a:srgbClr val="C9CDDB"/>
                      </a:solidFill>
                      <a:prstDash val="solid"/>
                      <a:round/>
                      <a:headEnd type="none" w="med" len="med"/>
                      <a:tailEnd type="none" w="med" len="med"/>
                    </a:lnT>
                    <a:lnB w="6350" cap="flat" cmpd="sng" algn="ctr">
                      <a:solidFill>
                        <a:srgbClr val="C9CDDB"/>
                      </a:solidFill>
                      <a:prstDash val="solid"/>
                      <a:round/>
                      <a:headEnd type="none" w="med" len="med"/>
                      <a:tailEnd type="none" w="med" len="med"/>
                    </a:lnB>
                    <a:solidFill>
                      <a:srgbClr val="1B1F3B"/>
                    </a:solidFill>
                  </a:tcPr>
                </a:tc>
                <a:tc>
                  <a:txBody>
                    <a:bodyPr/>
                    <a:lstStyle/>
                    <a:p>
                      <a:pPr indent="0" marL="0">
                        <a:buNone/>
                      </a:pPr>
                      <a:r>
                        <a:rPr lang="en-US" sz="1500" b="1" dirty="0">
                          <a:solidFill>
                            <a:srgbClr val="FFFFFF"/>
                          </a:solidFill>
                          <a:latin typeface="Calibri" pitchFamily="34" charset="0"/>
                          <a:ea typeface="Calibri" pitchFamily="34" charset="-122"/>
                          <a:cs typeface="Calibri" pitchFamily="34" charset="-120"/>
                        </a:rPr>
                        <a:t>Gap SonicAtlas addresses</a:t>
                      </a:r>
                      <a:endParaRPr lang="en-US" sz="1500" dirty="0">
                        <a:latin typeface="Calibri" charset="0"/>
                        <a:ea typeface="Calibri" charset="0"/>
                        <a:cs typeface="Calibri" charset="0"/>
                      </a:endParaRPr>
                    </a:p>
                  </a:txBody>
                  <a:tcPr marL="45720" marR="45720" marT="45720" marB="45720" anchor="ctr">
                    <a:lnL w="6350" cap="flat" cmpd="sng" algn="ctr">
                      <a:solidFill>
                        <a:srgbClr val="C9CDDB"/>
                      </a:solidFill>
                      <a:prstDash val="solid"/>
                      <a:round/>
                      <a:headEnd type="none" w="med" len="med"/>
                      <a:tailEnd type="none" w="med" len="med"/>
                    </a:lnL>
                    <a:lnR w="6350" cap="flat" cmpd="sng" algn="ctr">
                      <a:solidFill>
                        <a:srgbClr val="C9CDDB"/>
                      </a:solidFill>
                      <a:prstDash val="solid"/>
                      <a:round/>
                      <a:headEnd type="none" w="med" len="med"/>
                      <a:tailEnd type="none" w="med" len="med"/>
                    </a:lnR>
                    <a:lnT w="6350" cap="flat" cmpd="sng" algn="ctr">
                      <a:solidFill>
                        <a:srgbClr val="C9CDDB"/>
                      </a:solidFill>
                      <a:prstDash val="solid"/>
                      <a:round/>
                      <a:headEnd type="none" w="med" len="med"/>
                      <a:tailEnd type="none" w="med" len="med"/>
                    </a:lnT>
                    <a:lnB w="6350" cap="flat" cmpd="sng" algn="ctr">
                      <a:solidFill>
                        <a:srgbClr val="C9CDDB"/>
                      </a:solidFill>
                      <a:prstDash val="solid"/>
                      <a:round/>
                      <a:headEnd type="none" w="med" len="med"/>
                      <a:tailEnd type="none" w="med" len="med"/>
                    </a:lnB>
                    <a:solidFill>
                      <a:srgbClr val="1B1F3B"/>
                    </a:solidFill>
                  </a:tcPr>
                </a:tc>
              </a:tr>
              <a:tr h="0">
                <a:tc>
                  <a:txBody>
                    <a:bodyPr/>
                    <a:lstStyle/>
                    <a:p>
                      <a:pPr indent="0" marL="0">
                        <a:buNone/>
                      </a:pPr>
                      <a:r>
                        <a:rPr lang="en-US" sz="1500" dirty="0">
                          <a:solidFill>
                            <a:srgbClr val="1B1F3B"/>
                          </a:solidFill>
                          <a:latin typeface="Calibri" pitchFamily="34" charset="0"/>
                          <a:ea typeface="Calibri" pitchFamily="34" charset="-122"/>
                          <a:cs typeface="Calibri" pitchFamily="34" charset="-120"/>
                        </a:rPr>
                        <a:t>J. Serrà et al. (2012)</a:t>
                      </a:r>
                      <a:endParaRPr lang="en-US" sz="1500" dirty="0">
                        <a:latin typeface="Calibri" charset="0"/>
                        <a:ea typeface="Calibri" charset="0"/>
                        <a:cs typeface="Calibri" charset="0"/>
                      </a:endParaRPr>
                    </a:p>
                  </a:txBody>
                  <a:tcPr marL="45720" marR="45720" marT="45720" marB="45720" anchor="ctr">
                    <a:lnL w="6350" cap="flat" cmpd="sng" algn="ctr">
                      <a:solidFill>
                        <a:srgbClr val="C9CDDB"/>
                      </a:solidFill>
                      <a:prstDash val="solid"/>
                      <a:round/>
                      <a:headEnd type="none" w="med" len="med"/>
                      <a:tailEnd type="none" w="med" len="med"/>
                    </a:lnL>
                    <a:lnR w="6350" cap="flat" cmpd="sng" algn="ctr">
                      <a:solidFill>
                        <a:srgbClr val="C9CDDB"/>
                      </a:solidFill>
                      <a:prstDash val="solid"/>
                      <a:round/>
                      <a:headEnd type="none" w="med" len="med"/>
                      <a:tailEnd type="none" w="med" len="med"/>
                    </a:lnR>
                    <a:lnT w="6350" cap="flat" cmpd="sng" algn="ctr">
                      <a:solidFill>
                        <a:srgbClr val="C9CDDB"/>
                      </a:solidFill>
                      <a:prstDash val="solid"/>
                      <a:round/>
                      <a:headEnd type="none" w="med" len="med"/>
                      <a:tailEnd type="none" w="med" len="med"/>
                    </a:lnT>
                    <a:lnB w="6350" cap="flat" cmpd="sng" algn="ctr">
                      <a:solidFill>
                        <a:srgbClr val="C9CDDB"/>
                      </a:solidFill>
                      <a:prstDash val="solid"/>
                      <a:round/>
                      <a:headEnd type="none" w="med" len="med"/>
                      <a:tailEnd type="none" w="med" len="med"/>
                    </a:lnB>
                    <a:solidFill>
                      <a:srgbClr val="EEF0F7"/>
                    </a:solidFill>
                  </a:tcPr>
                </a:tc>
                <a:tc>
                  <a:txBody>
                    <a:bodyPr/>
                    <a:lstStyle/>
                    <a:p>
                      <a:pPr indent="0" marL="0">
                        <a:buNone/>
                      </a:pPr>
                      <a:r>
                        <a:rPr lang="en-US" sz="1500" dirty="0">
                          <a:solidFill>
                            <a:srgbClr val="1B1F3B"/>
                          </a:solidFill>
                          <a:latin typeface="Calibri" pitchFamily="34" charset="0"/>
                          <a:ea typeface="Calibri" pitchFamily="34" charset="-122"/>
                          <a:cs typeface="Calibri" pitchFamily="34" charset="-120"/>
                        </a:rPr>
                        <a:t>Tracked pitch, timbre and loudness of Western pop over 50+ years</a:t>
                      </a:r>
                      <a:endParaRPr lang="en-US" sz="1500" dirty="0">
                        <a:latin typeface="Calibri" charset="0"/>
                        <a:ea typeface="Calibri" charset="0"/>
                        <a:cs typeface="Calibri" charset="0"/>
                      </a:endParaRPr>
                    </a:p>
                  </a:txBody>
                  <a:tcPr marL="45720" marR="45720" marT="45720" marB="45720" anchor="ctr">
                    <a:lnL w="6350" cap="flat" cmpd="sng" algn="ctr">
                      <a:solidFill>
                        <a:srgbClr val="C9CDDB"/>
                      </a:solidFill>
                      <a:prstDash val="solid"/>
                      <a:round/>
                      <a:headEnd type="none" w="med" len="med"/>
                      <a:tailEnd type="none" w="med" len="med"/>
                    </a:lnL>
                    <a:lnR w="6350" cap="flat" cmpd="sng" algn="ctr">
                      <a:solidFill>
                        <a:srgbClr val="C9CDDB"/>
                      </a:solidFill>
                      <a:prstDash val="solid"/>
                      <a:round/>
                      <a:headEnd type="none" w="med" len="med"/>
                      <a:tailEnd type="none" w="med" len="med"/>
                    </a:lnR>
                    <a:lnT w="6350" cap="flat" cmpd="sng" algn="ctr">
                      <a:solidFill>
                        <a:srgbClr val="C9CDDB"/>
                      </a:solidFill>
                      <a:prstDash val="solid"/>
                      <a:round/>
                      <a:headEnd type="none" w="med" len="med"/>
                      <a:tailEnd type="none" w="med" len="med"/>
                    </a:lnT>
                    <a:lnB w="6350" cap="flat" cmpd="sng" algn="ctr">
                      <a:solidFill>
                        <a:srgbClr val="C9CDDB"/>
                      </a:solidFill>
                      <a:prstDash val="solid"/>
                      <a:round/>
                      <a:headEnd type="none" w="med" len="med"/>
                      <a:tailEnd type="none" w="med" len="med"/>
                    </a:lnB>
                    <a:solidFill>
                      <a:srgbClr val="EEF0F7"/>
                    </a:solidFill>
                  </a:tcPr>
                </a:tc>
                <a:tc>
                  <a:txBody>
                    <a:bodyPr/>
                    <a:lstStyle/>
                    <a:p>
                      <a:pPr indent="0" marL="0">
                        <a:buNone/>
                      </a:pPr>
                      <a:r>
                        <a:rPr lang="en-US" sz="1500" dirty="0">
                          <a:solidFill>
                            <a:srgbClr val="1B1F3B"/>
                          </a:solidFill>
                          <a:latin typeface="Calibri" pitchFamily="34" charset="0"/>
                          <a:ea typeface="Calibri" pitchFamily="34" charset="-122"/>
                          <a:cs typeface="Calibri" pitchFamily="34" charset="-120"/>
                        </a:rPr>
                        <a:t>Static figures; no genre-level or interactive view</a:t>
                      </a:r>
                      <a:endParaRPr lang="en-US" sz="1500" dirty="0">
                        <a:latin typeface="Calibri" charset="0"/>
                        <a:ea typeface="Calibri" charset="0"/>
                        <a:cs typeface="Calibri" charset="0"/>
                      </a:endParaRPr>
                    </a:p>
                  </a:txBody>
                  <a:tcPr marL="45720" marR="45720" marT="45720" marB="45720" anchor="ctr">
                    <a:lnL w="6350" cap="flat" cmpd="sng" algn="ctr">
                      <a:solidFill>
                        <a:srgbClr val="C9CDDB"/>
                      </a:solidFill>
                      <a:prstDash val="solid"/>
                      <a:round/>
                      <a:headEnd type="none" w="med" len="med"/>
                      <a:tailEnd type="none" w="med" len="med"/>
                    </a:lnL>
                    <a:lnR w="6350" cap="flat" cmpd="sng" algn="ctr">
                      <a:solidFill>
                        <a:srgbClr val="C9CDDB"/>
                      </a:solidFill>
                      <a:prstDash val="solid"/>
                      <a:round/>
                      <a:headEnd type="none" w="med" len="med"/>
                      <a:tailEnd type="none" w="med" len="med"/>
                    </a:lnR>
                    <a:lnT w="6350" cap="flat" cmpd="sng" algn="ctr">
                      <a:solidFill>
                        <a:srgbClr val="C9CDDB"/>
                      </a:solidFill>
                      <a:prstDash val="solid"/>
                      <a:round/>
                      <a:headEnd type="none" w="med" len="med"/>
                      <a:tailEnd type="none" w="med" len="med"/>
                    </a:lnT>
                    <a:lnB w="6350" cap="flat" cmpd="sng" algn="ctr">
                      <a:solidFill>
                        <a:srgbClr val="C9CDDB"/>
                      </a:solidFill>
                      <a:prstDash val="solid"/>
                      <a:round/>
                      <a:headEnd type="none" w="med" len="med"/>
                      <a:tailEnd type="none" w="med" len="med"/>
                    </a:lnB>
                    <a:solidFill>
                      <a:srgbClr val="EEF0F7"/>
                    </a:solidFill>
                  </a:tcPr>
                </a:tc>
              </a:tr>
              <a:tr h="0">
                <a:tc>
                  <a:txBody>
                    <a:bodyPr/>
                    <a:lstStyle/>
                    <a:p>
                      <a:pPr indent="0" marL="0">
                        <a:buNone/>
                      </a:pPr>
                      <a:r>
                        <a:rPr lang="en-US" sz="1500" dirty="0">
                          <a:solidFill>
                            <a:srgbClr val="1B1F3B"/>
                          </a:solidFill>
                          <a:latin typeface="Calibri" pitchFamily="34" charset="0"/>
                          <a:ea typeface="Calibri" pitchFamily="34" charset="-122"/>
                          <a:cs typeface="Calibri" pitchFamily="34" charset="-120"/>
                        </a:rPr>
                        <a:t>M. Interiano et al. (2018)</a:t>
                      </a:r>
                      <a:endParaRPr lang="en-US" sz="1500" dirty="0">
                        <a:latin typeface="Calibri" charset="0"/>
                        <a:ea typeface="Calibri" charset="0"/>
                        <a:cs typeface="Calibri" charset="0"/>
                      </a:endParaRPr>
                    </a:p>
                  </a:txBody>
                  <a:tcPr marL="45720" marR="45720" marT="45720" marB="45720" anchor="ctr">
                    <a:lnL w="6350" cap="flat" cmpd="sng" algn="ctr">
                      <a:solidFill>
                        <a:srgbClr val="C9CDDB"/>
                      </a:solidFill>
                      <a:prstDash val="solid"/>
                      <a:round/>
                      <a:headEnd type="none" w="med" len="med"/>
                      <a:tailEnd type="none" w="med" len="med"/>
                    </a:lnL>
                    <a:lnR w="6350" cap="flat" cmpd="sng" algn="ctr">
                      <a:solidFill>
                        <a:srgbClr val="C9CDDB"/>
                      </a:solidFill>
                      <a:prstDash val="solid"/>
                      <a:round/>
                      <a:headEnd type="none" w="med" len="med"/>
                      <a:tailEnd type="none" w="med" len="med"/>
                    </a:lnR>
                    <a:lnT w="6350" cap="flat" cmpd="sng" algn="ctr">
                      <a:solidFill>
                        <a:srgbClr val="C9CDDB"/>
                      </a:solidFill>
                      <a:prstDash val="solid"/>
                      <a:round/>
                      <a:headEnd type="none" w="med" len="med"/>
                      <a:tailEnd type="none" w="med" len="med"/>
                    </a:lnT>
                    <a:lnB w="6350" cap="flat" cmpd="sng" algn="ctr">
                      <a:solidFill>
                        <a:srgbClr val="C9CDDB"/>
                      </a:solidFill>
                      <a:prstDash val="solid"/>
                      <a:round/>
                      <a:headEnd type="none" w="med" len="med"/>
                      <a:tailEnd type="none" w="med" len="med"/>
                    </a:lnB>
                    <a:solidFill>
                      <a:srgbClr val="FFFFFF"/>
                    </a:solidFill>
                  </a:tcPr>
                </a:tc>
                <a:tc>
                  <a:txBody>
                    <a:bodyPr/>
                    <a:lstStyle/>
                    <a:p>
                      <a:pPr indent="0" marL="0">
                        <a:buNone/>
                      </a:pPr>
                      <a:r>
                        <a:rPr lang="en-US" sz="1500" dirty="0">
                          <a:solidFill>
                            <a:srgbClr val="1B1F3B"/>
                          </a:solidFill>
                          <a:latin typeface="Calibri" pitchFamily="34" charset="0"/>
                          <a:ea typeface="Calibri" pitchFamily="34" charset="-122"/>
                          <a:cs typeface="Calibri" pitchFamily="34" charset="-120"/>
                        </a:rPr>
                        <a:t>Linked audio features of 500k UK releases to chart success</a:t>
                      </a:r>
                      <a:endParaRPr lang="en-US" sz="1500" dirty="0">
                        <a:latin typeface="Calibri" charset="0"/>
                        <a:ea typeface="Calibri" charset="0"/>
                        <a:cs typeface="Calibri" charset="0"/>
                      </a:endParaRPr>
                    </a:p>
                  </a:txBody>
                  <a:tcPr marL="45720" marR="45720" marT="45720" marB="45720" anchor="ctr">
                    <a:lnL w="6350" cap="flat" cmpd="sng" algn="ctr">
                      <a:solidFill>
                        <a:srgbClr val="C9CDDB"/>
                      </a:solidFill>
                      <a:prstDash val="solid"/>
                      <a:round/>
                      <a:headEnd type="none" w="med" len="med"/>
                      <a:tailEnd type="none" w="med" len="med"/>
                    </a:lnL>
                    <a:lnR w="6350" cap="flat" cmpd="sng" algn="ctr">
                      <a:solidFill>
                        <a:srgbClr val="C9CDDB"/>
                      </a:solidFill>
                      <a:prstDash val="solid"/>
                      <a:round/>
                      <a:headEnd type="none" w="med" len="med"/>
                      <a:tailEnd type="none" w="med" len="med"/>
                    </a:lnR>
                    <a:lnT w="6350" cap="flat" cmpd="sng" algn="ctr">
                      <a:solidFill>
                        <a:srgbClr val="C9CDDB"/>
                      </a:solidFill>
                      <a:prstDash val="solid"/>
                      <a:round/>
                      <a:headEnd type="none" w="med" len="med"/>
                      <a:tailEnd type="none" w="med" len="med"/>
                    </a:lnT>
                    <a:lnB w="6350" cap="flat" cmpd="sng" algn="ctr">
                      <a:solidFill>
                        <a:srgbClr val="C9CDDB"/>
                      </a:solidFill>
                      <a:prstDash val="solid"/>
                      <a:round/>
                      <a:headEnd type="none" w="med" len="med"/>
                      <a:tailEnd type="none" w="med" len="med"/>
                    </a:lnB>
                    <a:solidFill>
                      <a:srgbClr val="FFFFFF"/>
                    </a:solidFill>
                  </a:tcPr>
                </a:tc>
                <a:tc>
                  <a:txBody>
                    <a:bodyPr/>
                    <a:lstStyle/>
                    <a:p>
                      <a:pPr indent="0" marL="0">
                        <a:buNone/>
                      </a:pPr>
                      <a:r>
                        <a:rPr lang="en-US" sz="1500" dirty="0">
                          <a:solidFill>
                            <a:srgbClr val="1B1F3B"/>
                          </a:solidFill>
                          <a:latin typeface="Calibri" pitchFamily="34" charset="0"/>
                          <a:ea typeface="Calibri" pitchFamily="34" charset="-122"/>
                          <a:cs typeface="Calibri" pitchFamily="34" charset="-120"/>
                        </a:rPr>
                        <a:t>No lyrics; results cannot be re-sliced by readers</a:t>
                      </a:r>
                      <a:endParaRPr lang="en-US" sz="1500" dirty="0">
                        <a:latin typeface="Calibri" charset="0"/>
                        <a:ea typeface="Calibri" charset="0"/>
                        <a:cs typeface="Calibri" charset="0"/>
                      </a:endParaRPr>
                    </a:p>
                  </a:txBody>
                  <a:tcPr marL="45720" marR="45720" marT="45720" marB="45720" anchor="ctr">
                    <a:lnL w="6350" cap="flat" cmpd="sng" algn="ctr">
                      <a:solidFill>
                        <a:srgbClr val="C9CDDB"/>
                      </a:solidFill>
                      <a:prstDash val="solid"/>
                      <a:round/>
                      <a:headEnd type="none" w="med" len="med"/>
                      <a:tailEnd type="none" w="med" len="med"/>
                    </a:lnL>
                    <a:lnR w="6350" cap="flat" cmpd="sng" algn="ctr">
                      <a:solidFill>
                        <a:srgbClr val="C9CDDB"/>
                      </a:solidFill>
                      <a:prstDash val="solid"/>
                      <a:round/>
                      <a:headEnd type="none" w="med" len="med"/>
                      <a:tailEnd type="none" w="med" len="med"/>
                    </a:lnR>
                    <a:lnT w="6350" cap="flat" cmpd="sng" algn="ctr">
                      <a:solidFill>
                        <a:srgbClr val="C9CDDB"/>
                      </a:solidFill>
                      <a:prstDash val="solid"/>
                      <a:round/>
                      <a:headEnd type="none" w="med" len="med"/>
                      <a:tailEnd type="none" w="med" len="med"/>
                    </a:lnT>
                    <a:lnB w="6350" cap="flat" cmpd="sng" algn="ctr">
                      <a:solidFill>
                        <a:srgbClr val="C9CDDB"/>
                      </a:solidFill>
                      <a:prstDash val="solid"/>
                      <a:round/>
                      <a:headEnd type="none" w="med" len="med"/>
                      <a:tailEnd type="none" w="med" len="med"/>
                    </a:lnB>
                    <a:solidFill>
                      <a:srgbClr val="FFFFFF"/>
                    </a:solidFill>
                  </a:tcPr>
                </a:tc>
              </a:tr>
              <a:tr h="0">
                <a:tc>
                  <a:txBody>
                    <a:bodyPr/>
                    <a:lstStyle/>
                    <a:p>
                      <a:pPr indent="0" marL="0">
                        <a:buNone/>
                      </a:pPr>
                      <a:r>
                        <a:rPr lang="en-US" sz="1500" dirty="0">
                          <a:solidFill>
                            <a:srgbClr val="1B1F3B"/>
                          </a:solidFill>
                          <a:latin typeface="Calibri" pitchFamily="34" charset="0"/>
                          <a:ea typeface="Calibri" pitchFamily="34" charset="-122"/>
                          <a:cs typeface="Calibri" pitchFamily="34" charset="-120"/>
                        </a:rPr>
                        <a:t>C. O. Brand et al. (2019)</a:t>
                      </a:r>
                      <a:endParaRPr lang="en-US" sz="1500" dirty="0">
                        <a:latin typeface="Calibri" charset="0"/>
                        <a:ea typeface="Calibri" charset="0"/>
                        <a:cs typeface="Calibri" charset="0"/>
                      </a:endParaRPr>
                    </a:p>
                  </a:txBody>
                  <a:tcPr marL="45720" marR="45720" marT="45720" marB="45720" anchor="ctr">
                    <a:lnL w="6350" cap="flat" cmpd="sng" algn="ctr">
                      <a:solidFill>
                        <a:srgbClr val="C9CDDB"/>
                      </a:solidFill>
                      <a:prstDash val="solid"/>
                      <a:round/>
                      <a:headEnd type="none" w="med" len="med"/>
                      <a:tailEnd type="none" w="med" len="med"/>
                    </a:lnL>
                    <a:lnR w="6350" cap="flat" cmpd="sng" algn="ctr">
                      <a:solidFill>
                        <a:srgbClr val="C9CDDB"/>
                      </a:solidFill>
                      <a:prstDash val="solid"/>
                      <a:round/>
                      <a:headEnd type="none" w="med" len="med"/>
                      <a:tailEnd type="none" w="med" len="med"/>
                    </a:lnR>
                    <a:lnT w="6350" cap="flat" cmpd="sng" algn="ctr">
                      <a:solidFill>
                        <a:srgbClr val="C9CDDB"/>
                      </a:solidFill>
                      <a:prstDash val="solid"/>
                      <a:round/>
                      <a:headEnd type="none" w="med" len="med"/>
                      <a:tailEnd type="none" w="med" len="med"/>
                    </a:lnT>
                    <a:lnB w="6350" cap="flat" cmpd="sng" algn="ctr">
                      <a:solidFill>
                        <a:srgbClr val="C9CDDB"/>
                      </a:solidFill>
                      <a:prstDash val="solid"/>
                      <a:round/>
                      <a:headEnd type="none" w="med" len="med"/>
                      <a:tailEnd type="none" w="med" len="med"/>
                    </a:lnB>
                    <a:solidFill>
                      <a:srgbClr val="EEF0F7"/>
                    </a:solidFill>
                  </a:tcPr>
                </a:tc>
                <a:tc>
                  <a:txBody>
                    <a:bodyPr/>
                    <a:lstStyle/>
                    <a:p>
                      <a:pPr indent="0" marL="0">
                        <a:buNone/>
                      </a:pPr>
                      <a:r>
                        <a:rPr lang="en-US" sz="1500" dirty="0">
                          <a:solidFill>
                            <a:srgbClr val="1B1F3B"/>
                          </a:solidFill>
                          <a:latin typeface="Calibri" pitchFamily="34" charset="0"/>
                          <a:ea typeface="Calibri" pitchFamily="34" charset="-122"/>
                          <a:cs typeface="Calibri" pitchFamily="34" charset="-120"/>
                        </a:rPr>
                        <a:t>Measured rising negativity in song lyrics over 50 years</a:t>
                      </a:r>
                      <a:endParaRPr lang="en-US" sz="1500" dirty="0">
                        <a:latin typeface="Calibri" charset="0"/>
                        <a:ea typeface="Calibri" charset="0"/>
                        <a:cs typeface="Calibri" charset="0"/>
                      </a:endParaRPr>
                    </a:p>
                  </a:txBody>
                  <a:tcPr marL="45720" marR="45720" marT="45720" marB="45720" anchor="ctr">
                    <a:lnL w="6350" cap="flat" cmpd="sng" algn="ctr">
                      <a:solidFill>
                        <a:srgbClr val="C9CDDB"/>
                      </a:solidFill>
                      <a:prstDash val="solid"/>
                      <a:round/>
                      <a:headEnd type="none" w="med" len="med"/>
                      <a:tailEnd type="none" w="med" len="med"/>
                    </a:lnL>
                    <a:lnR w="6350" cap="flat" cmpd="sng" algn="ctr">
                      <a:solidFill>
                        <a:srgbClr val="C9CDDB"/>
                      </a:solidFill>
                      <a:prstDash val="solid"/>
                      <a:round/>
                      <a:headEnd type="none" w="med" len="med"/>
                      <a:tailEnd type="none" w="med" len="med"/>
                    </a:lnR>
                    <a:lnT w="6350" cap="flat" cmpd="sng" algn="ctr">
                      <a:solidFill>
                        <a:srgbClr val="C9CDDB"/>
                      </a:solidFill>
                      <a:prstDash val="solid"/>
                      <a:round/>
                      <a:headEnd type="none" w="med" len="med"/>
                      <a:tailEnd type="none" w="med" len="med"/>
                    </a:lnT>
                    <a:lnB w="6350" cap="flat" cmpd="sng" algn="ctr">
                      <a:solidFill>
                        <a:srgbClr val="C9CDDB"/>
                      </a:solidFill>
                      <a:prstDash val="solid"/>
                      <a:round/>
                      <a:headEnd type="none" w="med" len="med"/>
                      <a:tailEnd type="none" w="med" len="med"/>
                    </a:lnB>
                    <a:solidFill>
                      <a:srgbClr val="EEF0F7"/>
                    </a:solidFill>
                  </a:tcPr>
                </a:tc>
                <a:tc>
                  <a:txBody>
                    <a:bodyPr/>
                    <a:lstStyle/>
                    <a:p>
                      <a:pPr indent="0" marL="0">
                        <a:buNone/>
                      </a:pPr>
                      <a:r>
                        <a:rPr lang="en-US" sz="1500" dirty="0">
                          <a:solidFill>
                            <a:srgbClr val="1B1F3B"/>
                          </a:solidFill>
                          <a:latin typeface="Calibri" pitchFamily="34" charset="0"/>
                          <a:ea typeface="Calibri" pitchFamily="34" charset="-122"/>
                          <a:cs typeface="Calibri" pitchFamily="34" charset="-120"/>
                        </a:rPr>
                        <a:t>Lyrics only; audio mood not compared</a:t>
                      </a:r>
                      <a:endParaRPr lang="en-US" sz="1500" dirty="0">
                        <a:latin typeface="Calibri" charset="0"/>
                        <a:ea typeface="Calibri" charset="0"/>
                        <a:cs typeface="Calibri" charset="0"/>
                      </a:endParaRPr>
                    </a:p>
                  </a:txBody>
                  <a:tcPr marL="45720" marR="45720" marT="45720" marB="45720" anchor="ctr">
                    <a:lnL w="6350" cap="flat" cmpd="sng" algn="ctr">
                      <a:solidFill>
                        <a:srgbClr val="C9CDDB"/>
                      </a:solidFill>
                      <a:prstDash val="solid"/>
                      <a:round/>
                      <a:headEnd type="none" w="med" len="med"/>
                      <a:tailEnd type="none" w="med" len="med"/>
                    </a:lnL>
                    <a:lnR w="6350" cap="flat" cmpd="sng" algn="ctr">
                      <a:solidFill>
                        <a:srgbClr val="C9CDDB"/>
                      </a:solidFill>
                      <a:prstDash val="solid"/>
                      <a:round/>
                      <a:headEnd type="none" w="med" len="med"/>
                      <a:tailEnd type="none" w="med" len="med"/>
                    </a:lnR>
                    <a:lnT w="6350" cap="flat" cmpd="sng" algn="ctr">
                      <a:solidFill>
                        <a:srgbClr val="C9CDDB"/>
                      </a:solidFill>
                      <a:prstDash val="solid"/>
                      <a:round/>
                      <a:headEnd type="none" w="med" len="med"/>
                      <a:tailEnd type="none" w="med" len="med"/>
                    </a:lnT>
                    <a:lnB w="6350" cap="flat" cmpd="sng" algn="ctr">
                      <a:solidFill>
                        <a:srgbClr val="C9CDDB"/>
                      </a:solidFill>
                      <a:prstDash val="solid"/>
                      <a:round/>
                      <a:headEnd type="none" w="med" len="med"/>
                      <a:tailEnd type="none" w="med" len="med"/>
                    </a:lnB>
                    <a:solidFill>
                      <a:srgbClr val="EEF0F7"/>
                    </a:solidFill>
                  </a:tcPr>
                </a:tc>
              </a:tr>
              <a:tr h="0">
                <a:tc>
                  <a:txBody>
                    <a:bodyPr/>
                    <a:lstStyle/>
                    <a:p>
                      <a:pPr indent="0" marL="0">
                        <a:buNone/>
                      </a:pPr>
                      <a:r>
                        <a:rPr lang="en-US" sz="1500" dirty="0">
                          <a:solidFill>
                            <a:srgbClr val="1B1F3B"/>
                          </a:solidFill>
                          <a:latin typeface="Calibri" pitchFamily="34" charset="0"/>
                          <a:ea typeface="Calibri" pitchFamily="34" charset="-122"/>
                          <a:cs typeface="Calibri" pitchFamily="34" charset="-120"/>
                        </a:rPr>
                        <a:t>L. van der Maaten et al. (2008)</a:t>
                      </a:r>
                      <a:endParaRPr lang="en-US" sz="1500" dirty="0">
                        <a:latin typeface="Calibri" charset="0"/>
                        <a:ea typeface="Calibri" charset="0"/>
                        <a:cs typeface="Calibri" charset="0"/>
                      </a:endParaRPr>
                    </a:p>
                  </a:txBody>
                  <a:tcPr marL="45720" marR="45720" marT="45720" marB="45720" anchor="ctr">
                    <a:lnL w="6350" cap="flat" cmpd="sng" algn="ctr">
                      <a:solidFill>
                        <a:srgbClr val="C9CDDB"/>
                      </a:solidFill>
                      <a:prstDash val="solid"/>
                      <a:round/>
                      <a:headEnd type="none" w="med" len="med"/>
                      <a:tailEnd type="none" w="med" len="med"/>
                    </a:lnL>
                    <a:lnR w="6350" cap="flat" cmpd="sng" algn="ctr">
                      <a:solidFill>
                        <a:srgbClr val="C9CDDB"/>
                      </a:solidFill>
                      <a:prstDash val="solid"/>
                      <a:round/>
                      <a:headEnd type="none" w="med" len="med"/>
                      <a:tailEnd type="none" w="med" len="med"/>
                    </a:lnR>
                    <a:lnT w="6350" cap="flat" cmpd="sng" algn="ctr">
                      <a:solidFill>
                        <a:srgbClr val="C9CDDB"/>
                      </a:solidFill>
                      <a:prstDash val="solid"/>
                      <a:round/>
                      <a:headEnd type="none" w="med" len="med"/>
                      <a:tailEnd type="none" w="med" len="med"/>
                    </a:lnT>
                    <a:lnB w="6350" cap="flat" cmpd="sng" algn="ctr">
                      <a:solidFill>
                        <a:srgbClr val="C9CDDB"/>
                      </a:solidFill>
                      <a:prstDash val="solid"/>
                      <a:round/>
                      <a:headEnd type="none" w="med" len="med"/>
                      <a:tailEnd type="none" w="med" len="med"/>
                    </a:lnB>
                    <a:solidFill>
                      <a:srgbClr val="FFFFFF"/>
                    </a:solidFill>
                  </a:tcPr>
                </a:tc>
                <a:tc>
                  <a:txBody>
                    <a:bodyPr/>
                    <a:lstStyle/>
                    <a:p>
                      <a:pPr indent="0" marL="0">
                        <a:buNone/>
                      </a:pPr>
                      <a:r>
                        <a:rPr lang="en-US" sz="1500" dirty="0">
                          <a:solidFill>
                            <a:srgbClr val="1B1F3B"/>
                          </a:solidFill>
                          <a:latin typeface="Calibri" pitchFamily="34" charset="0"/>
                          <a:ea typeface="Calibri" pitchFamily="34" charset="-122"/>
                          <a:cs typeface="Calibri" pitchFamily="34" charset="-120"/>
                        </a:rPr>
                        <a:t>Introduced t-SNE for 2-D maps of high-dimensional data</a:t>
                      </a:r>
                      <a:endParaRPr lang="en-US" sz="1500" dirty="0">
                        <a:latin typeface="Calibri" charset="0"/>
                        <a:ea typeface="Calibri" charset="0"/>
                        <a:cs typeface="Calibri" charset="0"/>
                      </a:endParaRPr>
                    </a:p>
                  </a:txBody>
                  <a:tcPr marL="45720" marR="45720" marT="45720" marB="45720" anchor="ctr">
                    <a:lnL w="6350" cap="flat" cmpd="sng" algn="ctr">
                      <a:solidFill>
                        <a:srgbClr val="C9CDDB"/>
                      </a:solidFill>
                      <a:prstDash val="solid"/>
                      <a:round/>
                      <a:headEnd type="none" w="med" len="med"/>
                      <a:tailEnd type="none" w="med" len="med"/>
                    </a:lnL>
                    <a:lnR w="6350" cap="flat" cmpd="sng" algn="ctr">
                      <a:solidFill>
                        <a:srgbClr val="C9CDDB"/>
                      </a:solidFill>
                      <a:prstDash val="solid"/>
                      <a:round/>
                      <a:headEnd type="none" w="med" len="med"/>
                      <a:tailEnd type="none" w="med" len="med"/>
                    </a:lnR>
                    <a:lnT w="6350" cap="flat" cmpd="sng" algn="ctr">
                      <a:solidFill>
                        <a:srgbClr val="C9CDDB"/>
                      </a:solidFill>
                      <a:prstDash val="solid"/>
                      <a:round/>
                      <a:headEnd type="none" w="med" len="med"/>
                      <a:tailEnd type="none" w="med" len="med"/>
                    </a:lnT>
                    <a:lnB w="6350" cap="flat" cmpd="sng" algn="ctr">
                      <a:solidFill>
                        <a:srgbClr val="C9CDDB"/>
                      </a:solidFill>
                      <a:prstDash val="solid"/>
                      <a:round/>
                      <a:headEnd type="none" w="med" len="med"/>
                      <a:tailEnd type="none" w="med" len="med"/>
                    </a:lnB>
                    <a:solidFill>
                      <a:srgbClr val="FFFFFF"/>
                    </a:solidFill>
                  </a:tcPr>
                </a:tc>
                <a:tc>
                  <a:txBody>
                    <a:bodyPr/>
                    <a:lstStyle/>
                    <a:p>
                      <a:pPr indent="0" marL="0">
                        <a:buNone/>
                      </a:pPr>
                      <a:r>
                        <a:rPr lang="en-US" sz="1500" dirty="0">
                          <a:solidFill>
                            <a:srgbClr val="1B1F3B"/>
                          </a:solidFill>
                          <a:latin typeface="Calibri" pitchFamily="34" charset="0"/>
                          <a:ea typeface="Calibri" pitchFamily="34" charset="-122"/>
                          <a:cs typeface="Calibri" pitchFamily="34" charset="-120"/>
                        </a:rPr>
                        <a:t>Global distances unreliable; no music benchmark</a:t>
                      </a:r>
                      <a:endParaRPr lang="en-US" sz="1500" dirty="0">
                        <a:latin typeface="Calibri" charset="0"/>
                        <a:ea typeface="Calibri" charset="0"/>
                        <a:cs typeface="Calibri" charset="0"/>
                      </a:endParaRPr>
                    </a:p>
                  </a:txBody>
                  <a:tcPr marL="45720" marR="45720" marT="45720" marB="45720" anchor="ctr">
                    <a:lnL w="6350" cap="flat" cmpd="sng" algn="ctr">
                      <a:solidFill>
                        <a:srgbClr val="C9CDDB"/>
                      </a:solidFill>
                      <a:prstDash val="solid"/>
                      <a:round/>
                      <a:headEnd type="none" w="med" len="med"/>
                      <a:tailEnd type="none" w="med" len="med"/>
                    </a:lnL>
                    <a:lnR w="6350" cap="flat" cmpd="sng" algn="ctr">
                      <a:solidFill>
                        <a:srgbClr val="C9CDDB"/>
                      </a:solidFill>
                      <a:prstDash val="solid"/>
                      <a:round/>
                      <a:headEnd type="none" w="med" len="med"/>
                      <a:tailEnd type="none" w="med" len="med"/>
                    </a:lnR>
                    <a:lnT w="6350" cap="flat" cmpd="sng" algn="ctr">
                      <a:solidFill>
                        <a:srgbClr val="C9CDDB"/>
                      </a:solidFill>
                      <a:prstDash val="solid"/>
                      <a:round/>
                      <a:headEnd type="none" w="med" len="med"/>
                      <a:tailEnd type="none" w="med" len="med"/>
                    </a:lnT>
                    <a:lnB w="6350" cap="flat" cmpd="sng" algn="ctr">
                      <a:solidFill>
                        <a:srgbClr val="C9CDDB"/>
                      </a:solidFill>
                      <a:prstDash val="solid"/>
                      <a:round/>
                      <a:headEnd type="none" w="med" len="med"/>
                      <a:tailEnd type="none" w="med" len="med"/>
                    </a:lnB>
                    <a:solidFill>
                      <a:srgbClr val="FFFFFF"/>
                    </a:solidFill>
                  </a:tcPr>
                </a:tc>
              </a:tr>
              <a:tr h="0">
                <a:tc>
                  <a:txBody>
                    <a:bodyPr/>
                    <a:lstStyle/>
                    <a:p>
                      <a:pPr indent="0" marL="0">
                        <a:buNone/>
                      </a:pPr>
                      <a:r>
                        <a:rPr lang="en-US" sz="1500" dirty="0">
                          <a:solidFill>
                            <a:srgbClr val="1B1F3B"/>
                          </a:solidFill>
                          <a:latin typeface="Calibri" pitchFamily="34" charset="0"/>
                          <a:ea typeface="Calibri" pitchFamily="34" charset="-122"/>
                          <a:cs typeface="Calibri" pitchFamily="34" charset="-120"/>
                        </a:rPr>
                        <a:t>D. H. da Silva et al. (2025)</a:t>
                      </a:r>
                      <a:endParaRPr lang="en-US" sz="1500" dirty="0">
                        <a:latin typeface="Calibri" charset="0"/>
                        <a:ea typeface="Calibri" charset="0"/>
                        <a:cs typeface="Calibri" charset="0"/>
                      </a:endParaRPr>
                    </a:p>
                  </a:txBody>
                  <a:tcPr marL="45720" marR="45720" marT="45720" marB="45720" anchor="ctr">
                    <a:lnL w="6350" cap="flat" cmpd="sng" algn="ctr">
                      <a:solidFill>
                        <a:srgbClr val="C9CDDB"/>
                      </a:solidFill>
                      <a:prstDash val="solid"/>
                      <a:round/>
                      <a:headEnd type="none" w="med" len="med"/>
                      <a:tailEnd type="none" w="med" len="med"/>
                    </a:lnL>
                    <a:lnR w="6350" cap="flat" cmpd="sng" algn="ctr">
                      <a:solidFill>
                        <a:srgbClr val="C9CDDB"/>
                      </a:solidFill>
                      <a:prstDash val="solid"/>
                      <a:round/>
                      <a:headEnd type="none" w="med" len="med"/>
                      <a:tailEnd type="none" w="med" len="med"/>
                    </a:lnR>
                    <a:lnT w="6350" cap="flat" cmpd="sng" algn="ctr">
                      <a:solidFill>
                        <a:srgbClr val="C9CDDB"/>
                      </a:solidFill>
                      <a:prstDash val="solid"/>
                      <a:round/>
                      <a:headEnd type="none" w="med" len="med"/>
                      <a:tailEnd type="none" w="med" len="med"/>
                    </a:lnT>
                    <a:lnB w="6350" cap="flat" cmpd="sng" algn="ctr">
                      <a:solidFill>
                        <a:srgbClr val="C9CDDB"/>
                      </a:solidFill>
                      <a:prstDash val="solid"/>
                      <a:round/>
                      <a:headEnd type="none" w="med" len="med"/>
                      <a:tailEnd type="none" w="med" len="med"/>
                    </a:lnB>
                    <a:solidFill>
                      <a:srgbClr val="EEF0F7"/>
                    </a:solidFill>
                  </a:tcPr>
                </a:tc>
                <a:tc>
                  <a:txBody>
                    <a:bodyPr/>
                    <a:lstStyle/>
                    <a:p>
                      <a:pPr indent="0" marL="0">
                        <a:buNone/>
                      </a:pPr>
                      <a:r>
                        <a:rPr lang="en-US" sz="1500" dirty="0">
                          <a:solidFill>
                            <a:srgbClr val="1B1F3B"/>
                          </a:solidFill>
                          <a:latin typeface="Calibri" pitchFamily="34" charset="0"/>
                          <a:ea typeface="Calibri" pitchFamily="34" charset="-122"/>
                          <a:cs typeface="Calibri" pitchFamily="34" charset="-120"/>
                        </a:rPr>
                        <a:t>Streamlit web app for EDA and ML on medical data</a:t>
                      </a:r>
                      <a:endParaRPr lang="en-US" sz="1500" dirty="0">
                        <a:latin typeface="Calibri" charset="0"/>
                        <a:ea typeface="Calibri" charset="0"/>
                        <a:cs typeface="Calibri" charset="0"/>
                      </a:endParaRPr>
                    </a:p>
                  </a:txBody>
                  <a:tcPr marL="45720" marR="45720" marT="45720" marB="45720" anchor="ctr">
                    <a:lnL w="6350" cap="flat" cmpd="sng" algn="ctr">
                      <a:solidFill>
                        <a:srgbClr val="C9CDDB"/>
                      </a:solidFill>
                      <a:prstDash val="solid"/>
                      <a:round/>
                      <a:headEnd type="none" w="med" len="med"/>
                      <a:tailEnd type="none" w="med" len="med"/>
                    </a:lnL>
                    <a:lnR w="6350" cap="flat" cmpd="sng" algn="ctr">
                      <a:solidFill>
                        <a:srgbClr val="C9CDDB"/>
                      </a:solidFill>
                      <a:prstDash val="solid"/>
                      <a:round/>
                      <a:headEnd type="none" w="med" len="med"/>
                      <a:tailEnd type="none" w="med" len="med"/>
                    </a:lnR>
                    <a:lnT w="6350" cap="flat" cmpd="sng" algn="ctr">
                      <a:solidFill>
                        <a:srgbClr val="C9CDDB"/>
                      </a:solidFill>
                      <a:prstDash val="solid"/>
                      <a:round/>
                      <a:headEnd type="none" w="med" len="med"/>
                      <a:tailEnd type="none" w="med" len="med"/>
                    </a:lnT>
                    <a:lnB w="6350" cap="flat" cmpd="sng" algn="ctr">
                      <a:solidFill>
                        <a:srgbClr val="C9CDDB"/>
                      </a:solidFill>
                      <a:prstDash val="solid"/>
                      <a:round/>
                      <a:headEnd type="none" w="med" len="med"/>
                      <a:tailEnd type="none" w="med" len="med"/>
                    </a:lnB>
                    <a:solidFill>
                      <a:srgbClr val="EEF0F7"/>
                    </a:solidFill>
                  </a:tcPr>
                </a:tc>
                <a:tc>
                  <a:txBody>
                    <a:bodyPr/>
                    <a:lstStyle/>
                    <a:p>
                      <a:pPr indent="0" marL="0">
                        <a:buNone/>
                      </a:pPr>
                      <a:r>
                        <a:rPr lang="en-US" sz="1500" dirty="0">
                          <a:solidFill>
                            <a:srgbClr val="1B1F3B"/>
                          </a:solidFill>
                          <a:latin typeface="Calibri" pitchFamily="34" charset="0"/>
                          <a:ea typeface="Calibri" pitchFamily="34" charset="-122"/>
                          <a:cs typeface="Calibri" pitchFamily="34" charset="-120"/>
                        </a:rPr>
                        <a:t>Needs a server; not music-aware</a:t>
                      </a:r>
                      <a:endParaRPr lang="en-US" sz="1500" dirty="0">
                        <a:latin typeface="Calibri" charset="0"/>
                        <a:ea typeface="Calibri" charset="0"/>
                        <a:cs typeface="Calibri" charset="0"/>
                      </a:endParaRPr>
                    </a:p>
                  </a:txBody>
                  <a:tcPr marL="45720" marR="45720" marT="45720" marB="45720" anchor="ctr">
                    <a:lnL w="6350" cap="flat" cmpd="sng" algn="ctr">
                      <a:solidFill>
                        <a:srgbClr val="C9CDDB"/>
                      </a:solidFill>
                      <a:prstDash val="solid"/>
                      <a:round/>
                      <a:headEnd type="none" w="med" len="med"/>
                      <a:tailEnd type="none" w="med" len="med"/>
                    </a:lnL>
                    <a:lnR w="6350" cap="flat" cmpd="sng" algn="ctr">
                      <a:solidFill>
                        <a:srgbClr val="C9CDDB"/>
                      </a:solidFill>
                      <a:prstDash val="solid"/>
                      <a:round/>
                      <a:headEnd type="none" w="med" len="med"/>
                      <a:tailEnd type="none" w="med" len="med"/>
                    </a:lnR>
                    <a:lnT w="6350" cap="flat" cmpd="sng" algn="ctr">
                      <a:solidFill>
                        <a:srgbClr val="C9CDDB"/>
                      </a:solidFill>
                      <a:prstDash val="solid"/>
                      <a:round/>
                      <a:headEnd type="none" w="med" len="med"/>
                      <a:tailEnd type="none" w="med" len="med"/>
                    </a:lnT>
                    <a:lnB w="6350" cap="flat" cmpd="sng" algn="ctr">
                      <a:solidFill>
                        <a:srgbClr val="C9CDDB"/>
                      </a:solidFill>
                      <a:prstDash val="solid"/>
                      <a:round/>
                      <a:headEnd type="none" w="med" len="med"/>
                      <a:tailEnd type="none" w="med" len="med"/>
                    </a:lnB>
                    <a:solidFill>
                      <a:srgbClr val="EEF0F7"/>
                    </a:solidFill>
                  </a:tcPr>
                </a:tc>
              </a:tr>
            </a:tbl>
          </a:graphicData>
        </a:graphic>
      </p:graphicFrame>
      <p:sp>
        <p:nvSpPr>
          <p:cNvPr id="5" name="Shape 2"/>
          <p:cNvSpPr/>
          <p:nvPr/>
        </p:nvSpPr>
        <p:spPr>
          <a:xfrm>
            <a:off x="457200" y="4160520"/>
            <a:ext cx="2651760" cy="1463040"/>
          </a:xfrm>
          <a:prstGeom prst="roundRect">
            <a:avLst>
              <a:gd name="adj" fmla="val 7500"/>
            </a:avLst>
          </a:prstGeom>
          <a:solidFill>
            <a:srgbClr val="EEF0F7"/>
          </a:solidFill>
          <a:ln w="12700">
            <a:solidFill>
              <a:srgbClr val="EEF0F7"/>
            </a:solidFill>
            <a:prstDash val="solid"/>
          </a:ln>
        </p:spPr>
      </p:sp>
      <p:sp>
        <p:nvSpPr>
          <p:cNvPr id="6" name="Text 3"/>
          <p:cNvSpPr txBox="1"/>
          <p:nvPr/>
        </p:nvSpPr>
        <p:spPr>
          <a:xfrm>
            <a:off x="640080" y="4270248"/>
            <a:ext cx="2286000" cy="411480"/>
          </a:xfrm>
          <a:prstGeom prst="rect">
            <a:avLst/>
          </a:prstGeom>
          <a:noFill/>
          <a:ln/>
        </p:spPr>
        <p:txBody>
          <a:bodyPr wrap="square" lIns="0" tIns="0" rIns="0" bIns="0" rtlCol="0" anchor="ctr"/>
          <a:lstStyle/>
          <a:p>
            <a:pPr indent="0" marL="0">
              <a:buNone/>
            </a:pPr>
            <a:r>
              <a:rPr lang="en-US" sz="1800" b="1" dirty="0">
                <a:solidFill>
                  <a:srgbClr val="1B1F3B"/>
                </a:solidFill>
              </a:rPr>
              <a:t>Static results</a:t>
            </a:r>
            <a:endParaRPr lang="en-US" sz="1800" dirty="0"/>
          </a:p>
        </p:txBody>
      </p:sp>
      <p:sp>
        <p:nvSpPr>
          <p:cNvPr id="7" name="Text 4"/>
          <p:cNvSpPr txBox="1"/>
          <p:nvPr/>
        </p:nvSpPr>
        <p:spPr>
          <a:xfrm>
            <a:off x="640080" y="4709160"/>
            <a:ext cx="2286000" cy="822960"/>
          </a:xfrm>
          <a:prstGeom prst="rect">
            <a:avLst/>
          </a:prstGeom>
          <a:noFill/>
          <a:ln/>
        </p:spPr>
        <p:txBody>
          <a:bodyPr wrap="square" lIns="0" tIns="0" rIns="0" bIns="0" rtlCol="0" anchor="t"/>
          <a:lstStyle/>
          <a:p>
            <a:pPr indent="0" marL="0">
              <a:spcAft>
                <a:spcPts val="400"/>
              </a:spcAft>
              <a:buNone/>
            </a:pPr>
            <a:r>
              <a:rPr lang="en-US" sz="1600" dirty="0">
                <a:solidFill>
                  <a:srgbClr val="1B1F3B"/>
                </a:solidFill>
              </a:rPr>
              <a:t>fixed figures, no re-slicing</a:t>
            </a:r>
            <a:endParaRPr lang="en-US" sz="1600" dirty="0"/>
          </a:p>
        </p:txBody>
      </p:sp>
      <p:sp>
        <p:nvSpPr>
          <p:cNvPr id="8" name="Shape 5"/>
          <p:cNvSpPr/>
          <p:nvPr/>
        </p:nvSpPr>
        <p:spPr>
          <a:xfrm>
            <a:off x="3291840" y="4160520"/>
            <a:ext cx="2651760" cy="1463040"/>
          </a:xfrm>
          <a:prstGeom prst="roundRect">
            <a:avLst>
              <a:gd name="adj" fmla="val 7500"/>
            </a:avLst>
          </a:prstGeom>
          <a:solidFill>
            <a:srgbClr val="EEF0F7"/>
          </a:solidFill>
          <a:ln w="12700">
            <a:solidFill>
              <a:srgbClr val="EEF0F7"/>
            </a:solidFill>
            <a:prstDash val="solid"/>
          </a:ln>
        </p:spPr>
      </p:sp>
      <p:sp>
        <p:nvSpPr>
          <p:cNvPr id="9" name="Text 6"/>
          <p:cNvSpPr txBox="1"/>
          <p:nvPr/>
        </p:nvSpPr>
        <p:spPr>
          <a:xfrm>
            <a:off x="3474720" y="4270248"/>
            <a:ext cx="2286000" cy="411480"/>
          </a:xfrm>
          <a:prstGeom prst="rect">
            <a:avLst/>
          </a:prstGeom>
          <a:noFill/>
          <a:ln/>
        </p:spPr>
        <p:txBody>
          <a:bodyPr wrap="square" lIns="0" tIns="0" rIns="0" bIns="0" rtlCol="0" anchor="ctr"/>
          <a:lstStyle/>
          <a:p>
            <a:pPr indent="0" marL="0">
              <a:buNone/>
            </a:pPr>
            <a:r>
              <a:rPr lang="en-US" sz="1800" b="1" dirty="0">
                <a:solidFill>
                  <a:srgbClr val="1B1F3B"/>
                </a:solidFill>
              </a:rPr>
              <a:t>Sound vs words</a:t>
            </a:r>
            <a:endParaRPr lang="en-US" sz="1800" dirty="0"/>
          </a:p>
        </p:txBody>
      </p:sp>
      <p:sp>
        <p:nvSpPr>
          <p:cNvPr id="10" name="Text 7"/>
          <p:cNvSpPr txBox="1"/>
          <p:nvPr/>
        </p:nvSpPr>
        <p:spPr>
          <a:xfrm>
            <a:off x="3474720" y="4709160"/>
            <a:ext cx="2286000" cy="822960"/>
          </a:xfrm>
          <a:prstGeom prst="rect">
            <a:avLst/>
          </a:prstGeom>
          <a:noFill/>
          <a:ln/>
        </p:spPr>
        <p:txBody>
          <a:bodyPr wrap="square" lIns="0" tIns="0" rIns="0" bIns="0" rtlCol="0" anchor="t"/>
          <a:lstStyle/>
          <a:p>
            <a:pPr indent="0" marL="0">
              <a:spcAft>
                <a:spcPts val="400"/>
              </a:spcAft>
              <a:buNone/>
            </a:pPr>
            <a:r>
              <a:rPr lang="en-US" sz="1600" dirty="0">
                <a:solidFill>
                  <a:srgbClr val="1B1F3B"/>
                </a:solidFill>
              </a:rPr>
              <a:t>audio and lyrics never compared</a:t>
            </a:r>
            <a:endParaRPr lang="en-US" sz="1600" dirty="0"/>
          </a:p>
        </p:txBody>
      </p:sp>
      <p:sp>
        <p:nvSpPr>
          <p:cNvPr id="11" name="Shape 8"/>
          <p:cNvSpPr/>
          <p:nvPr/>
        </p:nvSpPr>
        <p:spPr>
          <a:xfrm>
            <a:off x="6126480" y="4160520"/>
            <a:ext cx="2651760" cy="1463040"/>
          </a:xfrm>
          <a:prstGeom prst="roundRect">
            <a:avLst>
              <a:gd name="adj" fmla="val 7500"/>
            </a:avLst>
          </a:prstGeom>
          <a:solidFill>
            <a:srgbClr val="EEF0F7"/>
          </a:solidFill>
          <a:ln w="12700">
            <a:solidFill>
              <a:srgbClr val="EEF0F7"/>
            </a:solidFill>
            <a:prstDash val="solid"/>
          </a:ln>
        </p:spPr>
      </p:sp>
      <p:sp>
        <p:nvSpPr>
          <p:cNvPr id="12" name="Text 9"/>
          <p:cNvSpPr txBox="1"/>
          <p:nvPr/>
        </p:nvSpPr>
        <p:spPr>
          <a:xfrm>
            <a:off x="6309360" y="4270248"/>
            <a:ext cx="2286000" cy="411480"/>
          </a:xfrm>
          <a:prstGeom prst="rect">
            <a:avLst/>
          </a:prstGeom>
          <a:noFill/>
          <a:ln/>
        </p:spPr>
        <p:txBody>
          <a:bodyPr wrap="square" lIns="0" tIns="0" rIns="0" bIns="0" rtlCol="0" anchor="ctr"/>
          <a:lstStyle/>
          <a:p>
            <a:pPr indent="0" marL="0">
              <a:buNone/>
            </a:pPr>
            <a:r>
              <a:rPr lang="en-US" sz="1800" b="1" dirty="0">
                <a:solidFill>
                  <a:srgbClr val="1B1F3B"/>
                </a:solidFill>
              </a:rPr>
              <a:t>Data quality</a:t>
            </a:r>
            <a:endParaRPr lang="en-US" sz="1800" dirty="0"/>
          </a:p>
        </p:txBody>
      </p:sp>
      <p:sp>
        <p:nvSpPr>
          <p:cNvPr id="13" name="Text 10"/>
          <p:cNvSpPr txBox="1"/>
          <p:nvPr/>
        </p:nvSpPr>
        <p:spPr>
          <a:xfrm>
            <a:off x="6309360" y="4709160"/>
            <a:ext cx="2286000" cy="822960"/>
          </a:xfrm>
          <a:prstGeom prst="rect">
            <a:avLst/>
          </a:prstGeom>
          <a:noFill/>
          <a:ln/>
        </p:spPr>
        <p:txBody>
          <a:bodyPr wrap="square" lIns="0" tIns="0" rIns="0" bIns="0" rtlCol="0" anchor="t"/>
          <a:lstStyle/>
          <a:p>
            <a:pPr indent="0" marL="0">
              <a:spcAft>
                <a:spcPts val="400"/>
              </a:spcAft>
              <a:buNone/>
            </a:pPr>
            <a:r>
              <a:rPr lang="en-US" sz="1600" dirty="0">
                <a:solidFill>
                  <a:srgbClr val="1B1F3B"/>
                </a:solidFill>
              </a:rPr>
              <a:t>zero tempos, re-issues ignored</a:t>
            </a:r>
            <a:endParaRPr lang="en-US" sz="1600" dirty="0"/>
          </a:p>
        </p:txBody>
      </p:sp>
      <p:sp>
        <p:nvSpPr>
          <p:cNvPr id="14" name="Shape 11"/>
          <p:cNvSpPr/>
          <p:nvPr/>
        </p:nvSpPr>
        <p:spPr>
          <a:xfrm>
            <a:off x="8961120" y="4160520"/>
            <a:ext cx="2651760" cy="1463040"/>
          </a:xfrm>
          <a:prstGeom prst="roundRect">
            <a:avLst>
              <a:gd name="adj" fmla="val 7500"/>
            </a:avLst>
          </a:prstGeom>
          <a:solidFill>
            <a:srgbClr val="EEF0F7"/>
          </a:solidFill>
          <a:ln w="12700">
            <a:solidFill>
              <a:srgbClr val="EEF0F7"/>
            </a:solidFill>
            <a:prstDash val="solid"/>
          </a:ln>
        </p:spPr>
      </p:sp>
      <p:sp>
        <p:nvSpPr>
          <p:cNvPr id="15" name="Text 12"/>
          <p:cNvSpPr txBox="1"/>
          <p:nvPr/>
        </p:nvSpPr>
        <p:spPr>
          <a:xfrm>
            <a:off x="9144000" y="4270248"/>
            <a:ext cx="2286000" cy="411480"/>
          </a:xfrm>
          <a:prstGeom prst="rect">
            <a:avLst/>
          </a:prstGeom>
          <a:noFill/>
          <a:ln/>
        </p:spPr>
        <p:txBody>
          <a:bodyPr wrap="square" lIns="0" tIns="0" rIns="0" bIns="0" rtlCol="0" anchor="ctr"/>
          <a:lstStyle/>
          <a:p>
            <a:pPr indent="0" marL="0">
              <a:buNone/>
            </a:pPr>
            <a:r>
              <a:rPr lang="en-US" sz="1800" b="1" dirty="0">
                <a:solidFill>
                  <a:srgbClr val="1B1F3B"/>
                </a:solidFill>
              </a:rPr>
              <a:t>Generic tools</a:t>
            </a:r>
            <a:endParaRPr lang="en-US" sz="1800" dirty="0"/>
          </a:p>
        </p:txBody>
      </p:sp>
      <p:sp>
        <p:nvSpPr>
          <p:cNvPr id="16" name="Text 13"/>
          <p:cNvSpPr txBox="1"/>
          <p:nvPr/>
        </p:nvSpPr>
        <p:spPr>
          <a:xfrm>
            <a:off x="9144000" y="4709160"/>
            <a:ext cx="2286000" cy="822960"/>
          </a:xfrm>
          <a:prstGeom prst="rect">
            <a:avLst/>
          </a:prstGeom>
          <a:noFill/>
          <a:ln/>
        </p:spPr>
        <p:txBody>
          <a:bodyPr wrap="square" lIns="0" tIns="0" rIns="0" bIns="0" rtlCol="0" anchor="t"/>
          <a:lstStyle/>
          <a:p>
            <a:pPr indent="0" marL="0">
              <a:spcAft>
                <a:spcPts val="400"/>
              </a:spcAft>
              <a:buNone/>
            </a:pPr>
            <a:r>
              <a:rPr lang="en-US" sz="1600" dirty="0">
                <a:solidFill>
                  <a:srgbClr val="1B1F3B"/>
                </a:solidFill>
              </a:rPr>
              <a:t>not music-aware, need a server</a:t>
            </a:r>
            <a:endParaRPr lang="en-US" sz="1600" dirty="0"/>
          </a:p>
        </p:txBody>
      </p:sp>
      <p:sp>
        <p:nvSpPr>
          <p:cNvPr id="17" name="Text 14"/>
          <p:cNvSpPr txBox="1"/>
          <p:nvPr/>
        </p:nvSpPr>
        <p:spPr>
          <a:xfrm>
            <a:off x="457200" y="5897880"/>
            <a:ext cx="10972800" cy="365760"/>
          </a:xfrm>
          <a:prstGeom prst="rect">
            <a:avLst/>
          </a:prstGeom>
          <a:noFill/>
          <a:ln/>
        </p:spPr>
        <p:txBody>
          <a:bodyPr wrap="square" lIns="0" tIns="0" rIns="0" bIns="0" rtlCol="0" anchor="ctr"/>
          <a:lstStyle/>
          <a:p>
            <a:pPr indent="0" marL="0">
              <a:buNone/>
            </a:pPr>
            <a:r>
              <a:rPr lang="en-US" sz="1400" i="1" dirty="0">
                <a:solidFill>
                  <a:srgbClr val="5B6178"/>
                </a:solidFill>
              </a:rPr>
              <a:t>25 verified papers reviewed in the report (Table I).</a:t>
            </a:r>
            <a:endParaRPr lang="en-US" sz="1400" dirty="0"/>
          </a:p>
        </p:txBody>
      </p:sp>
      <p:sp>
        <p:nvSpPr>
          <p:cNvPr id="25" name="Slide Number Placeholder 0"/>
          <p:cNvSpPr>
            <a:spLocks noGrp="1"/>
          </p:cNvSpPr>
          <p:nvPr>
            <p:ph type="sldNum" sz="quarter" idx="4294967295"/>
          </p:nvPr>
        </p:nvSpPr>
        <p:spPr>
          <a:xfrm>
            <a:off x="11247120" y="6400800"/>
            <a:ext cx="548640" cy="320040"/>
          </a:xfrm>
          <a:prstGeom prst="rect">
            <a:avLst/>
          </a:prstGeom>
          <a:extLst>
            <a:ext uri="{C572A759-6A51-4108-AA02-DFA0A04FC94B}">
              <ma14:wrappingTextBoxFlag xmlns:ma14="http://schemas.microsoft.com/office/mac/drawingml/2011/main" val="0"/>
            </a:ext>
          </a:extLst>
        </p:spPr>
        <p:txBody>
          <a:bodyPr/>
          <a:lstStyle>
            <a:lvl1pPr>
              <a:defRPr sz="1100">
                <a:solidFill>
                  <a:srgbClr val="5B6178"/>
                </a:solidFill>
                <a:latin typeface="Calibri"/>
                <a:ea typeface="Calibri"/>
                <a:cs typeface="Calibri"/>
              </a:defRPr>
            </a:lvl1pPr>
          </a:lstStyle>
          <a:p>
            <a:pPr algn="l"/>
            <a:fld id="{F7021451-1387-4CA6-816F-3879F97B5CBC}" type="slidenum">
              <a:rPr b="0"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0"/>
          <p:cNvSpPr txBox="1"/>
          <p:nvPr/>
        </p:nvSpPr>
        <p:spPr>
          <a:xfrm>
            <a:off x="457200" y="274320"/>
            <a:ext cx="10972800" cy="320040"/>
          </a:xfrm>
          <a:prstGeom prst="rect">
            <a:avLst/>
          </a:prstGeom>
          <a:noFill/>
          <a:ln/>
        </p:spPr>
        <p:txBody>
          <a:bodyPr wrap="square" lIns="0" tIns="0" rIns="0" bIns="0" rtlCol="0" anchor="ctr"/>
          <a:lstStyle/>
          <a:p>
            <a:pPr indent="0" marL="0">
              <a:buNone/>
            </a:pPr>
            <a:r>
              <a:rPr lang="en-US" sz="1300" b="1" spc="200" kern="0" dirty="0">
                <a:solidFill>
                  <a:srgbClr val="B7791F"/>
                </a:solidFill>
              </a:rPr>
              <a:t>PROBLEM IDENTIFICATION AND OBJECTIVES</a:t>
            </a:r>
            <a:endParaRPr lang="en-US" sz="1300" dirty="0"/>
          </a:p>
        </p:txBody>
      </p:sp>
      <p:sp>
        <p:nvSpPr>
          <p:cNvPr id="3" name="Text 1"/>
          <p:cNvSpPr txBox="1"/>
          <p:nvPr/>
        </p:nvSpPr>
        <p:spPr>
          <a:xfrm>
            <a:off x="457200" y="566928"/>
            <a:ext cx="11247120" cy="777240"/>
          </a:xfrm>
          <a:prstGeom prst="rect">
            <a:avLst/>
          </a:prstGeom>
          <a:noFill/>
          <a:ln/>
        </p:spPr>
        <p:txBody>
          <a:bodyPr wrap="square" lIns="0" tIns="0" rIns="0" bIns="0" rtlCol="0" anchor="t"/>
          <a:lstStyle/>
          <a:p>
            <a:pPr indent="0" marL="0">
              <a:buNone/>
            </a:pPr>
            <a:r>
              <a:rPr lang="en-US" sz="3000" b="1" dirty="0">
                <a:solidFill>
                  <a:srgbClr val="1B1F3B"/>
                </a:solidFill>
              </a:rPr>
              <a:t>Open music data exists, but it is messy and locked in static charts</a:t>
            </a:r>
            <a:endParaRPr lang="en-US" sz="3000" dirty="0"/>
          </a:p>
        </p:txBody>
      </p:sp>
      <p:sp>
        <p:nvSpPr>
          <p:cNvPr id="4" name="Shape 2"/>
          <p:cNvSpPr/>
          <p:nvPr/>
        </p:nvSpPr>
        <p:spPr>
          <a:xfrm>
            <a:off x="457200" y="1554480"/>
            <a:ext cx="5120640" cy="1005840"/>
          </a:xfrm>
          <a:prstGeom prst="roundRect">
            <a:avLst>
              <a:gd name="adj" fmla="val 10909"/>
            </a:avLst>
          </a:prstGeom>
          <a:solidFill>
            <a:srgbClr val="EEF0F7"/>
          </a:solidFill>
          <a:ln w="12700">
            <a:solidFill>
              <a:srgbClr val="EEF0F7"/>
            </a:solidFill>
            <a:prstDash val="solid"/>
          </a:ln>
        </p:spPr>
      </p:sp>
      <p:sp>
        <p:nvSpPr>
          <p:cNvPr id="5" name="Text 3"/>
          <p:cNvSpPr txBox="1"/>
          <p:nvPr/>
        </p:nvSpPr>
        <p:spPr>
          <a:xfrm>
            <a:off x="640080" y="1664208"/>
            <a:ext cx="4754880" cy="411480"/>
          </a:xfrm>
          <a:prstGeom prst="rect">
            <a:avLst/>
          </a:prstGeom>
          <a:noFill/>
          <a:ln/>
        </p:spPr>
        <p:txBody>
          <a:bodyPr wrap="square" lIns="0" tIns="0" rIns="0" bIns="0" rtlCol="0" anchor="ctr"/>
          <a:lstStyle/>
          <a:p>
            <a:pPr indent="0" marL="0">
              <a:buNone/>
            </a:pPr>
            <a:r>
              <a:rPr lang="en-US" sz="1700" b="1" dirty="0">
                <a:solidFill>
                  <a:srgbClr val="1B1F3B"/>
                </a:solidFill>
              </a:rPr>
              <a:t>Messy data</a:t>
            </a:r>
            <a:endParaRPr lang="en-US" sz="1700" dirty="0"/>
          </a:p>
        </p:txBody>
      </p:sp>
      <p:sp>
        <p:nvSpPr>
          <p:cNvPr id="6" name="Text 4"/>
          <p:cNvSpPr txBox="1"/>
          <p:nvPr/>
        </p:nvSpPr>
        <p:spPr>
          <a:xfrm>
            <a:off x="640080" y="2103120"/>
            <a:ext cx="4754880" cy="365760"/>
          </a:xfrm>
          <a:prstGeom prst="rect">
            <a:avLst/>
          </a:prstGeom>
          <a:noFill/>
          <a:ln/>
        </p:spPr>
        <p:txBody>
          <a:bodyPr wrap="square" lIns="0" tIns="0" rIns="0" bIns="0" rtlCol="0" anchor="t"/>
          <a:lstStyle/>
          <a:p>
            <a:pPr indent="0" marL="0">
              <a:spcAft>
                <a:spcPts val="400"/>
              </a:spcAft>
              <a:buNone/>
            </a:pPr>
            <a:r>
              <a:rPr lang="en-US" sz="1500" dirty="0">
                <a:solidFill>
                  <a:srgbClr val="1B1F3B"/>
                </a:solidFill>
              </a:rPr>
              <a:t>2,777 zero-BPM tempos, 71,694 duplicate title+artist rows, no shared keys</a:t>
            </a:r>
            <a:endParaRPr lang="en-US" sz="1500" dirty="0"/>
          </a:p>
        </p:txBody>
      </p:sp>
      <p:sp>
        <p:nvSpPr>
          <p:cNvPr id="7" name="Shape 5"/>
          <p:cNvSpPr/>
          <p:nvPr/>
        </p:nvSpPr>
        <p:spPr>
          <a:xfrm>
            <a:off x="457200" y="2670048"/>
            <a:ext cx="5120640" cy="1005840"/>
          </a:xfrm>
          <a:prstGeom prst="roundRect">
            <a:avLst>
              <a:gd name="adj" fmla="val 10909"/>
            </a:avLst>
          </a:prstGeom>
          <a:solidFill>
            <a:srgbClr val="EEF0F7"/>
          </a:solidFill>
          <a:ln w="12700">
            <a:solidFill>
              <a:srgbClr val="EEF0F7"/>
            </a:solidFill>
            <a:prstDash val="solid"/>
          </a:ln>
        </p:spPr>
      </p:sp>
      <p:sp>
        <p:nvSpPr>
          <p:cNvPr id="8" name="Text 6"/>
          <p:cNvSpPr txBox="1"/>
          <p:nvPr/>
        </p:nvSpPr>
        <p:spPr>
          <a:xfrm>
            <a:off x="640080" y="2779776"/>
            <a:ext cx="4754880" cy="411480"/>
          </a:xfrm>
          <a:prstGeom prst="rect">
            <a:avLst/>
          </a:prstGeom>
          <a:noFill/>
          <a:ln/>
        </p:spPr>
        <p:txBody>
          <a:bodyPr wrap="square" lIns="0" tIns="0" rIns="0" bIns="0" rtlCol="0" anchor="ctr"/>
          <a:lstStyle/>
          <a:p>
            <a:pPr indent="0" marL="0">
              <a:buNone/>
            </a:pPr>
            <a:r>
              <a:rPr lang="en-US" sz="1700" b="1" dirty="0">
                <a:solidFill>
                  <a:srgbClr val="1B1F3B"/>
                </a:solidFill>
              </a:rPr>
              <a:t>Frozen results</a:t>
            </a:r>
            <a:endParaRPr lang="en-US" sz="1700" dirty="0"/>
          </a:p>
        </p:txBody>
      </p:sp>
      <p:sp>
        <p:nvSpPr>
          <p:cNvPr id="9" name="Text 7"/>
          <p:cNvSpPr txBox="1"/>
          <p:nvPr/>
        </p:nvSpPr>
        <p:spPr>
          <a:xfrm>
            <a:off x="640080" y="3218688"/>
            <a:ext cx="4754880" cy="365760"/>
          </a:xfrm>
          <a:prstGeom prst="rect">
            <a:avLst/>
          </a:prstGeom>
          <a:noFill/>
          <a:ln/>
        </p:spPr>
        <p:txBody>
          <a:bodyPr wrap="square" lIns="0" tIns="0" rIns="0" bIns="0" rtlCol="0" anchor="t"/>
          <a:lstStyle/>
          <a:p>
            <a:pPr indent="0" marL="0">
              <a:spcAft>
                <a:spcPts val="400"/>
              </a:spcAft>
              <a:buNone/>
            </a:pPr>
            <a:r>
              <a:rPr lang="en-US" sz="1500" dirty="0">
                <a:solidFill>
                  <a:srgbClr val="1B1F3B"/>
                </a:solidFill>
              </a:rPr>
              <a:t>papers and notebooks show fixed figures; readers cannot ask new questions</a:t>
            </a:r>
            <a:endParaRPr lang="en-US" sz="1500" dirty="0"/>
          </a:p>
        </p:txBody>
      </p:sp>
      <p:sp>
        <p:nvSpPr>
          <p:cNvPr id="10" name="Shape 8"/>
          <p:cNvSpPr/>
          <p:nvPr/>
        </p:nvSpPr>
        <p:spPr>
          <a:xfrm>
            <a:off x="457200" y="3785616"/>
            <a:ext cx="5120640" cy="1005840"/>
          </a:xfrm>
          <a:prstGeom prst="roundRect">
            <a:avLst>
              <a:gd name="adj" fmla="val 10909"/>
            </a:avLst>
          </a:prstGeom>
          <a:solidFill>
            <a:srgbClr val="EEF0F7"/>
          </a:solidFill>
          <a:ln w="12700">
            <a:solidFill>
              <a:srgbClr val="EEF0F7"/>
            </a:solidFill>
            <a:prstDash val="solid"/>
          </a:ln>
        </p:spPr>
      </p:sp>
      <p:sp>
        <p:nvSpPr>
          <p:cNvPr id="11" name="Text 9"/>
          <p:cNvSpPr txBox="1"/>
          <p:nvPr/>
        </p:nvSpPr>
        <p:spPr>
          <a:xfrm>
            <a:off x="640080" y="3895344"/>
            <a:ext cx="4754880" cy="411480"/>
          </a:xfrm>
          <a:prstGeom prst="rect">
            <a:avLst/>
          </a:prstGeom>
          <a:noFill/>
          <a:ln/>
        </p:spPr>
        <p:txBody>
          <a:bodyPr wrap="square" lIns="0" tIns="0" rIns="0" bIns="0" rtlCol="0" anchor="ctr"/>
          <a:lstStyle/>
          <a:p>
            <a:pPr indent="0" marL="0">
              <a:buNone/>
            </a:pPr>
            <a:r>
              <a:rPr lang="en-US" sz="1700" b="1" dirty="0">
                <a:solidFill>
                  <a:srgbClr val="1B1F3B"/>
                </a:solidFill>
              </a:rPr>
              <a:t>Split modalities</a:t>
            </a:r>
            <a:endParaRPr lang="en-US" sz="1700" dirty="0"/>
          </a:p>
        </p:txBody>
      </p:sp>
      <p:sp>
        <p:nvSpPr>
          <p:cNvPr id="12" name="Text 10"/>
          <p:cNvSpPr txBox="1"/>
          <p:nvPr/>
        </p:nvSpPr>
        <p:spPr>
          <a:xfrm>
            <a:off x="640080" y="4334256"/>
            <a:ext cx="4754880" cy="365760"/>
          </a:xfrm>
          <a:prstGeom prst="rect">
            <a:avLst/>
          </a:prstGeom>
          <a:noFill/>
          <a:ln/>
        </p:spPr>
        <p:txBody>
          <a:bodyPr wrap="square" lIns="0" tIns="0" rIns="0" bIns="0" rtlCol="0" anchor="t"/>
          <a:lstStyle/>
          <a:p>
            <a:pPr indent="0" marL="0">
              <a:spcAft>
                <a:spcPts val="400"/>
              </a:spcAft>
              <a:buNone/>
            </a:pPr>
            <a:r>
              <a:rPr lang="en-US" sz="1500" dirty="0">
                <a:solidFill>
                  <a:srgbClr val="1B1F3B"/>
                </a:solidFill>
              </a:rPr>
              <a:t>audio features and lyrics are analysed in isolation</a:t>
            </a:r>
            <a:endParaRPr lang="en-US" sz="1500" dirty="0"/>
          </a:p>
        </p:txBody>
      </p:sp>
      <p:sp>
        <p:nvSpPr>
          <p:cNvPr id="13" name="Shape 11"/>
          <p:cNvSpPr/>
          <p:nvPr/>
        </p:nvSpPr>
        <p:spPr>
          <a:xfrm>
            <a:off x="457200" y="4901184"/>
            <a:ext cx="5120640" cy="1005840"/>
          </a:xfrm>
          <a:prstGeom prst="roundRect">
            <a:avLst>
              <a:gd name="adj" fmla="val 10909"/>
            </a:avLst>
          </a:prstGeom>
          <a:solidFill>
            <a:srgbClr val="EEF0F7"/>
          </a:solidFill>
          <a:ln w="12700">
            <a:solidFill>
              <a:srgbClr val="EEF0F7"/>
            </a:solidFill>
            <a:prstDash val="solid"/>
          </a:ln>
        </p:spPr>
      </p:sp>
      <p:sp>
        <p:nvSpPr>
          <p:cNvPr id="14" name="Text 12"/>
          <p:cNvSpPr txBox="1"/>
          <p:nvPr/>
        </p:nvSpPr>
        <p:spPr>
          <a:xfrm>
            <a:off x="640080" y="5010912"/>
            <a:ext cx="4754880" cy="411480"/>
          </a:xfrm>
          <a:prstGeom prst="rect">
            <a:avLst/>
          </a:prstGeom>
          <a:noFill/>
          <a:ln/>
        </p:spPr>
        <p:txBody>
          <a:bodyPr wrap="square" lIns="0" tIns="0" rIns="0" bIns="0" rtlCol="0" anchor="ctr"/>
          <a:lstStyle/>
          <a:p>
            <a:pPr indent="0" marL="0">
              <a:buNone/>
            </a:pPr>
            <a:r>
              <a:rPr lang="en-US" sz="1700" b="1" dirty="0">
                <a:solidFill>
                  <a:srgbClr val="1B1F3B"/>
                </a:solidFill>
              </a:rPr>
              <a:t>Hosting cost</a:t>
            </a:r>
            <a:endParaRPr lang="en-US" sz="1700" dirty="0"/>
          </a:p>
        </p:txBody>
      </p:sp>
      <p:sp>
        <p:nvSpPr>
          <p:cNvPr id="15" name="Text 13"/>
          <p:cNvSpPr txBox="1"/>
          <p:nvPr/>
        </p:nvSpPr>
        <p:spPr>
          <a:xfrm>
            <a:off x="640080" y="5449824"/>
            <a:ext cx="4754880" cy="365760"/>
          </a:xfrm>
          <a:prstGeom prst="rect">
            <a:avLst/>
          </a:prstGeom>
          <a:noFill/>
          <a:ln/>
        </p:spPr>
        <p:txBody>
          <a:bodyPr wrap="square" lIns="0" tIns="0" rIns="0" bIns="0" rtlCol="0" anchor="t"/>
          <a:lstStyle/>
          <a:p>
            <a:pPr indent="0" marL="0">
              <a:spcAft>
                <a:spcPts val="400"/>
              </a:spcAft>
              <a:buNone/>
            </a:pPr>
            <a:r>
              <a:rPr lang="en-US" sz="1500" dirty="0">
                <a:solidFill>
                  <a:srgbClr val="1B1F3B"/>
                </a:solidFill>
              </a:rPr>
              <a:t>interactive tools usually need a running server</a:t>
            </a:r>
            <a:endParaRPr lang="en-US" sz="1500" dirty="0"/>
          </a:p>
        </p:txBody>
      </p:sp>
      <p:sp>
        <p:nvSpPr>
          <p:cNvPr id="16" name="Text 14"/>
          <p:cNvSpPr txBox="1"/>
          <p:nvPr/>
        </p:nvSpPr>
        <p:spPr>
          <a:xfrm>
            <a:off x="6035040" y="1554480"/>
            <a:ext cx="5486400" cy="411480"/>
          </a:xfrm>
          <a:prstGeom prst="rect">
            <a:avLst/>
          </a:prstGeom>
          <a:noFill/>
          <a:ln/>
        </p:spPr>
        <p:txBody>
          <a:bodyPr wrap="square" lIns="0" tIns="0" rIns="0" bIns="0" rtlCol="0" anchor="ctr"/>
          <a:lstStyle/>
          <a:p>
            <a:pPr indent="0" marL="0">
              <a:buNone/>
            </a:pPr>
            <a:r>
              <a:rPr lang="en-US" sz="2000" b="1" dirty="0">
                <a:solidFill>
                  <a:srgbClr val="1B1F3B"/>
                </a:solidFill>
              </a:rPr>
              <a:t>Objectives</a:t>
            </a:r>
            <a:endParaRPr lang="en-US" sz="2000" dirty="0"/>
          </a:p>
        </p:txBody>
      </p:sp>
      <p:sp>
        <p:nvSpPr>
          <p:cNvPr id="17" name="Text 15"/>
          <p:cNvSpPr txBox="1"/>
          <p:nvPr/>
        </p:nvSpPr>
        <p:spPr>
          <a:xfrm>
            <a:off x="6035040" y="2057400"/>
            <a:ext cx="5669280" cy="4023360"/>
          </a:xfrm>
          <a:prstGeom prst="rect">
            <a:avLst/>
          </a:prstGeom>
          <a:noFill/>
          <a:ln/>
        </p:spPr>
        <p:txBody>
          <a:bodyPr wrap="square" lIns="0" tIns="0" rIns="0" bIns="0" rtlCol="0" anchor="t"/>
          <a:lstStyle/>
          <a:p>
            <a:pPr marL="342900" indent="-342900">
              <a:spcAft>
                <a:spcPts val="600"/>
              </a:spcAft>
              <a:buSzPct val="100000"/>
              <a:buFont typeface="+mj-lt"/>
              <a:buAutoNum type="arabicPeriod" startAt="1"/>
            </a:pPr>
            <a:r>
              <a:rPr lang="en-US" sz="1600" dirty="0">
                <a:solidFill>
                  <a:srgbClr val="1B1F3B"/>
                </a:solidFill>
              </a:rPr>
              <a:t>Clean 1M+ tracks; validate MICE by masking 5% of values</a:t>
            </a:r>
            <a:endParaRPr lang="en-US" sz="1600" dirty="0"/>
          </a:p>
          <a:p>
            <a:pPr marL="342900" indent="-342900">
              <a:spcAft>
                <a:spcPts val="600"/>
              </a:spcAft>
              <a:buSzPct val="100000"/>
              <a:buFont typeface="+mj-lt"/>
              <a:buAutoNum type="arabicPeriod" startAt="1"/>
            </a:pPr>
            <a:r>
              <a:rPr lang="en-US" sz="1600" dirty="0">
                <a:solidFill>
                  <a:srgbClr val="1B1F3B"/>
                </a:solidFill>
              </a:rPr>
              <a:t>Descriptive stats in course conventions (n-1, Tukey IQR, G1, G2)</a:t>
            </a:r>
            <a:endParaRPr lang="en-US" sz="1600" dirty="0"/>
          </a:p>
          <a:p>
            <a:pPr marL="342900" indent="-342900">
              <a:spcAft>
                <a:spcPts val="600"/>
              </a:spcAft>
              <a:buSzPct val="100000"/>
              <a:buFont typeface="+mj-lt"/>
              <a:buAutoNum type="arabicPeriod" startAt="1"/>
            </a:pPr>
            <a:r>
              <a:rPr lang="en-US" sz="1600" dirty="0">
                <a:solidFill>
                  <a:srgbClr val="1B1F3B"/>
                </a:solidFill>
              </a:rPr>
              <a:t>Correlation and multivariate genre fingerprints</a:t>
            </a:r>
            <a:endParaRPr lang="en-US" sz="1600" dirty="0"/>
          </a:p>
          <a:p>
            <a:pPr marL="342900" indent="-342900">
              <a:spcAft>
                <a:spcPts val="600"/>
              </a:spcAft>
              <a:buSzPct val="100000"/>
              <a:buFont typeface="+mj-lt"/>
              <a:buAutoNum type="arabicPeriod" startAt="1"/>
            </a:pPr>
            <a:r>
              <a:rPr lang="en-US" sz="1600" dirty="0">
                <a:solidFill>
                  <a:srgbClr val="1B1F3B"/>
                </a:solidFill>
              </a:rPr>
              <a:t>Compare PCA, t-SNE, LLE, UMAP; name acoustic clusters</a:t>
            </a:r>
            <a:endParaRPr lang="en-US" sz="1600" dirty="0"/>
          </a:p>
          <a:p>
            <a:pPr marL="342900" indent="-342900">
              <a:spcAft>
                <a:spcPts val="600"/>
              </a:spcAft>
              <a:buSzPct val="100000"/>
              <a:buFont typeface="+mj-lt"/>
              <a:buAutoNum type="arabicPeriod" startAt="1"/>
            </a:pPr>
            <a:r>
              <a:rPr lang="en-US" sz="1600" dirty="0">
                <a:solidFill>
                  <a:srgbClr val="1B1F3B"/>
                </a:solidFill>
              </a:rPr>
              <a:t>Trends, STL seasonality, change points, forecast</a:t>
            </a:r>
            <a:endParaRPr lang="en-US" sz="1600" dirty="0"/>
          </a:p>
          <a:p>
            <a:pPr marL="342900" indent="-342900">
              <a:spcAft>
                <a:spcPts val="600"/>
              </a:spcAft>
              <a:buSzPct val="100000"/>
              <a:buFont typeface="+mj-lt"/>
              <a:buAutoNum type="arabicPeriod" startAt="1"/>
            </a:pPr>
            <a:r>
              <a:rPr lang="en-US" sz="1600" dirty="0">
                <a:solidFill>
                  <a:srgbClr val="1B1F3B"/>
                </a:solidFill>
              </a:rPr>
              <a:t>ANOVA, chi-square, feature selection; lyrics sentiment</a:t>
            </a:r>
            <a:endParaRPr lang="en-US" sz="1600" dirty="0"/>
          </a:p>
          <a:p>
            <a:pPr marL="342900" indent="-342900">
              <a:spcAft>
                <a:spcPts val="600"/>
              </a:spcAft>
              <a:buSzPct val="100000"/>
              <a:buFont typeface="+mj-lt"/>
              <a:buAutoNum type="arabicPeriod" startAt="1"/>
            </a:pPr>
            <a:r>
              <a:rPr lang="en-US" sz="1600" dirty="0">
                <a:solidFill>
                  <a:srgbClr val="1B1F3B"/>
                </a:solidFill>
              </a:rPr>
              <a:t>In-browser SQL with lite-data queries under 1 second</a:t>
            </a:r>
            <a:endParaRPr lang="en-US" sz="1600" dirty="0"/>
          </a:p>
        </p:txBody>
      </p:sp>
      <p:sp>
        <p:nvSpPr>
          <p:cNvPr id="25" name="Slide Number Placeholder 0"/>
          <p:cNvSpPr>
            <a:spLocks noGrp="1"/>
          </p:cNvSpPr>
          <p:nvPr>
            <p:ph type="sldNum" sz="quarter" idx="4294967295"/>
          </p:nvPr>
        </p:nvSpPr>
        <p:spPr>
          <a:xfrm>
            <a:off x="11247120" y="6400800"/>
            <a:ext cx="548640" cy="320040"/>
          </a:xfrm>
          <a:prstGeom prst="rect">
            <a:avLst/>
          </a:prstGeom>
          <a:extLst>
            <a:ext uri="{C572A759-6A51-4108-AA02-DFA0A04FC94B}">
              <ma14:wrappingTextBoxFlag xmlns:ma14="http://schemas.microsoft.com/office/mac/drawingml/2011/main" val="0"/>
            </a:ext>
          </a:extLst>
        </p:spPr>
        <p:txBody>
          <a:bodyPr/>
          <a:lstStyle>
            <a:lvl1pPr>
              <a:defRPr sz="1100">
                <a:solidFill>
                  <a:srgbClr val="5B6178"/>
                </a:solidFill>
                <a:latin typeface="Calibri"/>
                <a:ea typeface="Calibri"/>
                <a:cs typeface="Calibri"/>
              </a:defRPr>
            </a:lvl1pPr>
          </a:lstStyle>
          <a:p>
            <a:pPr algn="l"/>
            <a:fld id="{F7021451-1387-4CA6-816F-3879F97B5CBC}" type="slidenum">
              <a:rPr b="0"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0"/>
          <p:cNvSpPr txBox="1"/>
          <p:nvPr/>
        </p:nvSpPr>
        <p:spPr>
          <a:xfrm>
            <a:off x="457200" y="274320"/>
            <a:ext cx="10972800" cy="320040"/>
          </a:xfrm>
          <a:prstGeom prst="rect">
            <a:avLst/>
          </a:prstGeom>
          <a:noFill/>
          <a:ln/>
        </p:spPr>
        <p:txBody>
          <a:bodyPr wrap="square" lIns="0" tIns="0" rIns="0" bIns="0" rtlCol="0" anchor="ctr"/>
          <a:lstStyle/>
          <a:p>
            <a:pPr indent="0" marL="0">
              <a:buNone/>
            </a:pPr>
            <a:r>
              <a:rPr lang="en-US" sz="1300" b="1" spc="200" kern="0" dirty="0">
                <a:solidFill>
                  <a:srgbClr val="B7791F"/>
                </a:solidFill>
              </a:rPr>
              <a:t>EXISTING SYSTEMS VS PROPOSED SYSTEM</a:t>
            </a:r>
            <a:endParaRPr lang="en-US" sz="1300" dirty="0"/>
          </a:p>
        </p:txBody>
      </p:sp>
      <p:sp>
        <p:nvSpPr>
          <p:cNvPr id="3" name="Text 1"/>
          <p:cNvSpPr txBox="1"/>
          <p:nvPr/>
        </p:nvSpPr>
        <p:spPr>
          <a:xfrm>
            <a:off x="457200" y="566928"/>
            <a:ext cx="11247120" cy="777240"/>
          </a:xfrm>
          <a:prstGeom prst="rect">
            <a:avLst/>
          </a:prstGeom>
          <a:noFill/>
          <a:ln/>
        </p:spPr>
        <p:txBody>
          <a:bodyPr wrap="square" lIns="0" tIns="0" rIns="0" bIns="0" rtlCol="0" anchor="t"/>
          <a:lstStyle/>
          <a:p>
            <a:pPr indent="0" marL="0">
              <a:buNone/>
            </a:pPr>
            <a:r>
              <a:rPr lang="en-US" sz="3000" b="1" dirty="0">
                <a:solidFill>
                  <a:srgbClr val="1B1F3B"/>
                </a:solidFill>
              </a:rPr>
              <a:t>SonicAtlas combines what existing tools offer separately</a:t>
            </a:r>
            <a:endParaRPr lang="en-US" sz="3000" dirty="0"/>
          </a:p>
        </p:txBody>
      </p:sp>
      <p:graphicFrame>
        <p:nvGraphicFramePr>
          <p:cNvPr id="6" name="Table 0"/>
          <p:cNvGraphicFramePr>
            <a:graphicFrameLocks noGrp="1"/>
          </p:cNvGraphicFramePr>
          <p:nvPr>
            <p:extLst>
              <p:ext uri="{D42A27DB-BD31-4B8C-83A1-F6EECF244321}">
                <p14:modId xmlns:p14="http://schemas.microsoft.com/office/powerpoint/2010/main" val="1579011935"/>
              </p:ext>
            </p:extLst>
          </p:nvPr>
        </p:nvGraphicFramePr>
        <p:xfrm>
          <a:off x="457200" y="1645920"/>
          <a:ext cx="11247120" cy="914400"/>
        </p:xfrm>
        <a:graphic>
          <a:graphicData uri="http://schemas.openxmlformats.org/drawingml/2006/table">
            <a:tbl>
              <a:tblPr/>
              <a:tblGrid>
                <a:gridCol w="3108960"/>
                <a:gridCol w="1463040"/>
                <a:gridCol w="2011680"/>
                <a:gridCol w="1645920"/>
                <a:gridCol w="1463040"/>
                <a:gridCol w="1554480"/>
              </a:tblGrid>
              <a:tr h="0">
                <a:tc>
                  <a:txBody>
                    <a:bodyPr/>
                    <a:lstStyle/>
                    <a:p>
                      <a:pPr indent="0" marL="0">
                        <a:buNone/>
                      </a:pPr>
                      <a:r>
                        <a:rPr lang="en-US" sz="1600" b="1" dirty="0">
                          <a:solidFill>
                            <a:srgbClr val="FFFFFF"/>
                          </a:solidFill>
                          <a:latin typeface="Calibri" pitchFamily="34" charset="0"/>
                          <a:ea typeface="Calibri" pitchFamily="34" charset="-122"/>
                          <a:cs typeface="Calibri" pitchFamily="34" charset="-120"/>
                        </a:rPr>
                        <a:t>System</a:t>
                      </a:r>
                      <a:endParaRPr lang="en-US" sz="1600" dirty="0">
                        <a:latin typeface="Calibri" charset="0"/>
                        <a:ea typeface="Calibri" charset="0"/>
                        <a:cs typeface="Calibri" charset="0"/>
                      </a:endParaRPr>
                    </a:p>
                  </a:txBody>
                  <a:tcPr marL="45720" marR="45720" marT="45720" marB="45720" anchor="ctr">
                    <a:lnL w="6350" cap="flat" cmpd="sng" algn="ctr">
                      <a:solidFill>
                        <a:srgbClr val="C9CDDB"/>
                      </a:solidFill>
                      <a:prstDash val="solid"/>
                      <a:round/>
                      <a:headEnd type="none" w="med" len="med"/>
                      <a:tailEnd type="none" w="med" len="med"/>
                    </a:lnL>
                    <a:lnR w="6350" cap="flat" cmpd="sng" algn="ctr">
                      <a:solidFill>
                        <a:srgbClr val="C9CDDB"/>
                      </a:solidFill>
                      <a:prstDash val="solid"/>
                      <a:round/>
                      <a:headEnd type="none" w="med" len="med"/>
                      <a:tailEnd type="none" w="med" len="med"/>
                    </a:lnR>
                    <a:lnT w="6350" cap="flat" cmpd="sng" algn="ctr">
                      <a:solidFill>
                        <a:srgbClr val="C9CDDB"/>
                      </a:solidFill>
                      <a:prstDash val="solid"/>
                      <a:round/>
                      <a:headEnd type="none" w="med" len="med"/>
                      <a:tailEnd type="none" w="med" len="med"/>
                    </a:lnT>
                    <a:lnB w="6350" cap="flat" cmpd="sng" algn="ctr">
                      <a:solidFill>
                        <a:srgbClr val="C9CDDB"/>
                      </a:solidFill>
                      <a:prstDash val="solid"/>
                      <a:round/>
                      <a:headEnd type="none" w="med" len="med"/>
                      <a:tailEnd type="none" w="med" len="med"/>
                    </a:lnB>
                    <a:solidFill>
                      <a:srgbClr val="1B1F3B"/>
                    </a:solidFill>
                  </a:tcPr>
                </a:tc>
                <a:tc>
                  <a:txBody>
                    <a:bodyPr/>
                    <a:lstStyle/>
                    <a:p>
                      <a:pPr indent="0" marL="0">
                        <a:buNone/>
                      </a:pPr>
                      <a:r>
                        <a:rPr lang="en-US" sz="1600" b="1" dirty="0">
                          <a:solidFill>
                            <a:srgbClr val="FFFFFF"/>
                          </a:solidFill>
                          <a:latin typeface="Calibri" pitchFamily="34" charset="0"/>
                          <a:ea typeface="Calibri" pitchFamily="34" charset="-122"/>
                          <a:cs typeface="Calibri" pitchFamily="34" charset="-120"/>
                        </a:rPr>
                        <a:t>Open data</a:t>
                      </a:r>
                      <a:endParaRPr lang="en-US" sz="1600" dirty="0">
                        <a:latin typeface="Calibri" charset="0"/>
                        <a:ea typeface="Calibri" charset="0"/>
                        <a:cs typeface="Calibri" charset="0"/>
                      </a:endParaRPr>
                    </a:p>
                  </a:txBody>
                  <a:tcPr marL="45720" marR="45720" marT="45720" marB="45720" anchor="ctr">
                    <a:lnL w="6350" cap="flat" cmpd="sng" algn="ctr">
                      <a:solidFill>
                        <a:srgbClr val="C9CDDB"/>
                      </a:solidFill>
                      <a:prstDash val="solid"/>
                      <a:round/>
                      <a:headEnd type="none" w="med" len="med"/>
                      <a:tailEnd type="none" w="med" len="med"/>
                    </a:lnL>
                    <a:lnR w="6350" cap="flat" cmpd="sng" algn="ctr">
                      <a:solidFill>
                        <a:srgbClr val="C9CDDB"/>
                      </a:solidFill>
                      <a:prstDash val="solid"/>
                      <a:round/>
                      <a:headEnd type="none" w="med" len="med"/>
                      <a:tailEnd type="none" w="med" len="med"/>
                    </a:lnR>
                    <a:lnT w="6350" cap="flat" cmpd="sng" algn="ctr">
                      <a:solidFill>
                        <a:srgbClr val="C9CDDB"/>
                      </a:solidFill>
                      <a:prstDash val="solid"/>
                      <a:round/>
                      <a:headEnd type="none" w="med" len="med"/>
                      <a:tailEnd type="none" w="med" len="med"/>
                    </a:lnT>
                    <a:lnB w="6350" cap="flat" cmpd="sng" algn="ctr">
                      <a:solidFill>
                        <a:srgbClr val="C9CDDB"/>
                      </a:solidFill>
                      <a:prstDash val="solid"/>
                      <a:round/>
                      <a:headEnd type="none" w="med" len="med"/>
                      <a:tailEnd type="none" w="med" len="med"/>
                    </a:lnB>
                    <a:solidFill>
                      <a:srgbClr val="1B1F3B"/>
                    </a:solidFill>
                  </a:tcPr>
                </a:tc>
                <a:tc>
                  <a:txBody>
                    <a:bodyPr/>
                    <a:lstStyle/>
                    <a:p>
                      <a:pPr indent="0" marL="0">
                        <a:buNone/>
                      </a:pPr>
                      <a:r>
                        <a:rPr lang="en-US" sz="1600" b="1" dirty="0">
                          <a:solidFill>
                            <a:srgbClr val="FFFFFF"/>
                          </a:solidFill>
                          <a:latin typeface="Calibri" pitchFamily="34" charset="0"/>
                          <a:ea typeface="Calibri" pitchFamily="34" charset="-122"/>
                          <a:cs typeface="Calibri" pitchFamily="34" charset="-120"/>
                        </a:rPr>
                        <a:t>Music-specific EDA</a:t>
                      </a:r>
                      <a:endParaRPr lang="en-US" sz="1600" dirty="0">
                        <a:latin typeface="Calibri" charset="0"/>
                        <a:ea typeface="Calibri" charset="0"/>
                        <a:cs typeface="Calibri" charset="0"/>
                      </a:endParaRPr>
                    </a:p>
                  </a:txBody>
                  <a:tcPr marL="45720" marR="45720" marT="45720" marB="45720" anchor="ctr">
                    <a:lnL w="6350" cap="flat" cmpd="sng" algn="ctr">
                      <a:solidFill>
                        <a:srgbClr val="C9CDDB"/>
                      </a:solidFill>
                      <a:prstDash val="solid"/>
                      <a:round/>
                      <a:headEnd type="none" w="med" len="med"/>
                      <a:tailEnd type="none" w="med" len="med"/>
                    </a:lnL>
                    <a:lnR w="6350" cap="flat" cmpd="sng" algn="ctr">
                      <a:solidFill>
                        <a:srgbClr val="C9CDDB"/>
                      </a:solidFill>
                      <a:prstDash val="solid"/>
                      <a:round/>
                      <a:headEnd type="none" w="med" len="med"/>
                      <a:tailEnd type="none" w="med" len="med"/>
                    </a:lnR>
                    <a:lnT w="6350" cap="flat" cmpd="sng" algn="ctr">
                      <a:solidFill>
                        <a:srgbClr val="C9CDDB"/>
                      </a:solidFill>
                      <a:prstDash val="solid"/>
                      <a:round/>
                      <a:headEnd type="none" w="med" len="med"/>
                      <a:tailEnd type="none" w="med" len="med"/>
                    </a:lnT>
                    <a:lnB w="6350" cap="flat" cmpd="sng" algn="ctr">
                      <a:solidFill>
                        <a:srgbClr val="C9CDDB"/>
                      </a:solidFill>
                      <a:prstDash val="solid"/>
                      <a:round/>
                      <a:headEnd type="none" w="med" len="med"/>
                      <a:tailEnd type="none" w="med" len="med"/>
                    </a:lnB>
                    <a:solidFill>
                      <a:srgbClr val="1B1F3B"/>
                    </a:solidFill>
                  </a:tcPr>
                </a:tc>
                <a:tc>
                  <a:txBody>
                    <a:bodyPr/>
                    <a:lstStyle/>
                    <a:p>
                      <a:pPr indent="0" marL="0">
                        <a:buNone/>
                      </a:pPr>
                      <a:r>
                        <a:rPr lang="en-US" sz="1600" b="1" dirty="0">
                          <a:solidFill>
                            <a:srgbClr val="FFFFFF"/>
                          </a:solidFill>
                          <a:latin typeface="Calibri" pitchFamily="34" charset="0"/>
                          <a:ea typeface="Calibri" pitchFamily="34" charset="-122"/>
                          <a:cs typeface="Calibri" pitchFamily="34" charset="-120"/>
                        </a:rPr>
                        <a:t>Audio + lyrics</a:t>
                      </a:r>
                      <a:endParaRPr lang="en-US" sz="1600" dirty="0">
                        <a:latin typeface="Calibri" charset="0"/>
                        <a:ea typeface="Calibri" charset="0"/>
                        <a:cs typeface="Calibri" charset="0"/>
                      </a:endParaRPr>
                    </a:p>
                  </a:txBody>
                  <a:tcPr marL="45720" marR="45720" marT="45720" marB="45720" anchor="ctr">
                    <a:lnL w="6350" cap="flat" cmpd="sng" algn="ctr">
                      <a:solidFill>
                        <a:srgbClr val="C9CDDB"/>
                      </a:solidFill>
                      <a:prstDash val="solid"/>
                      <a:round/>
                      <a:headEnd type="none" w="med" len="med"/>
                      <a:tailEnd type="none" w="med" len="med"/>
                    </a:lnL>
                    <a:lnR w="6350" cap="flat" cmpd="sng" algn="ctr">
                      <a:solidFill>
                        <a:srgbClr val="C9CDDB"/>
                      </a:solidFill>
                      <a:prstDash val="solid"/>
                      <a:round/>
                      <a:headEnd type="none" w="med" len="med"/>
                      <a:tailEnd type="none" w="med" len="med"/>
                    </a:lnR>
                    <a:lnT w="6350" cap="flat" cmpd="sng" algn="ctr">
                      <a:solidFill>
                        <a:srgbClr val="C9CDDB"/>
                      </a:solidFill>
                      <a:prstDash val="solid"/>
                      <a:round/>
                      <a:headEnd type="none" w="med" len="med"/>
                      <a:tailEnd type="none" w="med" len="med"/>
                    </a:lnT>
                    <a:lnB w="6350" cap="flat" cmpd="sng" algn="ctr">
                      <a:solidFill>
                        <a:srgbClr val="C9CDDB"/>
                      </a:solidFill>
                      <a:prstDash val="solid"/>
                      <a:round/>
                      <a:headEnd type="none" w="med" len="med"/>
                      <a:tailEnd type="none" w="med" len="med"/>
                    </a:lnB>
                    <a:solidFill>
                      <a:srgbClr val="1B1F3B"/>
                    </a:solidFill>
                  </a:tcPr>
                </a:tc>
                <a:tc>
                  <a:txBody>
                    <a:bodyPr/>
                    <a:lstStyle/>
                    <a:p>
                      <a:pPr indent="0" marL="0">
                        <a:buNone/>
                      </a:pPr>
                      <a:r>
                        <a:rPr lang="en-US" sz="1600" b="1" dirty="0">
                          <a:solidFill>
                            <a:srgbClr val="FFFFFF"/>
                          </a:solidFill>
                          <a:latin typeface="Calibri" pitchFamily="34" charset="0"/>
                          <a:ea typeface="Calibri" pitchFamily="34" charset="-122"/>
                          <a:cs typeface="Calibri" pitchFamily="34" charset="-120"/>
                        </a:rPr>
                        <a:t>Interactive</a:t>
                      </a:r>
                      <a:endParaRPr lang="en-US" sz="1600" dirty="0">
                        <a:latin typeface="Calibri" charset="0"/>
                        <a:ea typeface="Calibri" charset="0"/>
                        <a:cs typeface="Calibri" charset="0"/>
                      </a:endParaRPr>
                    </a:p>
                  </a:txBody>
                  <a:tcPr marL="45720" marR="45720" marT="45720" marB="45720" anchor="ctr">
                    <a:lnL w="6350" cap="flat" cmpd="sng" algn="ctr">
                      <a:solidFill>
                        <a:srgbClr val="C9CDDB"/>
                      </a:solidFill>
                      <a:prstDash val="solid"/>
                      <a:round/>
                      <a:headEnd type="none" w="med" len="med"/>
                      <a:tailEnd type="none" w="med" len="med"/>
                    </a:lnL>
                    <a:lnR w="6350" cap="flat" cmpd="sng" algn="ctr">
                      <a:solidFill>
                        <a:srgbClr val="C9CDDB"/>
                      </a:solidFill>
                      <a:prstDash val="solid"/>
                      <a:round/>
                      <a:headEnd type="none" w="med" len="med"/>
                      <a:tailEnd type="none" w="med" len="med"/>
                    </a:lnR>
                    <a:lnT w="6350" cap="flat" cmpd="sng" algn="ctr">
                      <a:solidFill>
                        <a:srgbClr val="C9CDDB"/>
                      </a:solidFill>
                      <a:prstDash val="solid"/>
                      <a:round/>
                      <a:headEnd type="none" w="med" len="med"/>
                      <a:tailEnd type="none" w="med" len="med"/>
                    </a:lnT>
                    <a:lnB w="6350" cap="flat" cmpd="sng" algn="ctr">
                      <a:solidFill>
                        <a:srgbClr val="C9CDDB"/>
                      </a:solidFill>
                      <a:prstDash val="solid"/>
                      <a:round/>
                      <a:headEnd type="none" w="med" len="med"/>
                      <a:tailEnd type="none" w="med" len="med"/>
                    </a:lnB>
                    <a:solidFill>
                      <a:srgbClr val="1B1F3B"/>
                    </a:solidFill>
                  </a:tcPr>
                </a:tc>
                <a:tc>
                  <a:txBody>
                    <a:bodyPr/>
                    <a:lstStyle/>
                    <a:p>
                      <a:pPr indent="0" marL="0">
                        <a:buNone/>
                      </a:pPr>
                      <a:r>
                        <a:rPr lang="en-US" sz="1600" b="1" dirty="0">
                          <a:solidFill>
                            <a:srgbClr val="FFFFFF"/>
                          </a:solidFill>
                          <a:latin typeface="Calibri" pitchFamily="34" charset="0"/>
                          <a:ea typeface="Calibri" pitchFamily="34" charset="-122"/>
                          <a:cs typeface="Calibri" pitchFamily="34" charset="-120"/>
                        </a:rPr>
                        <a:t>Serverless</a:t>
                      </a:r>
                      <a:endParaRPr lang="en-US" sz="1600" dirty="0">
                        <a:latin typeface="Calibri" charset="0"/>
                        <a:ea typeface="Calibri" charset="0"/>
                        <a:cs typeface="Calibri" charset="0"/>
                      </a:endParaRPr>
                    </a:p>
                  </a:txBody>
                  <a:tcPr marL="45720" marR="45720" marT="45720" marB="45720" anchor="ctr">
                    <a:lnL w="6350" cap="flat" cmpd="sng" algn="ctr">
                      <a:solidFill>
                        <a:srgbClr val="C9CDDB"/>
                      </a:solidFill>
                      <a:prstDash val="solid"/>
                      <a:round/>
                      <a:headEnd type="none" w="med" len="med"/>
                      <a:tailEnd type="none" w="med" len="med"/>
                    </a:lnL>
                    <a:lnR w="6350" cap="flat" cmpd="sng" algn="ctr">
                      <a:solidFill>
                        <a:srgbClr val="C9CDDB"/>
                      </a:solidFill>
                      <a:prstDash val="solid"/>
                      <a:round/>
                      <a:headEnd type="none" w="med" len="med"/>
                      <a:tailEnd type="none" w="med" len="med"/>
                    </a:lnR>
                    <a:lnT w="6350" cap="flat" cmpd="sng" algn="ctr">
                      <a:solidFill>
                        <a:srgbClr val="C9CDDB"/>
                      </a:solidFill>
                      <a:prstDash val="solid"/>
                      <a:round/>
                      <a:headEnd type="none" w="med" len="med"/>
                      <a:tailEnd type="none" w="med" len="med"/>
                    </a:lnT>
                    <a:lnB w="6350" cap="flat" cmpd="sng" algn="ctr">
                      <a:solidFill>
                        <a:srgbClr val="C9CDDB"/>
                      </a:solidFill>
                      <a:prstDash val="solid"/>
                      <a:round/>
                      <a:headEnd type="none" w="med" len="med"/>
                      <a:tailEnd type="none" w="med" len="med"/>
                    </a:lnB>
                    <a:solidFill>
                      <a:srgbClr val="1B1F3B"/>
                    </a:solidFill>
                  </a:tcPr>
                </a:tc>
              </a:tr>
              <a:tr h="0">
                <a:tc>
                  <a:txBody>
                    <a:bodyPr/>
                    <a:lstStyle/>
                    <a:p>
                      <a:pPr indent="0" marL="0">
                        <a:buNone/>
                      </a:pPr>
                      <a:r>
                        <a:rPr lang="en-US" sz="1600" dirty="0">
                          <a:solidFill>
                            <a:srgbClr val="1B1F3B"/>
                          </a:solidFill>
                          <a:latin typeface="Calibri" pitchFamily="34" charset="0"/>
                          <a:ea typeface="Calibri" pitchFamily="34" charset="-122"/>
                          <a:cs typeface="Calibri" pitchFamily="34" charset="-120"/>
                        </a:rPr>
                        <a:t>Spotify app / Web API</a:t>
                      </a:r>
                      <a:endParaRPr lang="en-US" sz="1600" dirty="0">
                        <a:latin typeface="Calibri" charset="0"/>
                        <a:ea typeface="Calibri" charset="0"/>
                        <a:cs typeface="Calibri" charset="0"/>
                      </a:endParaRPr>
                    </a:p>
                  </a:txBody>
                  <a:tcPr marL="45720" marR="45720" marT="45720" marB="45720" anchor="ctr">
                    <a:lnL w="6350" cap="flat" cmpd="sng" algn="ctr">
                      <a:solidFill>
                        <a:srgbClr val="C9CDDB"/>
                      </a:solidFill>
                      <a:prstDash val="solid"/>
                      <a:round/>
                      <a:headEnd type="none" w="med" len="med"/>
                      <a:tailEnd type="none" w="med" len="med"/>
                    </a:lnL>
                    <a:lnR w="6350" cap="flat" cmpd="sng" algn="ctr">
                      <a:solidFill>
                        <a:srgbClr val="C9CDDB"/>
                      </a:solidFill>
                      <a:prstDash val="solid"/>
                      <a:round/>
                      <a:headEnd type="none" w="med" len="med"/>
                      <a:tailEnd type="none" w="med" len="med"/>
                    </a:lnR>
                    <a:lnT w="6350" cap="flat" cmpd="sng" algn="ctr">
                      <a:solidFill>
                        <a:srgbClr val="C9CDDB"/>
                      </a:solidFill>
                      <a:prstDash val="solid"/>
                      <a:round/>
                      <a:headEnd type="none" w="med" len="med"/>
                      <a:tailEnd type="none" w="med" len="med"/>
                    </a:lnT>
                    <a:lnB w="6350" cap="flat" cmpd="sng" algn="ctr">
                      <a:solidFill>
                        <a:srgbClr val="C9CDDB"/>
                      </a:solidFill>
                      <a:prstDash val="solid"/>
                      <a:round/>
                      <a:headEnd type="none" w="med" len="med"/>
                      <a:tailEnd type="none" w="med" len="med"/>
                    </a:lnB>
                    <a:solidFill>
                      <a:srgbClr val="EEF0F7"/>
                    </a:solidFill>
                  </a:tcPr>
                </a:tc>
                <a:tc>
                  <a:txBody>
                    <a:bodyPr/>
                    <a:lstStyle/>
                    <a:p>
                      <a:pPr indent="0" marL="0">
                        <a:buNone/>
                      </a:pPr>
                      <a:r>
                        <a:rPr lang="en-US" sz="1600" dirty="0">
                          <a:solidFill>
                            <a:srgbClr val="1B1F3B"/>
                          </a:solidFill>
                          <a:latin typeface="Calibri" pitchFamily="34" charset="0"/>
                          <a:ea typeface="Calibri" pitchFamily="34" charset="-122"/>
                          <a:cs typeface="Calibri" pitchFamily="34" charset="-120"/>
                        </a:rPr>
                        <a:t>No (closed)</a:t>
                      </a:r>
                      <a:endParaRPr lang="en-US" sz="1600" dirty="0">
                        <a:latin typeface="Calibri" charset="0"/>
                        <a:ea typeface="Calibri" charset="0"/>
                        <a:cs typeface="Calibri" charset="0"/>
                      </a:endParaRPr>
                    </a:p>
                  </a:txBody>
                  <a:tcPr marL="45720" marR="45720" marT="45720" marB="45720" anchor="ctr">
                    <a:lnL w="6350" cap="flat" cmpd="sng" algn="ctr">
                      <a:solidFill>
                        <a:srgbClr val="C9CDDB"/>
                      </a:solidFill>
                      <a:prstDash val="solid"/>
                      <a:round/>
                      <a:headEnd type="none" w="med" len="med"/>
                      <a:tailEnd type="none" w="med" len="med"/>
                    </a:lnL>
                    <a:lnR w="6350" cap="flat" cmpd="sng" algn="ctr">
                      <a:solidFill>
                        <a:srgbClr val="C9CDDB"/>
                      </a:solidFill>
                      <a:prstDash val="solid"/>
                      <a:round/>
                      <a:headEnd type="none" w="med" len="med"/>
                      <a:tailEnd type="none" w="med" len="med"/>
                    </a:lnR>
                    <a:lnT w="6350" cap="flat" cmpd="sng" algn="ctr">
                      <a:solidFill>
                        <a:srgbClr val="C9CDDB"/>
                      </a:solidFill>
                      <a:prstDash val="solid"/>
                      <a:round/>
                      <a:headEnd type="none" w="med" len="med"/>
                      <a:tailEnd type="none" w="med" len="med"/>
                    </a:lnT>
                    <a:lnB w="6350" cap="flat" cmpd="sng" algn="ctr">
                      <a:solidFill>
                        <a:srgbClr val="C9CDDB"/>
                      </a:solidFill>
                      <a:prstDash val="solid"/>
                      <a:round/>
                      <a:headEnd type="none" w="med" len="med"/>
                      <a:tailEnd type="none" w="med" len="med"/>
                    </a:lnB>
                    <a:solidFill>
                      <a:srgbClr val="EEF0F7"/>
                    </a:solidFill>
                  </a:tcPr>
                </a:tc>
                <a:tc>
                  <a:txBody>
                    <a:bodyPr/>
                    <a:lstStyle/>
                    <a:p>
                      <a:pPr indent="0" marL="0">
                        <a:buNone/>
                      </a:pPr>
                      <a:r>
                        <a:rPr lang="en-US" sz="1600" dirty="0">
                          <a:solidFill>
                            <a:srgbClr val="1B1F3B"/>
                          </a:solidFill>
                          <a:latin typeface="Calibri" pitchFamily="34" charset="0"/>
                          <a:ea typeface="Calibri" pitchFamily="34" charset="-122"/>
                          <a:cs typeface="Calibri" pitchFamily="34" charset="-120"/>
                        </a:rPr>
                        <a:t>No</a:t>
                      </a:r>
                      <a:endParaRPr lang="en-US" sz="1600" dirty="0">
                        <a:latin typeface="Calibri" charset="0"/>
                        <a:ea typeface="Calibri" charset="0"/>
                        <a:cs typeface="Calibri" charset="0"/>
                      </a:endParaRPr>
                    </a:p>
                  </a:txBody>
                  <a:tcPr marL="45720" marR="45720" marT="45720" marB="45720" anchor="ctr">
                    <a:lnL w="6350" cap="flat" cmpd="sng" algn="ctr">
                      <a:solidFill>
                        <a:srgbClr val="C9CDDB"/>
                      </a:solidFill>
                      <a:prstDash val="solid"/>
                      <a:round/>
                      <a:headEnd type="none" w="med" len="med"/>
                      <a:tailEnd type="none" w="med" len="med"/>
                    </a:lnL>
                    <a:lnR w="6350" cap="flat" cmpd="sng" algn="ctr">
                      <a:solidFill>
                        <a:srgbClr val="C9CDDB"/>
                      </a:solidFill>
                      <a:prstDash val="solid"/>
                      <a:round/>
                      <a:headEnd type="none" w="med" len="med"/>
                      <a:tailEnd type="none" w="med" len="med"/>
                    </a:lnR>
                    <a:lnT w="6350" cap="flat" cmpd="sng" algn="ctr">
                      <a:solidFill>
                        <a:srgbClr val="C9CDDB"/>
                      </a:solidFill>
                      <a:prstDash val="solid"/>
                      <a:round/>
                      <a:headEnd type="none" w="med" len="med"/>
                      <a:tailEnd type="none" w="med" len="med"/>
                    </a:lnT>
                    <a:lnB w="6350" cap="flat" cmpd="sng" algn="ctr">
                      <a:solidFill>
                        <a:srgbClr val="C9CDDB"/>
                      </a:solidFill>
                      <a:prstDash val="solid"/>
                      <a:round/>
                      <a:headEnd type="none" w="med" len="med"/>
                      <a:tailEnd type="none" w="med" len="med"/>
                    </a:lnB>
                    <a:solidFill>
                      <a:srgbClr val="EEF0F7"/>
                    </a:solidFill>
                  </a:tcPr>
                </a:tc>
                <a:tc>
                  <a:txBody>
                    <a:bodyPr/>
                    <a:lstStyle/>
                    <a:p>
                      <a:pPr indent="0" marL="0">
                        <a:buNone/>
                      </a:pPr>
                      <a:r>
                        <a:rPr lang="en-US" sz="1600" dirty="0">
                          <a:solidFill>
                            <a:srgbClr val="1B1F3B"/>
                          </a:solidFill>
                          <a:latin typeface="Calibri" pitchFamily="34" charset="0"/>
                          <a:ea typeface="Calibri" pitchFamily="34" charset="-122"/>
                          <a:cs typeface="Calibri" pitchFamily="34" charset="-120"/>
                        </a:rPr>
                        <a:t>No</a:t>
                      </a:r>
                      <a:endParaRPr lang="en-US" sz="1600" dirty="0">
                        <a:latin typeface="Calibri" charset="0"/>
                        <a:ea typeface="Calibri" charset="0"/>
                        <a:cs typeface="Calibri" charset="0"/>
                      </a:endParaRPr>
                    </a:p>
                  </a:txBody>
                  <a:tcPr marL="45720" marR="45720" marT="45720" marB="45720" anchor="ctr">
                    <a:lnL w="6350" cap="flat" cmpd="sng" algn="ctr">
                      <a:solidFill>
                        <a:srgbClr val="C9CDDB"/>
                      </a:solidFill>
                      <a:prstDash val="solid"/>
                      <a:round/>
                      <a:headEnd type="none" w="med" len="med"/>
                      <a:tailEnd type="none" w="med" len="med"/>
                    </a:lnL>
                    <a:lnR w="6350" cap="flat" cmpd="sng" algn="ctr">
                      <a:solidFill>
                        <a:srgbClr val="C9CDDB"/>
                      </a:solidFill>
                      <a:prstDash val="solid"/>
                      <a:round/>
                      <a:headEnd type="none" w="med" len="med"/>
                      <a:tailEnd type="none" w="med" len="med"/>
                    </a:lnR>
                    <a:lnT w="6350" cap="flat" cmpd="sng" algn="ctr">
                      <a:solidFill>
                        <a:srgbClr val="C9CDDB"/>
                      </a:solidFill>
                      <a:prstDash val="solid"/>
                      <a:round/>
                      <a:headEnd type="none" w="med" len="med"/>
                      <a:tailEnd type="none" w="med" len="med"/>
                    </a:lnT>
                    <a:lnB w="6350" cap="flat" cmpd="sng" algn="ctr">
                      <a:solidFill>
                        <a:srgbClr val="C9CDDB"/>
                      </a:solidFill>
                      <a:prstDash val="solid"/>
                      <a:round/>
                      <a:headEnd type="none" w="med" len="med"/>
                      <a:tailEnd type="none" w="med" len="med"/>
                    </a:lnB>
                    <a:solidFill>
                      <a:srgbClr val="EEF0F7"/>
                    </a:solidFill>
                  </a:tcPr>
                </a:tc>
                <a:tc>
                  <a:txBody>
                    <a:bodyPr/>
                    <a:lstStyle/>
                    <a:p>
                      <a:pPr indent="0" marL="0">
                        <a:buNone/>
                      </a:pPr>
                      <a:r>
                        <a:rPr lang="en-US" sz="1600" dirty="0">
                          <a:solidFill>
                            <a:srgbClr val="1B1F3B"/>
                          </a:solidFill>
                          <a:latin typeface="Calibri" pitchFamily="34" charset="0"/>
                          <a:ea typeface="Calibri" pitchFamily="34" charset="-122"/>
                          <a:cs typeface="Calibri" pitchFamily="34" charset="-120"/>
                        </a:rPr>
                        <a:t>Yes (app)</a:t>
                      </a:r>
                      <a:endParaRPr lang="en-US" sz="1600" dirty="0">
                        <a:latin typeface="Calibri" charset="0"/>
                        <a:ea typeface="Calibri" charset="0"/>
                        <a:cs typeface="Calibri" charset="0"/>
                      </a:endParaRPr>
                    </a:p>
                  </a:txBody>
                  <a:tcPr marL="45720" marR="45720" marT="45720" marB="45720" anchor="ctr">
                    <a:lnL w="6350" cap="flat" cmpd="sng" algn="ctr">
                      <a:solidFill>
                        <a:srgbClr val="C9CDDB"/>
                      </a:solidFill>
                      <a:prstDash val="solid"/>
                      <a:round/>
                      <a:headEnd type="none" w="med" len="med"/>
                      <a:tailEnd type="none" w="med" len="med"/>
                    </a:lnL>
                    <a:lnR w="6350" cap="flat" cmpd="sng" algn="ctr">
                      <a:solidFill>
                        <a:srgbClr val="C9CDDB"/>
                      </a:solidFill>
                      <a:prstDash val="solid"/>
                      <a:round/>
                      <a:headEnd type="none" w="med" len="med"/>
                      <a:tailEnd type="none" w="med" len="med"/>
                    </a:lnR>
                    <a:lnT w="6350" cap="flat" cmpd="sng" algn="ctr">
                      <a:solidFill>
                        <a:srgbClr val="C9CDDB"/>
                      </a:solidFill>
                      <a:prstDash val="solid"/>
                      <a:round/>
                      <a:headEnd type="none" w="med" len="med"/>
                      <a:tailEnd type="none" w="med" len="med"/>
                    </a:lnT>
                    <a:lnB w="6350" cap="flat" cmpd="sng" algn="ctr">
                      <a:solidFill>
                        <a:srgbClr val="C9CDDB"/>
                      </a:solidFill>
                      <a:prstDash val="solid"/>
                      <a:round/>
                      <a:headEnd type="none" w="med" len="med"/>
                      <a:tailEnd type="none" w="med" len="med"/>
                    </a:lnB>
                    <a:solidFill>
                      <a:srgbClr val="EEF0F7"/>
                    </a:solidFill>
                  </a:tcPr>
                </a:tc>
                <a:tc>
                  <a:txBody>
                    <a:bodyPr/>
                    <a:lstStyle/>
                    <a:p>
                      <a:pPr indent="0" marL="0">
                        <a:buNone/>
                      </a:pPr>
                      <a:r>
                        <a:rPr lang="en-US" sz="1600" dirty="0">
                          <a:solidFill>
                            <a:srgbClr val="1B1F3B"/>
                          </a:solidFill>
                          <a:latin typeface="Calibri" pitchFamily="34" charset="0"/>
                          <a:ea typeface="Calibri" pitchFamily="34" charset="-122"/>
                          <a:cs typeface="Calibri" pitchFamily="34" charset="-120"/>
                        </a:rPr>
                        <a:t>No</a:t>
                      </a:r>
                      <a:endParaRPr lang="en-US" sz="1600" dirty="0">
                        <a:latin typeface="Calibri" charset="0"/>
                        <a:ea typeface="Calibri" charset="0"/>
                        <a:cs typeface="Calibri" charset="0"/>
                      </a:endParaRPr>
                    </a:p>
                  </a:txBody>
                  <a:tcPr marL="45720" marR="45720" marT="45720" marB="45720" anchor="ctr">
                    <a:lnL w="6350" cap="flat" cmpd="sng" algn="ctr">
                      <a:solidFill>
                        <a:srgbClr val="C9CDDB"/>
                      </a:solidFill>
                      <a:prstDash val="solid"/>
                      <a:round/>
                      <a:headEnd type="none" w="med" len="med"/>
                      <a:tailEnd type="none" w="med" len="med"/>
                    </a:lnL>
                    <a:lnR w="6350" cap="flat" cmpd="sng" algn="ctr">
                      <a:solidFill>
                        <a:srgbClr val="C9CDDB"/>
                      </a:solidFill>
                      <a:prstDash val="solid"/>
                      <a:round/>
                      <a:headEnd type="none" w="med" len="med"/>
                      <a:tailEnd type="none" w="med" len="med"/>
                    </a:lnR>
                    <a:lnT w="6350" cap="flat" cmpd="sng" algn="ctr">
                      <a:solidFill>
                        <a:srgbClr val="C9CDDB"/>
                      </a:solidFill>
                      <a:prstDash val="solid"/>
                      <a:round/>
                      <a:headEnd type="none" w="med" len="med"/>
                      <a:tailEnd type="none" w="med" len="med"/>
                    </a:lnT>
                    <a:lnB w="6350" cap="flat" cmpd="sng" algn="ctr">
                      <a:solidFill>
                        <a:srgbClr val="C9CDDB"/>
                      </a:solidFill>
                      <a:prstDash val="solid"/>
                      <a:round/>
                      <a:headEnd type="none" w="med" len="med"/>
                      <a:tailEnd type="none" w="med" len="med"/>
                    </a:lnB>
                    <a:solidFill>
                      <a:srgbClr val="EEF0F7"/>
                    </a:solidFill>
                  </a:tcPr>
                </a:tc>
              </a:tr>
              <a:tr h="0">
                <a:tc>
                  <a:txBody>
                    <a:bodyPr/>
                    <a:lstStyle/>
                    <a:p>
                      <a:pPr indent="0" marL="0">
                        <a:buNone/>
                      </a:pPr>
                      <a:r>
                        <a:rPr lang="en-US" sz="1600" dirty="0">
                          <a:solidFill>
                            <a:srgbClr val="1B1F3B"/>
                          </a:solidFill>
                          <a:latin typeface="Calibri" pitchFamily="34" charset="0"/>
                          <a:ea typeface="Calibri" pitchFamily="34" charset="-122"/>
                          <a:cs typeface="Calibri" pitchFamily="34" charset="-120"/>
                        </a:rPr>
                        <a:t>Static notebooks / papers</a:t>
                      </a:r>
                      <a:endParaRPr lang="en-US" sz="1600" dirty="0">
                        <a:latin typeface="Calibri" charset="0"/>
                        <a:ea typeface="Calibri" charset="0"/>
                        <a:cs typeface="Calibri" charset="0"/>
                      </a:endParaRPr>
                    </a:p>
                  </a:txBody>
                  <a:tcPr marL="45720" marR="45720" marT="45720" marB="45720" anchor="ctr">
                    <a:lnL w="6350" cap="flat" cmpd="sng" algn="ctr">
                      <a:solidFill>
                        <a:srgbClr val="C9CDDB"/>
                      </a:solidFill>
                      <a:prstDash val="solid"/>
                      <a:round/>
                      <a:headEnd type="none" w="med" len="med"/>
                      <a:tailEnd type="none" w="med" len="med"/>
                    </a:lnL>
                    <a:lnR w="6350" cap="flat" cmpd="sng" algn="ctr">
                      <a:solidFill>
                        <a:srgbClr val="C9CDDB"/>
                      </a:solidFill>
                      <a:prstDash val="solid"/>
                      <a:round/>
                      <a:headEnd type="none" w="med" len="med"/>
                      <a:tailEnd type="none" w="med" len="med"/>
                    </a:lnR>
                    <a:lnT w="6350" cap="flat" cmpd="sng" algn="ctr">
                      <a:solidFill>
                        <a:srgbClr val="C9CDDB"/>
                      </a:solidFill>
                      <a:prstDash val="solid"/>
                      <a:round/>
                      <a:headEnd type="none" w="med" len="med"/>
                      <a:tailEnd type="none" w="med" len="med"/>
                    </a:lnT>
                    <a:lnB w="6350" cap="flat" cmpd="sng" algn="ctr">
                      <a:solidFill>
                        <a:srgbClr val="C9CDDB"/>
                      </a:solidFill>
                      <a:prstDash val="solid"/>
                      <a:round/>
                      <a:headEnd type="none" w="med" len="med"/>
                      <a:tailEnd type="none" w="med" len="med"/>
                    </a:lnB>
                    <a:solidFill>
                      <a:srgbClr val="FFFFFF"/>
                    </a:solidFill>
                  </a:tcPr>
                </a:tc>
                <a:tc>
                  <a:txBody>
                    <a:bodyPr/>
                    <a:lstStyle/>
                    <a:p>
                      <a:pPr indent="0" marL="0">
                        <a:buNone/>
                      </a:pPr>
                      <a:r>
                        <a:rPr lang="en-US" sz="1600" dirty="0">
                          <a:solidFill>
                            <a:srgbClr val="1B1F3B"/>
                          </a:solidFill>
                          <a:latin typeface="Calibri" pitchFamily="34" charset="0"/>
                          <a:ea typeface="Calibri" pitchFamily="34" charset="-122"/>
                          <a:cs typeface="Calibri" pitchFamily="34" charset="-120"/>
                        </a:rPr>
                        <a:t>Yes</a:t>
                      </a:r>
                      <a:endParaRPr lang="en-US" sz="1600" dirty="0">
                        <a:latin typeface="Calibri" charset="0"/>
                        <a:ea typeface="Calibri" charset="0"/>
                        <a:cs typeface="Calibri" charset="0"/>
                      </a:endParaRPr>
                    </a:p>
                  </a:txBody>
                  <a:tcPr marL="45720" marR="45720" marT="45720" marB="45720" anchor="ctr">
                    <a:lnL w="6350" cap="flat" cmpd="sng" algn="ctr">
                      <a:solidFill>
                        <a:srgbClr val="C9CDDB"/>
                      </a:solidFill>
                      <a:prstDash val="solid"/>
                      <a:round/>
                      <a:headEnd type="none" w="med" len="med"/>
                      <a:tailEnd type="none" w="med" len="med"/>
                    </a:lnL>
                    <a:lnR w="6350" cap="flat" cmpd="sng" algn="ctr">
                      <a:solidFill>
                        <a:srgbClr val="C9CDDB"/>
                      </a:solidFill>
                      <a:prstDash val="solid"/>
                      <a:round/>
                      <a:headEnd type="none" w="med" len="med"/>
                      <a:tailEnd type="none" w="med" len="med"/>
                    </a:lnR>
                    <a:lnT w="6350" cap="flat" cmpd="sng" algn="ctr">
                      <a:solidFill>
                        <a:srgbClr val="C9CDDB"/>
                      </a:solidFill>
                      <a:prstDash val="solid"/>
                      <a:round/>
                      <a:headEnd type="none" w="med" len="med"/>
                      <a:tailEnd type="none" w="med" len="med"/>
                    </a:lnT>
                    <a:lnB w="6350" cap="flat" cmpd="sng" algn="ctr">
                      <a:solidFill>
                        <a:srgbClr val="C9CDDB"/>
                      </a:solidFill>
                      <a:prstDash val="solid"/>
                      <a:round/>
                      <a:headEnd type="none" w="med" len="med"/>
                      <a:tailEnd type="none" w="med" len="med"/>
                    </a:lnB>
                    <a:solidFill>
                      <a:srgbClr val="FFFFFF"/>
                    </a:solidFill>
                  </a:tcPr>
                </a:tc>
                <a:tc>
                  <a:txBody>
                    <a:bodyPr/>
                    <a:lstStyle/>
                    <a:p>
                      <a:pPr indent="0" marL="0">
                        <a:buNone/>
                      </a:pPr>
                      <a:r>
                        <a:rPr lang="en-US" sz="1600" dirty="0">
                          <a:solidFill>
                            <a:srgbClr val="1B1F3B"/>
                          </a:solidFill>
                          <a:latin typeface="Calibri" pitchFamily="34" charset="0"/>
                          <a:ea typeface="Calibri" pitchFamily="34" charset="-122"/>
                          <a:cs typeface="Calibri" pitchFamily="34" charset="-120"/>
                        </a:rPr>
                        <a:t>Partly</a:t>
                      </a:r>
                      <a:endParaRPr lang="en-US" sz="1600" dirty="0">
                        <a:latin typeface="Calibri" charset="0"/>
                        <a:ea typeface="Calibri" charset="0"/>
                        <a:cs typeface="Calibri" charset="0"/>
                      </a:endParaRPr>
                    </a:p>
                  </a:txBody>
                  <a:tcPr marL="45720" marR="45720" marT="45720" marB="45720" anchor="ctr">
                    <a:lnL w="6350" cap="flat" cmpd="sng" algn="ctr">
                      <a:solidFill>
                        <a:srgbClr val="C9CDDB"/>
                      </a:solidFill>
                      <a:prstDash val="solid"/>
                      <a:round/>
                      <a:headEnd type="none" w="med" len="med"/>
                      <a:tailEnd type="none" w="med" len="med"/>
                    </a:lnL>
                    <a:lnR w="6350" cap="flat" cmpd="sng" algn="ctr">
                      <a:solidFill>
                        <a:srgbClr val="C9CDDB"/>
                      </a:solidFill>
                      <a:prstDash val="solid"/>
                      <a:round/>
                      <a:headEnd type="none" w="med" len="med"/>
                      <a:tailEnd type="none" w="med" len="med"/>
                    </a:lnR>
                    <a:lnT w="6350" cap="flat" cmpd="sng" algn="ctr">
                      <a:solidFill>
                        <a:srgbClr val="C9CDDB"/>
                      </a:solidFill>
                      <a:prstDash val="solid"/>
                      <a:round/>
                      <a:headEnd type="none" w="med" len="med"/>
                      <a:tailEnd type="none" w="med" len="med"/>
                    </a:lnT>
                    <a:lnB w="6350" cap="flat" cmpd="sng" algn="ctr">
                      <a:solidFill>
                        <a:srgbClr val="C9CDDB"/>
                      </a:solidFill>
                      <a:prstDash val="solid"/>
                      <a:round/>
                      <a:headEnd type="none" w="med" len="med"/>
                      <a:tailEnd type="none" w="med" len="med"/>
                    </a:lnB>
                    <a:solidFill>
                      <a:srgbClr val="FFFFFF"/>
                    </a:solidFill>
                  </a:tcPr>
                </a:tc>
                <a:tc>
                  <a:txBody>
                    <a:bodyPr/>
                    <a:lstStyle/>
                    <a:p>
                      <a:pPr indent="0" marL="0">
                        <a:buNone/>
                      </a:pPr>
                      <a:r>
                        <a:rPr lang="en-US" sz="1600" dirty="0">
                          <a:solidFill>
                            <a:srgbClr val="1B1F3B"/>
                          </a:solidFill>
                          <a:latin typeface="Calibri" pitchFamily="34" charset="0"/>
                          <a:ea typeface="Calibri" pitchFamily="34" charset="-122"/>
                          <a:cs typeface="Calibri" pitchFamily="34" charset="-120"/>
                        </a:rPr>
                        <a:t>Rarely</a:t>
                      </a:r>
                      <a:endParaRPr lang="en-US" sz="1600" dirty="0">
                        <a:latin typeface="Calibri" charset="0"/>
                        <a:ea typeface="Calibri" charset="0"/>
                        <a:cs typeface="Calibri" charset="0"/>
                      </a:endParaRPr>
                    </a:p>
                  </a:txBody>
                  <a:tcPr marL="45720" marR="45720" marT="45720" marB="45720" anchor="ctr">
                    <a:lnL w="6350" cap="flat" cmpd="sng" algn="ctr">
                      <a:solidFill>
                        <a:srgbClr val="C9CDDB"/>
                      </a:solidFill>
                      <a:prstDash val="solid"/>
                      <a:round/>
                      <a:headEnd type="none" w="med" len="med"/>
                      <a:tailEnd type="none" w="med" len="med"/>
                    </a:lnL>
                    <a:lnR w="6350" cap="flat" cmpd="sng" algn="ctr">
                      <a:solidFill>
                        <a:srgbClr val="C9CDDB"/>
                      </a:solidFill>
                      <a:prstDash val="solid"/>
                      <a:round/>
                      <a:headEnd type="none" w="med" len="med"/>
                      <a:tailEnd type="none" w="med" len="med"/>
                    </a:lnR>
                    <a:lnT w="6350" cap="flat" cmpd="sng" algn="ctr">
                      <a:solidFill>
                        <a:srgbClr val="C9CDDB"/>
                      </a:solidFill>
                      <a:prstDash val="solid"/>
                      <a:round/>
                      <a:headEnd type="none" w="med" len="med"/>
                      <a:tailEnd type="none" w="med" len="med"/>
                    </a:lnT>
                    <a:lnB w="6350" cap="flat" cmpd="sng" algn="ctr">
                      <a:solidFill>
                        <a:srgbClr val="C9CDDB"/>
                      </a:solidFill>
                      <a:prstDash val="solid"/>
                      <a:round/>
                      <a:headEnd type="none" w="med" len="med"/>
                      <a:tailEnd type="none" w="med" len="med"/>
                    </a:lnB>
                    <a:solidFill>
                      <a:srgbClr val="FFFFFF"/>
                    </a:solidFill>
                  </a:tcPr>
                </a:tc>
                <a:tc>
                  <a:txBody>
                    <a:bodyPr/>
                    <a:lstStyle/>
                    <a:p>
                      <a:pPr indent="0" marL="0">
                        <a:buNone/>
                      </a:pPr>
                      <a:r>
                        <a:rPr lang="en-US" sz="1600" dirty="0">
                          <a:solidFill>
                            <a:srgbClr val="1B1F3B"/>
                          </a:solidFill>
                          <a:latin typeface="Calibri" pitchFamily="34" charset="0"/>
                          <a:ea typeface="Calibri" pitchFamily="34" charset="-122"/>
                          <a:cs typeface="Calibri" pitchFamily="34" charset="-120"/>
                        </a:rPr>
                        <a:t>No</a:t>
                      </a:r>
                      <a:endParaRPr lang="en-US" sz="1600" dirty="0">
                        <a:latin typeface="Calibri" charset="0"/>
                        <a:ea typeface="Calibri" charset="0"/>
                        <a:cs typeface="Calibri" charset="0"/>
                      </a:endParaRPr>
                    </a:p>
                  </a:txBody>
                  <a:tcPr marL="45720" marR="45720" marT="45720" marB="45720" anchor="ctr">
                    <a:lnL w="6350" cap="flat" cmpd="sng" algn="ctr">
                      <a:solidFill>
                        <a:srgbClr val="C9CDDB"/>
                      </a:solidFill>
                      <a:prstDash val="solid"/>
                      <a:round/>
                      <a:headEnd type="none" w="med" len="med"/>
                      <a:tailEnd type="none" w="med" len="med"/>
                    </a:lnL>
                    <a:lnR w="6350" cap="flat" cmpd="sng" algn="ctr">
                      <a:solidFill>
                        <a:srgbClr val="C9CDDB"/>
                      </a:solidFill>
                      <a:prstDash val="solid"/>
                      <a:round/>
                      <a:headEnd type="none" w="med" len="med"/>
                      <a:tailEnd type="none" w="med" len="med"/>
                    </a:lnR>
                    <a:lnT w="6350" cap="flat" cmpd="sng" algn="ctr">
                      <a:solidFill>
                        <a:srgbClr val="C9CDDB"/>
                      </a:solidFill>
                      <a:prstDash val="solid"/>
                      <a:round/>
                      <a:headEnd type="none" w="med" len="med"/>
                      <a:tailEnd type="none" w="med" len="med"/>
                    </a:lnT>
                    <a:lnB w="6350" cap="flat" cmpd="sng" algn="ctr">
                      <a:solidFill>
                        <a:srgbClr val="C9CDDB"/>
                      </a:solidFill>
                      <a:prstDash val="solid"/>
                      <a:round/>
                      <a:headEnd type="none" w="med" len="med"/>
                      <a:tailEnd type="none" w="med" len="med"/>
                    </a:lnB>
                    <a:solidFill>
                      <a:srgbClr val="FFFFFF"/>
                    </a:solidFill>
                  </a:tcPr>
                </a:tc>
                <a:tc>
                  <a:txBody>
                    <a:bodyPr/>
                    <a:lstStyle/>
                    <a:p>
                      <a:pPr indent="0" marL="0">
                        <a:buNone/>
                      </a:pPr>
                      <a:r>
                        <a:rPr lang="en-US" sz="1600" dirty="0">
                          <a:solidFill>
                            <a:srgbClr val="1B1F3B"/>
                          </a:solidFill>
                          <a:latin typeface="Calibri" pitchFamily="34" charset="0"/>
                          <a:ea typeface="Calibri" pitchFamily="34" charset="-122"/>
                          <a:cs typeface="Calibri" pitchFamily="34" charset="-120"/>
                        </a:rPr>
                        <a:t>No</a:t>
                      </a:r>
                      <a:endParaRPr lang="en-US" sz="1600" dirty="0">
                        <a:latin typeface="Calibri" charset="0"/>
                        <a:ea typeface="Calibri" charset="0"/>
                        <a:cs typeface="Calibri" charset="0"/>
                      </a:endParaRPr>
                    </a:p>
                  </a:txBody>
                  <a:tcPr marL="45720" marR="45720" marT="45720" marB="45720" anchor="ctr">
                    <a:lnL w="6350" cap="flat" cmpd="sng" algn="ctr">
                      <a:solidFill>
                        <a:srgbClr val="C9CDDB"/>
                      </a:solidFill>
                      <a:prstDash val="solid"/>
                      <a:round/>
                      <a:headEnd type="none" w="med" len="med"/>
                      <a:tailEnd type="none" w="med" len="med"/>
                    </a:lnL>
                    <a:lnR w="6350" cap="flat" cmpd="sng" algn="ctr">
                      <a:solidFill>
                        <a:srgbClr val="C9CDDB"/>
                      </a:solidFill>
                      <a:prstDash val="solid"/>
                      <a:round/>
                      <a:headEnd type="none" w="med" len="med"/>
                      <a:tailEnd type="none" w="med" len="med"/>
                    </a:lnR>
                    <a:lnT w="6350" cap="flat" cmpd="sng" algn="ctr">
                      <a:solidFill>
                        <a:srgbClr val="C9CDDB"/>
                      </a:solidFill>
                      <a:prstDash val="solid"/>
                      <a:round/>
                      <a:headEnd type="none" w="med" len="med"/>
                      <a:tailEnd type="none" w="med" len="med"/>
                    </a:lnT>
                    <a:lnB w="6350" cap="flat" cmpd="sng" algn="ctr">
                      <a:solidFill>
                        <a:srgbClr val="C9CDDB"/>
                      </a:solidFill>
                      <a:prstDash val="solid"/>
                      <a:round/>
                      <a:headEnd type="none" w="med" len="med"/>
                      <a:tailEnd type="none" w="med" len="med"/>
                    </a:lnB>
                    <a:solidFill>
                      <a:srgbClr val="FFFFFF"/>
                    </a:solidFill>
                  </a:tcPr>
                </a:tc>
              </a:tr>
              <a:tr h="0">
                <a:tc>
                  <a:txBody>
                    <a:bodyPr/>
                    <a:lstStyle/>
                    <a:p>
                      <a:pPr indent="0" marL="0">
                        <a:buNone/>
                      </a:pPr>
                      <a:r>
                        <a:rPr lang="en-US" sz="1600" dirty="0">
                          <a:solidFill>
                            <a:srgbClr val="1B1F3B"/>
                          </a:solidFill>
                          <a:latin typeface="Calibri" pitchFamily="34" charset="0"/>
                          <a:ea typeface="Calibri" pitchFamily="34" charset="-122"/>
                          <a:cs typeface="Calibri" pitchFamily="34" charset="-120"/>
                        </a:rPr>
                        <a:t>Streamlit EDA app [25]</a:t>
                      </a:r>
                      <a:endParaRPr lang="en-US" sz="1600" dirty="0">
                        <a:latin typeface="Calibri" charset="0"/>
                        <a:ea typeface="Calibri" charset="0"/>
                        <a:cs typeface="Calibri" charset="0"/>
                      </a:endParaRPr>
                    </a:p>
                  </a:txBody>
                  <a:tcPr marL="45720" marR="45720" marT="45720" marB="45720" anchor="ctr">
                    <a:lnL w="6350" cap="flat" cmpd="sng" algn="ctr">
                      <a:solidFill>
                        <a:srgbClr val="C9CDDB"/>
                      </a:solidFill>
                      <a:prstDash val="solid"/>
                      <a:round/>
                      <a:headEnd type="none" w="med" len="med"/>
                      <a:tailEnd type="none" w="med" len="med"/>
                    </a:lnL>
                    <a:lnR w="6350" cap="flat" cmpd="sng" algn="ctr">
                      <a:solidFill>
                        <a:srgbClr val="C9CDDB"/>
                      </a:solidFill>
                      <a:prstDash val="solid"/>
                      <a:round/>
                      <a:headEnd type="none" w="med" len="med"/>
                      <a:tailEnd type="none" w="med" len="med"/>
                    </a:lnR>
                    <a:lnT w="6350" cap="flat" cmpd="sng" algn="ctr">
                      <a:solidFill>
                        <a:srgbClr val="C9CDDB"/>
                      </a:solidFill>
                      <a:prstDash val="solid"/>
                      <a:round/>
                      <a:headEnd type="none" w="med" len="med"/>
                      <a:tailEnd type="none" w="med" len="med"/>
                    </a:lnT>
                    <a:lnB w="6350" cap="flat" cmpd="sng" algn="ctr">
                      <a:solidFill>
                        <a:srgbClr val="C9CDDB"/>
                      </a:solidFill>
                      <a:prstDash val="solid"/>
                      <a:round/>
                      <a:headEnd type="none" w="med" len="med"/>
                      <a:tailEnd type="none" w="med" len="med"/>
                    </a:lnB>
                    <a:solidFill>
                      <a:srgbClr val="EEF0F7"/>
                    </a:solidFill>
                  </a:tcPr>
                </a:tc>
                <a:tc>
                  <a:txBody>
                    <a:bodyPr/>
                    <a:lstStyle/>
                    <a:p>
                      <a:pPr indent="0" marL="0">
                        <a:buNone/>
                      </a:pPr>
                      <a:r>
                        <a:rPr lang="en-US" sz="1600" dirty="0">
                          <a:solidFill>
                            <a:srgbClr val="1B1F3B"/>
                          </a:solidFill>
                          <a:latin typeface="Calibri" pitchFamily="34" charset="0"/>
                          <a:ea typeface="Calibri" pitchFamily="34" charset="-122"/>
                          <a:cs typeface="Calibri" pitchFamily="34" charset="-120"/>
                        </a:rPr>
                        <a:t>Yes</a:t>
                      </a:r>
                      <a:endParaRPr lang="en-US" sz="1600" dirty="0">
                        <a:latin typeface="Calibri" charset="0"/>
                        <a:ea typeface="Calibri" charset="0"/>
                        <a:cs typeface="Calibri" charset="0"/>
                      </a:endParaRPr>
                    </a:p>
                  </a:txBody>
                  <a:tcPr marL="45720" marR="45720" marT="45720" marB="45720" anchor="ctr">
                    <a:lnL w="6350" cap="flat" cmpd="sng" algn="ctr">
                      <a:solidFill>
                        <a:srgbClr val="C9CDDB"/>
                      </a:solidFill>
                      <a:prstDash val="solid"/>
                      <a:round/>
                      <a:headEnd type="none" w="med" len="med"/>
                      <a:tailEnd type="none" w="med" len="med"/>
                    </a:lnL>
                    <a:lnR w="6350" cap="flat" cmpd="sng" algn="ctr">
                      <a:solidFill>
                        <a:srgbClr val="C9CDDB"/>
                      </a:solidFill>
                      <a:prstDash val="solid"/>
                      <a:round/>
                      <a:headEnd type="none" w="med" len="med"/>
                      <a:tailEnd type="none" w="med" len="med"/>
                    </a:lnR>
                    <a:lnT w="6350" cap="flat" cmpd="sng" algn="ctr">
                      <a:solidFill>
                        <a:srgbClr val="C9CDDB"/>
                      </a:solidFill>
                      <a:prstDash val="solid"/>
                      <a:round/>
                      <a:headEnd type="none" w="med" len="med"/>
                      <a:tailEnd type="none" w="med" len="med"/>
                    </a:lnT>
                    <a:lnB w="6350" cap="flat" cmpd="sng" algn="ctr">
                      <a:solidFill>
                        <a:srgbClr val="C9CDDB"/>
                      </a:solidFill>
                      <a:prstDash val="solid"/>
                      <a:round/>
                      <a:headEnd type="none" w="med" len="med"/>
                      <a:tailEnd type="none" w="med" len="med"/>
                    </a:lnB>
                    <a:solidFill>
                      <a:srgbClr val="EEF0F7"/>
                    </a:solidFill>
                  </a:tcPr>
                </a:tc>
                <a:tc>
                  <a:txBody>
                    <a:bodyPr/>
                    <a:lstStyle/>
                    <a:p>
                      <a:pPr indent="0" marL="0">
                        <a:buNone/>
                      </a:pPr>
                      <a:r>
                        <a:rPr lang="en-US" sz="1600" dirty="0">
                          <a:solidFill>
                            <a:srgbClr val="1B1F3B"/>
                          </a:solidFill>
                          <a:latin typeface="Calibri" pitchFamily="34" charset="0"/>
                          <a:ea typeface="Calibri" pitchFamily="34" charset="-122"/>
                          <a:cs typeface="Calibri" pitchFamily="34" charset="-120"/>
                        </a:rPr>
                        <a:t>Generic</a:t>
                      </a:r>
                      <a:endParaRPr lang="en-US" sz="1600" dirty="0">
                        <a:latin typeface="Calibri" charset="0"/>
                        <a:ea typeface="Calibri" charset="0"/>
                        <a:cs typeface="Calibri" charset="0"/>
                      </a:endParaRPr>
                    </a:p>
                  </a:txBody>
                  <a:tcPr marL="45720" marR="45720" marT="45720" marB="45720" anchor="ctr">
                    <a:lnL w="6350" cap="flat" cmpd="sng" algn="ctr">
                      <a:solidFill>
                        <a:srgbClr val="C9CDDB"/>
                      </a:solidFill>
                      <a:prstDash val="solid"/>
                      <a:round/>
                      <a:headEnd type="none" w="med" len="med"/>
                      <a:tailEnd type="none" w="med" len="med"/>
                    </a:lnL>
                    <a:lnR w="6350" cap="flat" cmpd="sng" algn="ctr">
                      <a:solidFill>
                        <a:srgbClr val="C9CDDB"/>
                      </a:solidFill>
                      <a:prstDash val="solid"/>
                      <a:round/>
                      <a:headEnd type="none" w="med" len="med"/>
                      <a:tailEnd type="none" w="med" len="med"/>
                    </a:lnR>
                    <a:lnT w="6350" cap="flat" cmpd="sng" algn="ctr">
                      <a:solidFill>
                        <a:srgbClr val="C9CDDB"/>
                      </a:solidFill>
                      <a:prstDash val="solid"/>
                      <a:round/>
                      <a:headEnd type="none" w="med" len="med"/>
                      <a:tailEnd type="none" w="med" len="med"/>
                    </a:lnT>
                    <a:lnB w="6350" cap="flat" cmpd="sng" algn="ctr">
                      <a:solidFill>
                        <a:srgbClr val="C9CDDB"/>
                      </a:solidFill>
                      <a:prstDash val="solid"/>
                      <a:round/>
                      <a:headEnd type="none" w="med" len="med"/>
                      <a:tailEnd type="none" w="med" len="med"/>
                    </a:lnB>
                    <a:solidFill>
                      <a:srgbClr val="EEF0F7"/>
                    </a:solidFill>
                  </a:tcPr>
                </a:tc>
                <a:tc>
                  <a:txBody>
                    <a:bodyPr/>
                    <a:lstStyle/>
                    <a:p>
                      <a:pPr indent="0" marL="0">
                        <a:buNone/>
                      </a:pPr>
                      <a:r>
                        <a:rPr lang="en-US" sz="1600" dirty="0">
                          <a:solidFill>
                            <a:srgbClr val="1B1F3B"/>
                          </a:solidFill>
                          <a:latin typeface="Calibri" pitchFamily="34" charset="0"/>
                          <a:ea typeface="Calibri" pitchFamily="34" charset="-122"/>
                          <a:cs typeface="Calibri" pitchFamily="34" charset="-120"/>
                        </a:rPr>
                        <a:t>No</a:t>
                      </a:r>
                      <a:endParaRPr lang="en-US" sz="1600" dirty="0">
                        <a:latin typeface="Calibri" charset="0"/>
                        <a:ea typeface="Calibri" charset="0"/>
                        <a:cs typeface="Calibri" charset="0"/>
                      </a:endParaRPr>
                    </a:p>
                  </a:txBody>
                  <a:tcPr marL="45720" marR="45720" marT="45720" marB="45720" anchor="ctr">
                    <a:lnL w="6350" cap="flat" cmpd="sng" algn="ctr">
                      <a:solidFill>
                        <a:srgbClr val="C9CDDB"/>
                      </a:solidFill>
                      <a:prstDash val="solid"/>
                      <a:round/>
                      <a:headEnd type="none" w="med" len="med"/>
                      <a:tailEnd type="none" w="med" len="med"/>
                    </a:lnL>
                    <a:lnR w="6350" cap="flat" cmpd="sng" algn="ctr">
                      <a:solidFill>
                        <a:srgbClr val="C9CDDB"/>
                      </a:solidFill>
                      <a:prstDash val="solid"/>
                      <a:round/>
                      <a:headEnd type="none" w="med" len="med"/>
                      <a:tailEnd type="none" w="med" len="med"/>
                    </a:lnR>
                    <a:lnT w="6350" cap="flat" cmpd="sng" algn="ctr">
                      <a:solidFill>
                        <a:srgbClr val="C9CDDB"/>
                      </a:solidFill>
                      <a:prstDash val="solid"/>
                      <a:round/>
                      <a:headEnd type="none" w="med" len="med"/>
                      <a:tailEnd type="none" w="med" len="med"/>
                    </a:lnT>
                    <a:lnB w="6350" cap="flat" cmpd="sng" algn="ctr">
                      <a:solidFill>
                        <a:srgbClr val="C9CDDB"/>
                      </a:solidFill>
                      <a:prstDash val="solid"/>
                      <a:round/>
                      <a:headEnd type="none" w="med" len="med"/>
                      <a:tailEnd type="none" w="med" len="med"/>
                    </a:lnB>
                    <a:solidFill>
                      <a:srgbClr val="EEF0F7"/>
                    </a:solidFill>
                  </a:tcPr>
                </a:tc>
                <a:tc>
                  <a:txBody>
                    <a:bodyPr/>
                    <a:lstStyle/>
                    <a:p>
                      <a:pPr indent="0" marL="0">
                        <a:buNone/>
                      </a:pPr>
                      <a:r>
                        <a:rPr lang="en-US" sz="1600" dirty="0">
                          <a:solidFill>
                            <a:srgbClr val="1B1F3B"/>
                          </a:solidFill>
                          <a:latin typeface="Calibri" pitchFamily="34" charset="0"/>
                          <a:ea typeface="Calibri" pitchFamily="34" charset="-122"/>
                          <a:cs typeface="Calibri" pitchFamily="34" charset="-120"/>
                        </a:rPr>
                        <a:t>Yes</a:t>
                      </a:r>
                      <a:endParaRPr lang="en-US" sz="1600" dirty="0">
                        <a:latin typeface="Calibri" charset="0"/>
                        <a:ea typeface="Calibri" charset="0"/>
                        <a:cs typeface="Calibri" charset="0"/>
                      </a:endParaRPr>
                    </a:p>
                  </a:txBody>
                  <a:tcPr marL="45720" marR="45720" marT="45720" marB="45720" anchor="ctr">
                    <a:lnL w="6350" cap="flat" cmpd="sng" algn="ctr">
                      <a:solidFill>
                        <a:srgbClr val="C9CDDB"/>
                      </a:solidFill>
                      <a:prstDash val="solid"/>
                      <a:round/>
                      <a:headEnd type="none" w="med" len="med"/>
                      <a:tailEnd type="none" w="med" len="med"/>
                    </a:lnL>
                    <a:lnR w="6350" cap="flat" cmpd="sng" algn="ctr">
                      <a:solidFill>
                        <a:srgbClr val="C9CDDB"/>
                      </a:solidFill>
                      <a:prstDash val="solid"/>
                      <a:round/>
                      <a:headEnd type="none" w="med" len="med"/>
                      <a:tailEnd type="none" w="med" len="med"/>
                    </a:lnR>
                    <a:lnT w="6350" cap="flat" cmpd="sng" algn="ctr">
                      <a:solidFill>
                        <a:srgbClr val="C9CDDB"/>
                      </a:solidFill>
                      <a:prstDash val="solid"/>
                      <a:round/>
                      <a:headEnd type="none" w="med" len="med"/>
                      <a:tailEnd type="none" w="med" len="med"/>
                    </a:lnT>
                    <a:lnB w="6350" cap="flat" cmpd="sng" algn="ctr">
                      <a:solidFill>
                        <a:srgbClr val="C9CDDB"/>
                      </a:solidFill>
                      <a:prstDash val="solid"/>
                      <a:round/>
                      <a:headEnd type="none" w="med" len="med"/>
                      <a:tailEnd type="none" w="med" len="med"/>
                    </a:lnB>
                    <a:solidFill>
                      <a:srgbClr val="EEF0F7"/>
                    </a:solidFill>
                  </a:tcPr>
                </a:tc>
                <a:tc>
                  <a:txBody>
                    <a:bodyPr/>
                    <a:lstStyle/>
                    <a:p>
                      <a:pPr indent="0" marL="0">
                        <a:buNone/>
                      </a:pPr>
                      <a:r>
                        <a:rPr lang="en-US" sz="1600" dirty="0">
                          <a:solidFill>
                            <a:srgbClr val="1B1F3B"/>
                          </a:solidFill>
                          <a:latin typeface="Calibri" pitchFamily="34" charset="0"/>
                          <a:ea typeface="Calibri" pitchFamily="34" charset="-122"/>
                          <a:cs typeface="Calibri" pitchFamily="34" charset="-120"/>
                        </a:rPr>
                        <a:t>No (server)</a:t>
                      </a:r>
                      <a:endParaRPr lang="en-US" sz="1600" dirty="0">
                        <a:latin typeface="Calibri" charset="0"/>
                        <a:ea typeface="Calibri" charset="0"/>
                        <a:cs typeface="Calibri" charset="0"/>
                      </a:endParaRPr>
                    </a:p>
                  </a:txBody>
                  <a:tcPr marL="45720" marR="45720" marT="45720" marB="45720" anchor="ctr">
                    <a:lnL w="6350" cap="flat" cmpd="sng" algn="ctr">
                      <a:solidFill>
                        <a:srgbClr val="C9CDDB"/>
                      </a:solidFill>
                      <a:prstDash val="solid"/>
                      <a:round/>
                      <a:headEnd type="none" w="med" len="med"/>
                      <a:tailEnd type="none" w="med" len="med"/>
                    </a:lnL>
                    <a:lnR w="6350" cap="flat" cmpd="sng" algn="ctr">
                      <a:solidFill>
                        <a:srgbClr val="C9CDDB"/>
                      </a:solidFill>
                      <a:prstDash val="solid"/>
                      <a:round/>
                      <a:headEnd type="none" w="med" len="med"/>
                      <a:tailEnd type="none" w="med" len="med"/>
                    </a:lnR>
                    <a:lnT w="6350" cap="flat" cmpd="sng" algn="ctr">
                      <a:solidFill>
                        <a:srgbClr val="C9CDDB"/>
                      </a:solidFill>
                      <a:prstDash val="solid"/>
                      <a:round/>
                      <a:headEnd type="none" w="med" len="med"/>
                      <a:tailEnd type="none" w="med" len="med"/>
                    </a:lnT>
                    <a:lnB w="6350" cap="flat" cmpd="sng" algn="ctr">
                      <a:solidFill>
                        <a:srgbClr val="C9CDDB"/>
                      </a:solidFill>
                      <a:prstDash val="solid"/>
                      <a:round/>
                      <a:headEnd type="none" w="med" len="med"/>
                      <a:tailEnd type="none" w="med" len="med"/>
                    </a:lnB>
                    <a:solidFill>
                      <a:srgbClr val="EEF0F7"/>
                    </a:solidFill>
                  </a:tcPr>
                </a:tc>
              </a:tr>
              <a:tr h="0">
                <a:tc>
                  <a:txBody>
                    <a:bodyPr/>
                    <a:lstStyle/>
                    <a:p>
                      <a:pPr indent="0" marL="0">
                        <a:buNone/>
                      </a:pPr>
                      <a:r>
                        <a:rPr lang="en-US" sz="1600" dirty="0">
                          <a:solidFill>
                            <a:srgbClr val="1B1F3B"/>
                          </a:solidFill>
                          <a:latin typeface="Calibri" pitchFamily="34" charset="0"/>
                          <a:ea typeface="Calibri" pitchFamily="34" charset="-122"/>
                          <a:cs typeface="Calibri" pitchFamily="34" charset="-120"/>
                        </a:rPr>
                        <a:t>YData / Sweetviz / D-Tale</a:t>
                      </a:r>
                      <a:endParaRPr lang="en-US" sz="1600" dirty="0">
                        <a:latin typeface="Calibri" charset="0"/>
                        <a:ea typeface="Calibri" charset="0"/>
                        <a:cs typeface="Calibri" charset="0"/>
                      </a:endParaRPr>
                    </a:p>
                  </a:txBody>
                  <a:tcPr marL="45720" marR="45720" marT="45720" marB="45720" anchor="ctr">
                    <a:lnL w="6350" cap="flat" cmpd="sng" algn="ctr">
                      <a:solidFill>
                        <a:srgbClr val="C9CDDB"/>
                      </a:solidFill>
                      <a:prstDash val="solid"/>
                      <a:round/>
                      <a:headEnd type="none" w="med" len="med"/>
                      <a:tailEnd type="none" w="med" len="med"/>
                    </a:lnL>
                    <a:lnR w="6350" cap="flat" cmpd="sng" algn="ctr">
                      <a:solidFill>
                        <a:srgbClr val="C9CDDB"/>
                      </a:solidFill>
                      <a:prstDash val="solid"/>
                      <a:round/>
                      <a:headEnd type="none" w="med" len="med"/>
                      <a:tailEnd type="none" w="med" len="med"/>
                    </a:lnR>
                    <a:lnT w="6350" cap="flat" cmpd="sng" algn="ctr">
                      <a:solidFill>
                        <a:srgbClr val="C9CDDB"/>
                      </a:solidFill>
                      <a:prstDash val="solid"/>
                      <a:round/>
                      <a:headEnd type="none" w="med" len="med"/>
                      <a:tailEnd type="none" w="med" len="med"/>
                    </a:lnT>
                    <a:lnB w="6350" cap="flat" cmpd="sng" algn="ctr">
                      <a:solidFill>
                        <a:srgbClr val="C9CDDB"/>
                      </a:solidFill>
                      <a:prstDash val="solid"/>
                      <a:round/>
                      <a:headEnd type="none" w="med" len="med"/>
                      <a:tailEnd type="none" w="med" len="med"/>
                    </a:lnB>
                    <a:solidFill>
                      <a:srgbClr val="FFFFFF"/>
                    </a:solidFill>
                  </a:tcPr>
                </a:tc>
                <a:tc>
                  <a:txBody>
                    <a:bodyPr/>
                    <a:lstStyle/>
                    <a:p>
                      <a:pPr indent="0" marL="0">
                        <a:buNone/>
                      </a:pPr>
                      <a:r>
                        <a:rPr lang="en-US" sz="1600" dirty="0">
                          <a:solidFill>
                            <a:srgbClr val="1B1F3B"/>
                          </a:solidFill>
                          <a:latin typeface="Calibri" pitchFamily="34" charset="0"/>
                          <a:ea typeface="Calibri" pitchFamily="34" charset="-122"/>
                          <a:cs typeface="Calibri" pitchFamily="34" charset="-120"/>
                        </a:rPr>
                        <a:t>Yes</a:t>
                      </a:r>
                      <a:endParaRPr lang="en-US" sz="1600" dirty="0">
                        <a:latin typeface="Calibri" charset="0"/>
                        <a:ea typeface="Calibri" charset="0"/>
                        <a:cs typeface="Calibri" charset="0"/>
                      </a:endParaRPr>
                    </a:p>
                  </a:txBody>
                  <a:tcPr marL="45720" marR="45720" marT="45720" marB="45720" anchor="ctr">
                    <a:lnL w="6350" cap="flat" cmpd="sng" algn="ctr">
                      <a:solidFill>
                        <a:srgbClr val="C9CDDB"/>
                      </a:solidFill>
                      <a:prstDash val="solid"/>
                      <a:round/>
                      <a:headEnd type="none" w="med" len="med"/>
                      <a:tailEnd type="none" w="med" len="med"/>
                    </a:lnL>
                    <a:lnR w="6350" cap="flat" cmpd="sng" algn="ctr">
                      <a:solidFill>
                        <a:srgbClr val="C9CDDB"/>
                      </a:solidFill>
                      <a:prstDash val="solid"/>
                      <a:round/>
                      <a:headEnd type="none" w="med" len="med"/>
                      <a:tailEnd type="none" w="med" len="med"/>
                    </a:lnR>
                    <a:lnT w="6350" cap="flat" cmpd="sng" algn="ctr">
                      <a:solidFill>
                        <a:srgbClr val="C9CDDB"/>
                      </a:solidFill>
                      <a:prstDash val="solid"/>
                      <a:round/>
                      <a:headEnd type="none" w="med" len="med"/>
                      <a:tailEnd type="none" w="med" len="med"/>
                    </a:lnT>
                    <a:lnB w="6350" cap="flat" cmpd="sng" algn="ctr">
                      <a:solidFill>
                        <a:srgbClr val="C9CDDB"/>
                      </a:solidFill>
                      <a:prstDash val="solid"/>
                      <a:round/>
                      <a:headEnd type="none" w="med" len="med"/>
                      <a:tailEnd type="none" w="med" len="med"/>
                    </a:lnB>
                    <a:solidFill>
                      <a:srgbClr val="FFFFFF"/>
                    </a:solidFill>
                  </a:tcPr>
                </a:tc>
                <a:tc>
                  <a:txBody>
                    <a:bodyPr/>
                    <a:lstStyle/>
                    <a:p>
                      <a:pPr indent="0" marL="0">
                        <a:buNone/>
                      </a:pPr>
                      <a:r>
                        <a:rPr lang="en-US" sz="1600" dirty="0">
                          <a:solidFill>
                            <a:srgbClr val="1B1F3B"/>
                          </a:solidFill>
                          <a:latin typeface="Calibri" pitchFamily="34" charset="0"/>
                          <a:ea typeface="Calibri" pitchFamily="34" charset="-122"/>
                          <a:cs typeface="Calibri" pitchFamily="34" charset="-120"/>
                        </a:rPr>
                        <a:t>Generic</a:t>
                      </a:r>
                      <a:endParaRPr lang="en-US" sz="1600" dirty="0">
                        <a:latin typeface="Calibri" charset="0"/>
                        <a:ea typeface="Calibri" charset="0"/>
                        <a:cs typeface="Calibri" charset="0"/>
                      </a:endParaRPr>
                    </a:p>
                  </a:txBody>
                  <a:tcPr marL="45720" marR="45720" marT="45720" marB="45720" anchor="ctr">
                    <a:lnL w="6350" cap="flat" cmpd="sng" algn="ctr">
                      <a:solidFill>
                        <a:srgbClr val="C9CDDB"/>
                      </a:solidFill>
                      <a:prstDash val="solid"/>
                      <a:round/>
                      <a:headEnd type="none" w="med" len="med"/>
                      <a:tailEnd type="none" w="med" len="med"/>
                    </a:lnL>
                    <a:lnR w="6350" cap="flat" cmpd="sng" algn="ctr">
                      <a:solidFill>
                        <a:srgbClr val="C9CDDB"/>
                      </a:solidFill>
                      <a:prstDash val="solid"/>
                      <a:round/>
                      <a:headEnd type="none" w="med" len="med"/>
                      <a:tailEnd type="none" w="med" len="med"/>
                    </a:lnR>
                    <a:lnT w="6350" cap="flat" cmpd="sng" algn="ctr">
                      <a:solidFill>
                        <a:srgbClr val="C9CDDB"/>
                      </a:solidFill>
                      <a:prstDash val="solid"/>
                      <a:round/>
                      <a:headEnd type="none" w="med" len="med"/>
                      <a:tailEnd type="none" w="med" len="med"/>
                    </a:lnT>
                    <a:lnB w="6350" cap="flat" cmpd="sng" algn="ctr">
                      <a:solidFill>
                        <a:srgbClr val="C9CDDB"/>
                      </a:solidFill>
                      <a:prstDash val="solid"/>
                      <a:round/>
                      <a:headEnd type="none" w="med" len="med"/>
                      <a:tailEnd type="none" w="med" len="med"/>
                    </a:lnB>
                    <a:solidFill>
                      <a:srgbClr val="FFFFFF"/>
                    </a:solidFill>
                  </a:tcPr>
                </a:tc>
                <a:tc>
                  <a:txBody>
                    <a:bodyPr/>
                    <a:lstStyle/>
                    <a:p>
                      <a:pPr indent="0" marL="0">
                        <a:buNone/>
                      </a:pPr>
                      <a:r>
                        <a:rPr lang="en-US" sz="1600" dirty="0">
                          <a:solidFill>
                            <a:srgbClr val="1B1F3B"/>
                          </a:solidFill>
                          <a:latin typeface="Calibri" pitchFamily="34" charset="0"/>
                          <a:ea typeface="Calibri" pitchFamily="34" charset="-122"/>
                          <a:cs typeface="Calibri" pitchFamily="34" charset="-120"/>
                        </a:rPr>
                        <a:t>No</a:t>
                      </a:r>
                      <a:endParaRPr lang="en-US" sz="1600" dirty="0">
                        <a:latin typeface="Calibri" charset="0"/>
                        <a:ea typeface="Calibri" charset="0"/>
                        <a:cs typeface="Calibri" charset="0"/>
                      </a:endParaRPr>
                    </a:p>
                  </a:txBody>
                  <a:tcPr marL="45720" marR="45720" marT="45720" marB="45720" anchor="ctr">
                    <a:lnL w="6350" cap="flat" cmpd="sng" algn="ctr">
                      <a:solidFill>
                        <a:srgbClr val="C9CDDB"/>
                      </a:solidFill>
                      <a:prstDash val="solid"/>
                      <a:round/>
                      <a:headEnd type="none" w="med" len="med"/>
                      <a:tailEnd type="none" w="med" len="med"/>
                    </a:lnL>
                    <a:lnR w="6350" cap="flat" cmpd="sng" algn="ctr">
                      <a:solidFill>
                        <a:srgbClr val="C9CDDB"/>
                      </a:solidFill>
                      <a:prstDash val="solid"/>
                      <a:round/>
                      <a:headEnd type="none" w="med" len="med"/>
                      <a:tailEnd type="none" w="med" len="med"/>
                    </a:lnR>
                    <a:lnT w="6350" cap="flat" cmpd="sng" algn="ctr">
                      <a:solidFill>
                        <a:srgbClr val="C9CDDB"/>
                      </a:solidFill>
                      <a:prstDash val="solid"/>
                      <a:round/>
                      <a:headEnd type="none" w="med" len="med"/>
                      <a:tailEnd type="none" w="med" len="med"/>
                    </a:lnT>
                    <a:lnB w="6350" cap="flat" cmpd="sng" algn="ctr">
                      <a:solidFill>
                        <a:srgbClr val="C9CDDB"/>
                      </a:solidFill>
                      <a:prstDash val="solid"/>
                      <a:round/>
                      <a:headEnd type="none" w="med" len="med"/>
                      <a:tailEnd type="none" w="med" len="med"/>
                    </a:lnB>
                    <a:solidFill>
                      <a:srgbClr val="FFFFFF"/>
                    </a:solidFill>
                  </a:tcPr>
                </a:tc>
                <a:tc>
                  <a:txBody>
                    <a:bodyPr/>
                    <a:lstStyle/>
                    <a:p>
                      <a:pPr indent="0" marL="0">
                        <a:buNone/>
                      </a:pPr>
                      <a:r>
                        <a:rPr lang="en-US" sz="1600" dirty="0">
                          <a:solidFill>
                            <a:srgbClr val="1B1F3B"/>
                          </a:solidFill>
                          <a:latin typeface="Calibri" pitchFamily="34" charset="0"/>
                          <a:ea typeface="Calibri" pitchFamily="34" charset="-122"/>
                          <a:cs typeface="Calibri" pitchFamily="34" charset="-120"/>
                        </a:rPr>
                        <a:t>Partly</a:t>
                      </a:r>
                      <a:endParaRPr lang="en-US" sz="1600" dirty="0">
                        <a:latin typeface="Calibri" charset="0"/>
                        <a:ea typeface="Calibri" charset="0"/>
                        <a:cs typeface="Calibri" charset="0"/>
                      </a:endParaRPr>
                    </a:p>
                  </a:txBody>
                  <a:tcPr marL="45720" marR="45720" marT="45720" marB="45720" anchor="ctr">
                    <a:lnL w="6350" cap="flat" cmpd="sng" algn="ctr">
                      <a:solidFill>
                        <a:srgbClr val="C9CDDB"/>
                      </a:solidFill>
                      <a:prstDash val="solid"/>
                      <a:round/>
                      <a:headEnd type="none" w="med" len="med"/>
                      <a:tailEnd type="none" w="med" len="med"/>
                    </a:lnL>
                    <a:lnR w="6350" cap="flat" cmpd="sng" algn="ctr">
                      <a:solidFill>
                        <a:srgbClr val="C9CDDB"/>
                      </a:solidFill>
                      <a:prstDash val="solid"/>
                      <a:round/>
                      <a:headEnd type="none" w="med" len="med"/>
                      <a:tailEnd type="none" w="med" len="med"/>
                    </a:lnR>
                    <a:lnT w="6350" cap="flat" cmpd="sng" algn="ctr">
                      <a:solidFill>
                        <a:srgbClr val="C9CDDB"/>
                      </a:solidFill>
                      <a:prstDash val="solid"/>
                      <a:round/>
                      <a:headEnd type="none" w="med" len="med"/>
                      <a:tailEnd type="none" w="med" len="med"/>
                    </a:lnT>
                    <a:lnB w="6350" cap="flat" cmpd="sng" algn="ctr">
                      <a:solidFill>
                        <a:srgbClr val="C9CDDB"/>
                      </a:solidFill>
                      <a:prstDash val="solid"/>
                      <a:round/>
                      <a:headEnd type="none" w="med" len="med"/>
                      <a:tailEnd type="none" w="med" len="med"/>
                    </a:lnB>
                    <a:solidFill>
                      <a:srgbClr val="FFFFFF"/>
                    </a:solidFill>
                  </a:tcPr>
                </a:tc>
                <a:tc>
                  <a:txBody>
                    <a:bodyPr/>
                    <a:lstStyle/>
                    <a:p>
                      <a:pPr indent="0" marL="0">
                        <a:buNone/>
                      </a:pPr>
                      <a:r>
                        <a:rPr lang="en-US" sz="1600" dirty="0">
                          <a:solidFill>
                            <a:srgbClr val="1B1F3B"/>
                          </a:solidFill>
                          <a:latin typeface="Calibri" pitchFamily="34" charset="0"/>
                          <a:ea typeface="Calibri" pitchFamily="34" charset="-122"/>
                          <a:cs typeface="Calibri" pitchFamily="34" charset="-120"/>
                        </a:rPr>
                        <a:t>No (server for D-Tale)</a:t>
                      </a:r>
                      <a:endParaRPr lang="en-US" sz="1600" dirty="0">
                        <a:latin typeface="Calibri" charset="0"/>
                        <a:ea typeface="Calibri" charset="0"/>
                        <a:cs typeface="Calibri" charset="0"/>
                      </a:endParaRPr>
                    </a:p>
                  </a:txBody>
                  <a:tcPr marL="45720" marR="45720" marT="45720" marB="45720" anchor="ctr">
                    <a:lnL w="6350" cap="flat" cmpd="sng" algn="ctr">
                      <a:solidFill>
                        <a:srgbClr val="C9CDDB"/>
                      </a:solidFill>
                      <a:prstDash val="solid"/>
                      <a:round/>
                      <a:headEnd type="none" w="med" len="med"/>
                      <a:tailEnd type="none" w="med" len="med"/>
                    </a:lnL>
                    <a:lnR w="6350" cap="flat" cmpd="sng" algn="ctr">
                      <a:solidFill>
                        <a:srgbClr val="C9CDDB"/>
                      </a:solidFill>
                      <a:prstDash val="solid"/>
                      <a:round/>
                      <a:headEnd type="none" w="med" len="med"/>
                      <a:tailEnd type="none" w="med" len="med"/>
                    </a:lnR>
                    <a:lnT w="6350" cap="flat" cmpd="sng" algn="ctr">
                      <a:solidFill>
                        <a:srgbClr val="C9CDDB"/>
                      </a:solidFill>
                      <a:prstDash val="solid"/>
                      <a:round/>
                      <a:headEnd type="none" w="med" len="med"/>
                      <a:tailEnd type="none" w="med" len="med"/>
                    </a:lnT>
                    <a:lnB w="6350" cap="flat" cmpd="sng" algn="ctr">
                      <a:solidFill>
                        <a:srgbClr val="C9CDDB"/>
                      </a:solidFill>
                      <a:prstDash val="solid"/>
                      <a:round/>
                      <a:headEnd type="none" w="med" len="med"/>
                      <a:tailEnd type="none" w="med" len="med"/>
                    </a:lnB>
                    <a:solidFill>
                      <a:srgbClr val="FFFFFF"/>
                    </a:solidFill>
                  </a:tcPr>
                </a:tc>
              </a:tr>
              <a:tr h="0">
                <a:tc>
                  <a:txBody>
                    <a:bodyPr/>
                    <a:lstStyle/>
                    <a:p>
                      <a:pPr indent="0" marL="0">
                        <a:buNone/>
                      </a:pPr>
                      <a:r>
                        <a:rPr lang="en-US" sz="1600" dirty="0">
                          <a:solidFill>
                            <a:srgbClr val="1B1F3B"/>
                          </a:solidFill>
                          <a:latin typeface="Calibri" pitchFamily="34" charset="0"/>
                          <a:ea typeface="Calibri" pitchFamily="34" charset="-122"/>
                          <a:cs typeface="Calibri" pitchFamily="34" charset="-120"/>
                        </a:rPr>
                        <a:t>SonicAtlas (ours)</a:t>
                      </a:r>
                      <a:endParaRPr lang="en-US" sz="1600" dirty="0">
                        <a:latin typeface="Calibri" charset="0"/>
                        <a:ea typeface="Calibri" charset="0"/>
                        <a:cs typeface="Calibri" charset="0"/>
                      </a:endParaRPr>
                    </a:p>
                  </a:txBody>
                  <a:tcPr marL="45720" marR="45720" marT="45720" marB="45720" anchor="ctr">
                    <a:lnL w="6350" cap="flat" cmpd="sng" algn="ctr">
                      <a:solidFill>
                        <a:srgbClr val="C9CDDB"/>
                      </a:solidFill>
                      <a:prstDash val="solid"/>
                      <a:round/>
                      <a:headEnd type="none" w="med" len="med"/>
                      <a:tailEnd type="none" w="med" len="med"/>
                    </a:lnL>
                    <a:lnR w="6350" cap="flat" cmpd="sng" algn="ctr">
                      <a:solidFill>
                        <a:srgbClr val="C9CDDB"/>
                      </a:solidFill>
                      <a:prstDash val="solid"/>
                      <a:round/>
                      <a:headEnd type="none" w="med" len="med"/>
                      <a:tailEnd type="none" w="med" len="med"/>
                    </a:lnR>
                    <a:lnT w="6350" cap="flat" cmpd="sng" algn="ctr">
                      <a:solidFill>
                        <a:srgbClr val="C9CDDB"/>
                      </a:solidFill>
                      <a:prstDash val="solid"/>
                      <a:round/>
                      <a:headEnd type="none" w="med" len="med"/>
                      <a:tailEnd type="none" w="med" len="med"/>
                    </a:lnT>
                    <a:lnB w="6350" cap="flat" cmpd="sng" algn="ctr">
                      <a:solidFill>
                        <a:srgbClr val="C9CDDB"/>
                      </a:solidFill>
                      <a:prstDash val="solid"/>
                      <a:round/>
                      <a:headEnd type="none" w="med" len="med"/>
                      <a:tailEnd type="none" w="med" len="med"/>
                    </a:lnB>
                    <a:solidFill>
                      <a:srgbClr val="EEF0F7"/>
                    </a:solidFill>
                  </a:tcPr>
                </a:tc>
                <a:tc>
                  <a:txBody>
                    <a:bodyPr/>
                    <a:lstStyle/>
                    <a:p>
                      <a:pPr indent="0" marL="0">
                        <a:buNone/>
                      </a:pPr>
                      <a:r>
                        <a:rPr lang="en-US" sz="1600" dirty="0">
                          <a:solidFill>
                            <a:srgbClr val="1B1F3B"/>
                          </a:solidFill>
                          <a:latin typeface="Calibri" pitchFamily="34" charset="0"/>
                          <a:ea typeface="Calibri" pitchFamily="34" charset="-122"/>
                          <a:cs typeface="Calibri" pitchFamily="34" charset="-120"/>
                        </a:rPr>
                        <a:t>Yes</a:t>
                      </a:r>
                      <a:endParaRPr lang="en-US" sz="1600" dirty="0">
                        <a:latin typeface="Calibri" charset="0"/>
                        <a:ea typeface="Calibri" charset="0"/>
                        <a:cs typeface="Calibri" charset="0"/>
                      </a:endParaRPr>
                    </a:p>
                  </a:txBody>
                  <a:tcPr marL="45720" marR="45720" marT="45720" marB="45720" anchor="ctr">
                    <a:lnL w="6350" cap="flat" cmpd="sng" algn="ctr">
                      <a:solidFill>
                        <a:srgbClr val="C9CDDB"/>
                      </a:solidFill>
                      <a:prstDash val="solid"/>
                      <a:round/>
                      <a:headEnd type="none" w="med" len="med"/>
                      <a:tailEnd type="none" w="med" len="med"/>
                    </a:lnL>
                    <a:lnR w="6350" cap="flat" cmpd="sng" algn="ctr">
                      <a:solidFill>
                        <a:srgbClr val="C9CDDB"/>
                      </a:solidFill>
                      <a:prstDash val="solid"/>
                      <a:round/>
                      <a:headEnd type="none" w="med" len="med"/>
                      <a:tailEnd type="none" w="med" len="med"/>
                    </a:lnR>
                    <a:lnT w="6350" cap="flat" cmpd="sng" algn="ctr">
                      <a:solidFill>
                        <a:srgbClr val="C9CDDB"/>
                      </a:solidFill>
                      <a:prstDash val="solid"/>
                      <a:round/>
                      <a:headEnd type="none" w="med" len="med"/>
                      <a:tailEnd type="none" w="med" len="med"/>
                    </a:lnT>
                    <a:lnB w="6350" cap="flat" cmpd="sng" algn="ctr">
                      <a:solidFill>
                        <a:srgbClr val="C9CDDB"/>
                      </a:solidFill>
                      <a:prstDash val="solid"/>
                      <a:round/>
                      <a:headEnd type="none" w="med" len="med"/>
                      <a:tailEnd type="none" w="med" len="med"/>
                    </a:lnB>
                    <a:solidFill>
                      <a:srgbClr val="EEF0F7"/>
                    </a:solidFill>
                  </a:tcPr>
                </a:tc>
                <a:tc>
                  <a:txBody>
                    <a:bodyPr/>
                    <a:lstStyle/>
                    <a:p>
                      <a:pPr indent="0" marL="0">
                        <a:buNone/>
                      </a:pPr>
                      <a:r>
                        <a:rPr lang="en-US" sz="1600" dirty="0">
                          <a:solidFill>
                            <a:srgbClr val="1B1F3B"/>
                          </a:solidFill>
                          <a:latin typeface="Calibri" pitchFamily="34" charset="0"/>
                          <a:ea typeface="Calibri" pitchFamily="34" charset="-122"/>
                          <a:cs typeface="Calibri" pitchFamily="34" charset="-120"/>
                        </a:rPr>
                        <a:t>Yes</a:t>
                      </a:r>
                      <a:endParaRPr lang="en-US" sz="1600" dirty="0">
                        <a:latin typeface="Calibri" charset="0"/>
                        <a:ea typeface="Calibri" charset="0"/>
                        <a:cs typeface="Calibri" charset="0"/>
                      </a:endParaRPr>
                    </a:p>
                  </a:txBody>
                  <a:tcPr marL="45720" marR="45720" marT="45720" marB="45720" anchor="ctr">
                    <a:lnL w="6350" cap="flat" cmpd="sng" algn="ctr">
                      <a:solidFill>
                        <a:srgbClr val="C9CDDB"/>
                      </a:solidFill>
                      <a:prstDash val="solid"/>
                      <a:round/>
                      <a:headEnd type="none" w="med" len="med"/>
                      <a:tailEnd type="none" w="med" len="med"/>
                    </a:lnL>
                    <a:lnR w="6350" cap="flat" cmpd="sng" algn="ctr">
                      <a:solidFill>
                        <a:srgbClr val="C9CDDB"/>
                      </a:solidFill>
                      <a:prstDash val="solid"/>
                      <a:round/>
                      <a:headEnd type="none" w="med" len="med"/>
                      <a:tailEnd type="none" w="med" len="med"/>
                    </a:lnR>
                    <a:lnT w="6350" cap="flat" cmpd="sng" algn="ctr">
                      <a:solidFill>
                        <a:srgbClr val="C9CDDB"/>
                      </a:solidFill>
                      <a:prstDash val="solid"/>
                      <a:round/>
                      <a:headEnd type="none" w="med" len="med"/>
                      <a:tailEnd type="none" w="med" len="med"/>
                    </a:lnT>
                    <a:lnB w="6350" cap="flat" cmpd="sng" algn="ctr">
                      <a:solidFill>
                        <a:srgbClr val="C9CDDB"/>
                      </a:solidFill>
                      <a:prstDash val="solid"/>
                      <a:round/>
                      <a:headEnd type="none" w="med" len="med"/>
                      <a:tailEnd type="none" w="med" len="med"/>
                    </a:lnB>
                    <a:solidFill>
                      <a:srgbClr val="EEF0F7"/>
                    </a:solidFill>
                  </a:tcPr>
                </a:tc>
                <a:tc>
                  <a:txBody>
                    <a:bodyPr/>
                    <a:lstStyle/>
                    <a:p>
                      <a:pPr indent="0" marL="0">
                        <a:buNone/>
                      </a:pPr>
                      <a:r>
                        <a:rPr lang="en-US" sz="1600" dirty="0">
                          <a:solidFill>
                            <a:srgbClr val="1B1F3B"/>
                          </a:solidFill>
                          <a:latin typeface="Calibri" pitchFamily="34" charset="0"/>
                          <a:ea typeface="Calibri" pitchFamily="34" charset="-122"/>
                          <a:cs typeface="Calibri" pitchFamily="34" charset="-120"/>
                        </a:rPr>
                        <a:t>Yes</a:t>
                      </a:r>
                      <a:endParaRPr lang="en-US" sz="1600" dirty="0">
                        <a:latin typeface="Calibri" charset="0"/>
                        <a:ea typeface="Calibri" charset="0"/>
                        <a:cs typeface="Calibri" charset="0"/>
                      </a:endParaRPr>
                    </a:p>
                  </a:txBody>
                  <a:tcPr marL="45720" marR="45720" marT="45720" marB="45720" anchor="ctr">
                    <a:lnL w="6350" cap="flat" cmpd="sng" algn="ctr">
                      <a:solidFill>
                        <a:srgbClr val="C9CDDB"/>
                      </a:solidFill>
                      <a:prstDash val="solid"/>
                      <a:round/>
                      <a:headEnd type="none" w="med" len="med"/>
                      <a:tailEnd type="none" w="med" len="med"/>
                    </a:lnL>
                    <a:lnR w="6350" cap="flat" cmpd="sng" algn="ctr">
                      <a:solidFill>
                        <a:srgbClr val="C9CDDB"/>
                      </a:solidFill>
                      <a:prstDash val="solid"/>
                      <a:round/>
                      <a:headEnd type="none" w="med" len="med"/>
                      <a:tailEnd type="none" w="med" len="med"/>
                    </a:lnR>
                    <a:lnT w="6350" cap="flat" cmpd="sng" algn="ctr">
                      <a:solidFill>
                        <a:srgbClr val="C9CDDB"/>
                      </a:solidFill>
                      <a:prstDash val="solid"/>
                      <a:round/>
                      <a:headEnd type="none" w="med" len="med"/>
                      <a:tailEnd type="none" w="med" len="med"/>
                    </a:lnT>
                    <a:lnB w="6350" cap="flat" cmpd="sng" algn="ctr">
                      <a:solidFill>
                        <a:srgbClr val="C9CDDB"/>
                      </a:solidFill>
                      <a:prstDash val="solid"/>
                      <a:round/>
                      <a:headEnd type="none" w="med" len="med"/>
                      <a:tailEnd type="none" w="med" len="med"/>
                    </a:lnB>
                    <a:solidFill>
                      <a:srgbClr val="EEF0F7"/>
                    </a:solidFill>
                  </a:tcPr>
                </a:tc>
                <a:tc>
                  <a:txBody>
                    <a:bodyPr/>
                    <a:lstStyle/>
                    <a:p>
                      <a:pPr indent="0" marL="0">
                        <a:buNone/>
                      </a:pPr>
                      <a:r>
                        <a:rPr lang="en-US" sz="1600" dirty="0">
                          <a:solidFill>
                            <a:srgbClr val="1B1F3B"/>
                          </a:solidFill>
                          <a:latin typeface="Calibri" pitchFamily="34" charset="0"/>
                          <a:ea typeface="Calibri" pitchFamily="34" charset="-122"/>
                          <a:cs typeface="Calibri" pitchFamily="34" charset="-120"/>
                        </a:rPr>
                        <a:t>Yes</a:t>
                      </a:r>
                      <a:endParaRPr lang="en-US" sz="1600" dirty="0">
                        <a:latin typeface="Calibri" charset="0"/>
                        <a:ea typeface="Calibri" charset="0"/>
                        <a:cs typeface="Calibri" charset="0"/>
                      </a:endParaRPr>
                    </a:p>
                  </a:txBody>
                  <a:tcPr marL="45720" marR="45720" marT="45720" marB="45720" anchor="ctr">
                    <a:lnL w="6350" cap="flat" cmpd="sng" algn="ctr">
                      <a:solidFill>
                        <a:srgbClr val="C9CDDB"/>
                      </a:solidFill>
                      <a:prstDash val="solid"/>
                      <a:round/>
                      <a:headEnd type="none" w="med" len="med"/>
                      <a:tailEnd type="none" w="med" len="med"/>
                    </a:lnL>
                    <a:lnR w="6350" cap="flat" cmpd="sng" algn="ctr">
                      <a:solidFill>
                        <a:srgbClr val="C9CDDB"/>
                      </a:solidFill>
                      <a:prstDash val="solid"/>
                      <a:round/>
                      <a:headEnd type="none" w="med" len="med"/>
                      <a:tailEnd type="none" w="med" len="med"/>
                    </a:lnR>
                    <a:lnT w="6350" cap="flat" cmpd="sng" algn="ctr">
                      <a:solidFill>
                        <a:srgbClr val="C9CDDB"/>
                      </a:solidFill>
                      <a:prstDash val="solid"/>
                      <a:round/>
                      <a:headEnd type="none" w="med" len="med"/>
                      <a:tailEnd type="none" w="med" len="med"/>
                    </a:lnT>
                    <a:lnB w="6350" cap="flat" cmpd="sng" algn="ctr">
                      <a:solidFill>
                        <a:srgbClr val="C9CDDB"/>
                      </a:solidFill>
                      <a:prstDash val="solid"/>
                      <a:round/>
                      <a:headEnd type="none" w="med" len="med"/>
                      <a:tailEnd type="none" w="med" len="med"/>
                    </a:lnB>
                    <a:solidFill>
                      <a:srgbClr val="EEF0F7"/>
                    </a:solidFill>
                  </a:tcPr>
                </a:tc>
                <a:tc>
                  <a:txBody>
                    <a:bodyPr/>
                    <a:lstStyle/>
                    <a:p>
                      <a:pPr indent="0" marL="0">
                        <a:buNone/>
                      </a:pPr>
                      <a:r>
                        <a:rPr lang="en-US" sz="1600" dirty="0">
                          <a:solidFill>
                            <a:srgbClr val="1B1F3B"/>
                          </a:solidFill>
                          <a:latin typeface="Calibri" pitchFamily="34" charset="0"/>
                          <a:ea typeface="Calibri" pitchFamily="34" charset="-122"/>
                          <a:cs typeface="Calibri" pitchFamily="34" charset="-120"/>
                        </a:rPr>
                        <a:t>Yes</a:t>
                      </a:r>
                      <a:endParaRPr lang="en-US" sz="1600" dirty="0">
                        <a:latin typeface="Calibri" charset="0"/>
                        <a:ea typeface="Calibri" charset="0"/>
                        <a:cs typeface="Calibri" charset="0"/>
                      </a:endParaRPr>
                    </a:p>
                  </a:txBody>
                  <a:tcPr marL="45720" marR="45720" marT="45720" marB="45720" anchor="ctr">
                    <a:lnL w="6350" cap="flat" cmpd="sng" algn="ctr">
                      <a:solidFill>
                        <a:srgbClr val="C9CDDB"/>
                      </a:solidFill>
                      <a:prstDash val="solid"/>
                      <a:round/>
                      <a:headEnd type="none" w="med" len="med"/>
                      <a:tailEnd type="none" w="med" len="med"/>
                    </a:lnL>
                    <a:lnR w="6350" cap="flat" cmpd="sng" algn="ctr">
                      <a:solidFill>
                        <a:srgbClr val="C9CDDB"/>
                      </a:solidFill>
                      <a:prstDash val="solid"/>
                      <a:round/>
                      <a:headEnd type="none" w="med" len="med"/>
                      <a:tailEnd type="none" w="med" len="med"/>
                    </a:lnR>
                    <a:lnT w="6350" cap="flat" cmpd="sng" algn="ctr">
                      <a:solidFill>
                        <a:srgbClr val="C9CDDB"/>
                      </a:solidFill>
                      <a:prstDash val="solid"/>
                      <a:round/>
                      <a:headEnd type="none" w="med" len="med"/>
                      <a:tailEnd type="none" w="med" len="med"/>
                    </a:lnT>
                    <a:lnB w="6350" cap="flat" cmpd="sng" algn="ctr">
                      <a:solidFill>
                        <a:srgbClr val="C9CDDB"/>
                      </a:solidFill>
                      <a:prstDash val="solid"/>
                      <a:round/>
                      <a:headEnd type="none" w="med" len="med"/>
                      <a:tailEnd type="none" w="med" len="med"/>
                    </a:lnB>
                    <a:solidFill>
                      <a:srgbClr val="EEF0F7"/>
                    </a:solidFill>
                  </a:tcPr>
                </a:tc>
              </a:tr>
            </a:tbl>
          </a:graphicData>
        </a:graphic>
      </p:graphicFrame>
      <p:sp>
        <p:nvSpPr>
          <p:cNvPr id="5" name="Text 2"/>
          <p:cNvSpPr txBox="1"/>
          <p:nvPr/>
        </p:nvSpPr>
        <p:spPr>
          <a:xfrm>
            <a:off x="457200" y="5120640"/>
            <a:ext cx="11247120" cy="731520"/>
          </a:xfrm>
          <a:prstGeom prst="rect">
            <a:avLst/>
          </a:prstGeom>
          <a:noFill/>
          <a:ln/>
        </p:spPr>
        <p:txBody>
          <a:bodyPr wrap="square" lIns="0" tIns="0" rIns="0" bIns="0" rtlCol="0" anchor="ctr"/>
          <a:lstStyle/>
          <a:p>
            <a:pPr indent="0" marL="0">
              <a:buNone/>
            </a:pPr>
            <a:r>
              <a:rPr lang="en-US" sz="1800" b="1" dirty="0">
                <a:solidFill>
                  <a:srgbClr val="1B1F3B"/>
                </a:solidFill>
              </a:rPr>
              <a:t>Only SonicAtlas is open, music-aware, combines sound with words, and runs entirely in the browser.</a:t>
            </a:r>
            <a:endParaRPr lang="en-US" sz="1800" dirty="0"/>
          </a:p>
        </p:txBody>
      </p:sp>
      <p:sp>
        <p:nvSpPr>
          <p:cNvPr id="25" name="Slide Number Placeholder 0"/>
          <p:cNvSpPr>
            <a:spLocks noGrp="1"/>
          </p:cNvSpPr>
          <p:nvPr>
            <p:ph type="sldNum" sz="quarter" idx="4294967295"/>
          </p:nvPr>
        </p:nvSpPr>
        <p:spPr>
          <a:xfrm>
            <a:off x="11247120" y="6400800"/>
            <a:ext cx="548640" cy="320040"/>
          </a:xfrm>
          <a:prstGeom prst="rect">
            <a:avLst/>
          </a:prstGeom>
          <a:extLst>
            <a:ext uri="{C572A759-6A51-4108-AA02-DFA0A04FC94B}">
              <ma14:wrappingTextBoxFlag xmlns:ma14="http://schemas.microsoft.com/office/mac/drawingml/2011/main" val="0"/>
            </a:ext>
          </a:extLst>
        </p:spPr>
        <p:txBody>
          <a:bodyPr/>
          <a:lstStyle>
            <a:lvl1pPr>
              <a:defRPr sz="1100">
                <a:solidFill>
                  <a:srgbClr val="5B6178"/>
                </a:solidFill>
                <a:latin typeface="Calibri"/>
                <a:ea typeface="Calibri"/>
                <a:cs typeface="Calibri"/>
              </a:defRPr>
            </a:lvl1pPr>
          </a:lstStyle>
          <a:p>
            <a:pPr algn="l"/>
            <a:fld id="{F7021451-1387-4CA6-816F-3879F97B5CBC}" type="slidenum">
              <a:rPr b="0"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0"/>
          <p:cNvSpPr txBox="1"/>
          <p:nvPr/>
        </p:nvSpPr>
        <p:spPr>
          <a:xfrm>
            <a:off x="457200" y="274320"/>
            <a:ext cx="10972800" cy="320040"/>
          </a:xfrm>
          <a:prstGeom prst="rect">
            <a:avLst/>
          </a:prstGeom>
          <a:noFill/>
          <a:ln/>
        </p:spPr>
        <p:txBody>
          <a:bodyPr wrap="square" lIns="0" tIns="0" rIns="0" bIns="0" rtlCol="0" anchor="ctr"/>
          <a:lstStyle/>
          <a:p>
            <a:pPr indent="0" marL="0">
              <a:buNone/>
            </a:pPr>
            <a:r>
              <a:rPr lang="en-US" sz="1300" b="1" spc="200" kern="0" dirty="0">
                <a:solidFill>
                  <a:srgbClr val="B7791F"/>
                </a:solidFill>
              </a:rPr>
              <a:t>ARCHITECTURE / SYSTEM FLOW / MODULES</a:t>
            </a:r>
            <a:endParaRPr lang="en-US" sz="1300" dirty="0"/>
          </a:p>
        </p:txBody>
      </p:sp>
      <p:sp>
        <p:nvSpPr>
          <p:cNvPr id="3" name="Text 1"/>
          <p:cNvSpPr txBox="1"/>
          <p:nvPr/>
        </p:nvSpPr>
        <p:spPr>
          <a:xfrm>
            <a:off x="457200" y="566928"/>
            <a:ext cx="11247120" cy="777240"/>
          </a:xfrm>
          <a:prstGeom prst="rect">
            <a:avLst/>
          </a:prstGeom>
          <a:noFill/>
          <a:ln/>
        </p:spPr>
        <p:txBody>
          <a:bodyPr wrap="square" lIns="0" tIns="0" rIns="0" bIns="0" rtlCol="0" anchor="t"/>
          <a:lstStyle/>
          <a:p>
            <a:pPr indent="0" marL="0">
              <a:buNone/>
            </a:pPr>
            <a:r>
              <a:rPr lang="en-US" sz="3000" b="1" dirty="0">
                <a:solidFill>
                  <a:srgbClr val="1B1F3B"/>
                </a:solidFill>
              </a:rPr>
              <a:t>Heavy maths runs offline; querying runs in the user's browser</a:t>
            </a:r>
            <a:endParaRPr lang="en-US" sz="3000" dirty="0"/>
          </a:p>
        </p:txBody>
      </p:sp>
      <p:pic>
        <p:nvPicPr>
          <p:cNvPr id="4" name="Image 0" descr="fig_00_01_system_architecture.png">    </p:cNvPr>
          <p:cNvPicPr>
            <a:picLocks noChangeAspect="1"/>
          </p:cNvPicPr>
          <p:nvPr/>
        </p:nvPicPr>
        <p:blipFill>
          <a:blip r:embed="rId1"/>
          <a:stretch>
            <a:fillRect/>
          </a:stretch>
        </p:blipFill>
        <p:spPr>
          <a:xfrm>
            <a:off x="1812567" y="1463040"/>
            <a:ext cx="8536386" cy="4846320"/>
          </a:xfrm>
          <a:prstGeom prst="rect">
            <a:avLst/>
          </a:prstGeom>
        </p:spPr>
      </p:pic>
      <p:sp>
        <p:nvSpPr>
          <p:cNvPr id="25" name="Slide Number Placeholder 0"/>
          <p:cNvSpPr>
            <a:spLocks noGrp="1"/>
          </p:cNvSpPr>
          <p:nvPr>
            <p:ph type="sldNum" sz="quarter" idx="4294967295"/>
          </p:nvPr>
        </p:nvSpPr>
        <p:spPr>
          <a:xfrm>
            <a:off x="11247120" y="6400800"/>
            <a:ext cx="548640" cy="320040"/>
          </a:xfrm>
          <a:prstGeom prst="rect">
            <a:avLst/>
          </a:prstGeom>
          <a:extLst>
            <a:ext uri="{C572A759-6A51-4108-AA02-DFA0A04FC94B}">
              <ma14:wrappingTextBoxFlag xmlns:ma14="http://schemas.microsoft.com/office/mac/drawingml/2011/main" val="0"/>
            </a:ext>
          </a:extLst>
        </p:spPr>
        <p:txBody>
          <a:bodyPr/>
          <a:lstStyle>
            <a:lvl1pPr>
              <a:defRPr sz="1100">
                <a:solidFill>
                  <a:srgbClr val="5B6178"/>
                </a:solidFill>
                <a:latin typeface="Calibri"/>
                <a:ea typeface="Calibri"/>
                <a:cs typeface="Calibri"/>
              </a:defRPr>
            </a:lvl1pPr>
          </a:lstStyle>
          <a:p>
            <a:pPr algn="l"/>
            <a:fld id="{F7021451-1387-4CA6-816F-3879F97B5CBC}" type="slidenum">
              <a:rPr b="0"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0"/>
          <p:cNvSpPr txBox="1"/>
          <p:nvPr/>
        </p:nvSpPr>
        <p:spPr>
          <a:xfrm>
            <a:off x="457200" y="274320"/>
            <a:ext cx="10972800" cy="320040"/>
          </a:xfrm>
          <a:prstGeom prst="rect">
            <a:avLst/>
          </a:prstGeom>
          <a:noFill/>
          <a:ln/>
        </p:spPr>
        <p:txBody>
          <a:bodyPr wrap="square" lIns="0" tIns="0" rIns="0" bIns="0" rtlCol="0" anchor="ctr"/>
          <a:lstStyle/>
          <a:p>
            <a:pPr indent="0" marL="0">
              <a:buNone/>
            </a:pPr>
            <a:r>
              <a:rPr lang="en-US" sz="1300" b="1" spc="200" kern="0" dirty="0">
                <a:solidFill>
                  <a:srgbClr val="B7791F"/>
                </a:solidFill>
              </a:rPr>
              <a:t>METHODOLOGY</a:t>
            </a:r>
            <a:endParaRPr lang="en-US" sz="1300" dirty="0"/>
          </a:p>
        </p:txBody>
      </p:sp>
      <p:sp>
        <p:nvSpPr>
          <p:cNvPr id="3" name="Text 1"/>
          <p:cNvSpPr txBox="1"/>
          <p:nvPr/>
        </p:nvSpPr>
        <p:spPr>
          <a:xfrm>
            <a:off x="457200" y="566928"/>
            <a:ext cx="11247120" cy="777240"/>
          </a:xfrm>
          <a:prstGeom prst="rect">
            <a:avLst/>
          </a:prstGeom>
          <a:noFill/>
          <a:ln/>
        </p:spPr>
        <p:txBody>
          <a:bodyPr wrap="square" lIns="0" tIns="0" rIns="0" bIns="0" rtlCol="0" anchor="t"/>
          <a:lstStyle/>
          <a:p>
            <a:pPr indent="0" marL="0">
              <a:buNone/>
            </a:pPr>
            <a:r>
              <a:rPr lang="en-US" sz="3000" b="1" dirty="0">
                <a:solidFill>
                  <a:srgbClr val="1B1F3B"/>
                </a:solidFill>
              </a:rPr>
              <a:t>From raw public files to an interactive in-browser tool</a:t>
            </a:r>
            <a:endParaRPr lang="en-US" sz="3000" dirty="0"/>
          </a:p>
        </p:txBody>
      </p:sp>
      <p:pic>
        <p:nvPicPr>
          <p:cNvPr id="4" name="Image 0" descr="fig_00_02_methodology_flow.png">    </p:cNvPr>
          <p:cNvPicPr>
            <a:picLocks noChangeAspect="1"/>
          </p:cNvPicPr>
          <p:nvPr/>
        </p:nvPicPr>
        <p:blipFill>
          <a:blip r:embed="rId1"/>
          <a:stretch>
            <a:fillRect/>
          </a:stretch>
        </p:blipFill>
        <p:spPr>
          <a:xfrm>
            <a:off x="1422226" y="1554480"/>
            <a:ext cx="9317068" cy="2377440"/>
          </a:xfrm>
          <a:prstGeom prst="rect">
            <a:avLst/>
          </a:prstGeom>
        </p:spPr>
      </p:pic>
      <p:sp>
        <p:nvSpPr>
          <p:cNvPr id="5" name="Text 2"/>
          <p:cNvSpPr txBox="1"/>
          <p:nvPr/>
        </p:nvSpPr>
        <p:spPr>
          <a:xfrm>
            <a:off x="457200" y="4206240"/>
            <a:ext cx="11247120" cy="2011680"/>
          </a:xfrm>
          <a:prstGeom prst="rect">
            <a:avLst/>
          </a:prstGeom>
          <a:noFill/>
          <a:ln/>
        </p:spPr>
        <p:txBody>
          <a:bodyPr wrap="square" lIns="0" tIns="0" rIns="0" bIns="0" rtlCol="0" anchor="t"/>
          <a:lstStyle/>
          <a:p>
            <a:pPr marL="228600" indent="-228600">
              <a:spcAft>
                <a:spcPts val="800"/>
              </a:spcAft>
              <a:buSzPct val="100000"/>
              <a:buChar char="•"/>
            </a:pPr>
            <a:r>
              <a:rPr lang="en-US" sz="1700" dirty="0">
                <a:solidFill>
                  <a:srgbClr val="1B1F3B"/>
                </a:solidFill>
              </a:rPr>
              <a:t>Course conventions: n-1 variance, Tukey quartiles, adjusted G1, bias-corrected G2</a:t>
            </a:r>
            <a:endParaRPr lang="en-US" sz="1700" dirty="0"/>
          </a:p>
          <a:p>
            <a:pPr marL="228600" indent="-228600">
              <a:spcAft>
                <a:spcPts val="800"/>
              </a:spcAft>
              <a:buSzPct val="100000"/>
              <a:buChar char="•"/>
            </a:pPr>
            <a:r>
              <a:rPr lang="en-US" sz="1700" dirty="0">
                <a:solidFill>
                  <a:srgbClr val="1B1F3B"/>
                </a:solidFill>
              </a:rPr>
              <a:t>Validated MICE (energy error -58% vs mean); outliers flagged, never dropped</a:t>
            </a:r>
            <a:endParaRPr lang="en-US" sz="1700" dirty="0"/>
          </a:p>
          <a:p>
            <a:pPr marL="228600" indent="-228600">
              <a:spcAft>
                <a:spcPts val="800"/>
              </a:spcAft>
              <a:buSzPct val="100000"/>
              <a:buChar char="•"/>
            </a:pPr>
            <a:r>
              <a:rPr lang="en-US" sz="1700" dirty="0">
                <a:solidFill>
                  <a:srgbClr val="1B1F3B"/>
                </a:solidFill>
              </a:rPr>
              <a:t>Embeddings on a 10,000-track genre-stratified sample; trends on canonical releases only</a:t>
            </a:r>
            <a:endParaRPr lang="en-US" sz="1700" dirty="0"/>
          </a:p>
          <a:p>
            <a:pPr marL="228600" indent="-228600">
              <a:spcAft>
                <a:spcPts val="800"/>
              </a:spcAft>
              <a:buSzPct val="100000"/>
              <a:buChar char="•"/>
            </a:pPr>
            <a:r>
              <a:rPr lang="en-US" sz="1700" dirty="0">
                <a:solidFill>
                  <a:srgbClr val="1B1F3B"/>
                </a:solidFill>
              </a:rPr>
              <a:t>Every number in documents comes from results.json (cross-checked by script)</a:t>
            </a:r>
            <a:endParaRPr lang="en-US" sz="1700" dirty="0"/>
          </a:p>
        </p:txBody>
      </p:sp>
      <p:sp>
        <p:nvSpPr>
          <p:cNvPr id="25" name="Slide Number Placeholder 0"/>
          <p:cNvSpPr>
            <a:spLocks noGrp="1"/>
          </p:cNvSpPr>
          <p:nvPr>
            <p:ph type="sldNum" sz="quarter" idx="4294967295"/>
          </p:nvPr>
        </p:nvSpPr>
        <p:spPr>
          <a:xfrm>
            <a:off x="11247120" y="6400800"/>
            <a:ext cx="548640" cy="320040"/>
          </a:xfrm>
          <a:prstGeom prst="rect">
            <a:avLst/>
          </a:prstGeom>
          <a:extLst>
            <a:ext uri="{C572A759-6A51-4108-AA02-DFA0A04FC94B}">
              <ma14:wrappingTextBoxFlag xmlns:ma14="http://schemas.microsoft.com/office/mac/drawingml/2011/main" val="0"/>
            </a:ext>
          </a:extLst>
        </p:spPr>
        <p:txBody>
          <a:bodyPr/>
          <a:lstStyle>
            <a:lvl1pPr>
              <a:defRPr sz="1100">
                <a:solidFill>
                  <a:srgbClr val="5B6178"/>
                </a:solidFill>
                <a:latin typeface="Calibri"/>
                <a:ea typeface="Calibri"/>
                <a:cs typeface="Calibri"/>
              </a:defRPr>
            </a:lvl1pPr>
          </a:lstStyle>
          <a:p>
            <a:pPr algn="l"/>
            <a:fld id="{F7021451-1387-4CA6-816F-3879F97B5CBC}" type="slidenum">
              <a:rPr b="0"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0"/>
          <p:cNvSpPr txBox="1"/>
          <p:nvPr/>
        </p:nvSpPr>
        <p:spPr>
          <a:xfrm>
            <a:off x="457200" y="274320"/>
            <a:ext cx="10972800" cy="320040"/>
          </a:xfrm>
          <a:prstGeom prst="rect">
            <a:avLst/>
          </a:prstGeom>
          <a:noFill/>
          <a:ln/>
        </p:spPr>
        <p:txBody>
          <a:bodyPr wrap="square" lIns="0" tIns="0" rIns="0" bIns="0" rtlCol="0" anchor="ctr"/>
          <a:lstStyle/>
          <a:p>
            <a:pPr indent="0" marL="0">
              <a:buNone/>
            </a:pPr>
            <a:r>
              <a:rPr lang="en-US" sz="1300" b="1" spc="200" kern="0" dirty="0">
                <a:solidFill>
                  <a:srgbClr val="B7791F"/>
                </a:solidFill>
              </a:rPr>
              <a:t>KEY FINDINGS</a:t>
            </a:r>
            <a:endParaRPr lang="en-US" sz="1300" dirty="0"/>
          </a:p>
        </p:txBody>
      </p:sp>
      <p:sp>
        <p:nvSpPr>
          <p:cNvPr id="3" name="Text 1"/>
          <p:cNvSpPr txBox="1"/>
          <p:nvPr/>
        </p:nvSpPr>
        <p:spPr>
          <a:xfrm>
            <a:off x="457200" y="566928"/>
            <a:ext cx="11247120" cy="777240"/>
          </a:xfrm>
          <a:prstGeom prst="rect">
            <a:avLst/>
          </a:prstGeom>
          <a:noFill/>
          <a:ln/>
        </p:spPr>
        <p:txBody>
          <a:bodyPr wrap="square" lIns="0" tIns="0" rIns="0" bIns="0" rtlCol="0" anchor="t"/>
          <a:lstStyle/>
          <a:p>
            <a:pPr indent="0" marL="0">
              <a:buNone/>
            </a:pPr>
            <a:r>
              <a:rPr lang="en-US" sz="3000" b="1" dirty="0">
                <a:solidFill>
                  <a:srgbClr val="1B1F3B"/>
                </a:solidFill>
              </a:rPr>
              <a:t>Five findings, all measured</a:t>
            </a:r>
            <a:endParaRPr lang="en-US" sz="3000" dirty="0"/>
          </a:p>
        </p:txBody>
      </p:sp>
      <p:sp>
        <p:nvSpPr>
          <p:cNvPr id="4" name="Shape 2"/>
          <p:cNvSpPr/>
          <p:nvPr/>
        </p:nvSpPr>
        <p:spPr>
          <a:xfrm>
            <a:off x="457200" y="1417320"/>
            <a:ext cx="3291840" cy="1417320"/>
          </a:xfrm>
          <a:prstGeom prst="roundRect">
            <a:avLst>
              <a:gd name="adj" fmla="val 7742"/>
            </a:avLst>
          </a:prstGeom>
          <a:solidFill>
            <a:srgbClr val="EEF0F7"/>
          </a:solidFill>
          <a:ln w="12700">
            <a:solidFill>
              <a:srgbClr val="EEF0F7"/>
            </a:solidFill>
            <a:prstDash val="solid"/>
          </a:ln>
        </p:spPr>
      </p:sp>
      <p:sp>
        <p:nvSpPr>
          <p:cNvPr id="5" name="Text 3"/>
          <p:cNvSpPr txBox="1"/>
          <p:nvPr/>
        </p:nvSpPr>
        <p:spPr>
          <a:xfrm>
            <a:off x="594360" y="1527048"/>
            <a:ext cx="3017520" cy="685800"/>
          </a:xfrm>
          <a:prstGeom prst="rect">
            <a:avLst/>
          </a:prstGeom>
          <a:noFill/>
          <a:ln/>
        </p:spPr>
        <p:txBody>
          <a:bodyPr wrap="square" lIns="0" tIns="0" rIns="0" bIns="0" rtlCol="0" anchor="ctr"/>
          <a:lstStyle/>
          <a:p>
            <a:pPr indent="0" marL="0">
              <a:buNone/>
            </a:pPr>
            <a:r>
              <a:rPr lang="en-US" sz="2400" b="1" dirty="0">
                <a:solidFill>
                  <a:srgbClr val="1B1F3B"/>
                </a:solidFill>
              </a:rPr>
              <a:t>+7.8 dB</a:t>
            </a:r>
            <a:endParaRPr lang="en-US" sz="2400" dirty="0"/>
          </a:p>
        </p:txBody>
      </p:sp>
      <p:sp>
        <p:nvSpPr>
          <p:cNvPr id="6" name="Text 4"/>
          <p:cNvSpPr txBox="1"/>
          <p:nvPr/>
        </p:nvSpPr>
        <p:spPr>
          <a:xfrm>
            <a:off x="594360" y="2194560"/>
            <a:ext cx="3017520" cy="566928"/>
          </a:xfrm>
          <a:prstGeom prst="rect">
            <a:avLst/>
          </a:prstGeom>
          <a:noFill/>
          <a:ln/>
        </p:spPr>
        <p:txBody>
          <a:bodyPr wrap="square" lIns="0" tIns="0" rIns="0" bIns="0" rtlCol="0" anchor="t"/>
          <a:lstStyle/>
          <a:p>
            <a:pPr indent="0" marL="0">
              <a:buNone/>
            </a:pPr>
            <a:r>
              <a:rPr lang="en-US" sz="1400" dirty="0">
                <a:solidFill>
                  <a:srgbClr val="5B6178"/>
                </a:solidFill>
              </a:rPr>
              <a:t>louder music 1959-2020</a:t>
            </a:r>
            <a:endParaRPr lang="en-US" sz="1400" dirty="0"/>
          </a:p>
        </p:txBody>
      </p:sp>
      <p:sp>
        <p:nvSpPr>
          <p:cNvPr id="7" name="Shape 5"/>
          <p:cNvSpPr/>
          <p:nvPr/>
        </p:nvSpPr>
        <p:spPr>
          <a:xfrm>
            <a:off x="457200" y="2395728"/>
            <a:ext cx="3291840" cy="1417320"/>
          </a:xfrm>
          <a:prstGeom prst="roundRect">
            <a:avLst>
              <a:gd name="adj" fmla="val 7742"/>
            </a:avLst>
          </a:prstGeom>
          <a:solidFill>
            <a:srgbClr val="EEF0F7"/>
          </a:solidFill>
          <a:ln w="12700">
            <a:solidFill>
              <a:srgbClr val="EEF0F7"/>
            </a:solidFill>
            <a:prstDash val="solid"/>
          </a:ln>
        </p:spPr>
      </p:sp>
      <p:sp>
        <p:nvSpPr>
          <p:cNvPr id="8" name="Text 6"/>
          <p:cNvSpPr txBox="1"/>
          <p:nvPr/>
        </p:nvSpPr>
        <p:spPr>
          <a:xfrm>
            <a:off x="594360" y="2505456"/>
            <a:ext cx="3017520" cy="685800"/>
          </a:xfrm>
          <a:prstGeom prst="rect">
            <a:avLst/>
          </a:prstGeom>
          <a:noFill/>
          <a:ln/>
        </p:spPr>
        <p:txBody>
          <a:bodyPr wrap="square" lIns="0" tIns="0" rIns="0" bIns="0" rtlCol="0" anchor="ctr"/>
          <a:lstStyle/>
          <a:p>
            <a:pPr indent="0" marL="0">
              <a:buNone/>
            </a:pPr>
            <a:r>
              <a:rPr lang="en-US" sz="2400" b="1" dirty="0">
                <a:solidFill>
                  <a:srgbClr val="1B1F3B"/>
                </a:solidFill>
              </a:rPr>
              <a:t>r = 0.82</a:t>
            </a:r>
            <a:endParaRPr lang="en-US" sz="2400" dirty="0"/>
          </a:p>
        </p:txBody>
      </p:sp>
      <p:sp>
        <p:nvSpPr>
          <p:cNvPr id="9" name="Text 7"/>
          <p:cNvSpPr txBox="1"/>
          <p:nvPr/>
        </p:nvSpPr>
        <p:spPr>
          <a:xfrm>
            <a:off x="594360" y="3172968"/>
            <a:ext cx="3017520" cy="566928"/>
          </a:xfrm>
          <a:prstGeom prst="rect">
            <a:avLst/>
          </a:prstGeom>
          <a:noFill/>
          <a:ln/>
        </p:spPr>
        <p:txBody>
          <a:bodyPr wrap="square" lIns="0" tIns="0" rIns="0" bIns="0" rtlCol="0" anchor="t"/>
          <a:lstStyle/>
          <a:p>
            <a:pPr indent="0" marL="0">
              <a:buNone/>
            </a:pPr>
            <a:r>
              <a:rPr lang="en-US" sz="1400" dirty="0">
                <a:solidFill>
                  <a:srgbClr val="5B6178"/>
                </a:solidFill>
              </a:rPr>
              <a:t>loudness vs energy</a:t>
            </a:r>
            <a:endParaRPr lang="en-US" sz="1400" dirty="0"/>
          </a:p>
        </p:txBody>
      </p:sp>
      <p:sp>
        <p:nvSpPr>
          <p:cNvPr id="10" name="Shape 8"/>
          <p:cNvSpPr/>
          <p:nvPr/>
        </p:nvSpPr>
        <p:spPr>
          <a:xfrm>
            <a:off x="457200" y="3374136"/>
            <a:ext cx="3291840" cy="1417320"/>
          </a:xfrm>
          <a:prstGeom prst="roundRect">
            <a:avLst>
              <a:gd name="adj" fmla="val 7742"/>
            </a:avLst>
          </a:prstGeom>
          <a:solidFill>
            <a:srgbClr val="EEF0F7"/>
          </a:solidFill>
          <a:ln w="12700">
            <a:solidFill>
              <a:srgbClr val="EEF0F7"/>
            </a:solidFill>
            <a:prstDash val="solid"/>
          </a:ln>
        </p:spPr>
      </p:sp>
      <p:sp>
        <p:nvSpPr>
          <p:cNvPr id="11" name="Text 9"/>
          <p:cNvSpPr txBox="1"/>
          <p:nvPr/>
        </p:nvSpPr>
        <p:spPr>
          <a:xfrm>
            <a:off x="594360" y="3483864"/>
            <a:ext cx="3017520" cy="685800"/>
          </a:xfrm>
          <a:prstGeom prst="rect">
            <a:avLst/>
          </a:prstGeom>
          <a:noFill/>
          <a:ln/>
        </p:spPr>
        <p:txBody>
          <a:bodyPr wrap="square" lIns="0" tIns="0" rIns="0" bIns="0" rtlCol="0" anchor="ctr"/>
          <a:lstStyle/>
          <a:p>
            <a:pPr indent="0" marL="0">
              <a:buNone/>
            </a:pPr>
            <a:r>
              <a:rPr lang="en-US" sz="2400" b="1" dirty="0">
                <a:solidFill>
                  <a:srgbClr val="1B1F3B"/>
                </a:solidFill>
              </a:rPr>
              <a:t>42%</a:t>
            </a:r>
            <a:endParaRPr lang="en-US" sz="2400" dirty="0"/>
          </a:p>
        </p:txBody>
      </p:sp>
      <p:sp>
        <p:nvSpPr>
          <p:cNvPr id="12" name="Text 10"/>
          <p:cNvSpPr txBox="1"/>
          <p:nvPr/>
        </p:nvSpPr>
        <p:spPr>
          <a:xfrm>
            <a:off x="594360" y="4151376"/>
            <a:ext cx="3017520" cy="566928"/>
          </a:xfrm>
          <a:prstGeom prst="rect">
            <a:avLst/>
          </a:prstGeom>
          <a:noFill/>
          <a:ln/>
        </p:spPr>
        <p:txBody>
          <a:bodyPr wrap="square" lIns="0" tIns="0" rIns="0" bIns="0" rtlCol="0" anchor="t"/>
          <a:lstStyle/>
          <a:p>
            <a:pPr indent="0" marL="0">
              <a:buNone/>
            </a:pPr>
            <a:r>
              <a:rPr lang="en-US" sz="1400" dirty="0">
                <a:solidFill>
                  <a:srgbClr val="5B6178"/>
                </a:solidFill>
              </a:rPr>
              <a:t>of danceability explained by genre</a:t>
            </a:r>
            <a:endParaRPr lang="en-US" sz="1400" dirty="0"/>
          </a:p>
        </p:txBody>
      </p:sp>
      <p:sp>
        <p:nvSpPr>
          <p:cNvPr id="13" name="Shape 11"/>
          <p:cNvSpPr/>
          <p:nvPr/>
        </p:nvSpPr>
        <p:spPr>
          <a:xfrm>
            <a:off x="457200" y="4352544"/>
            <a:ext cx="3291840" cy="1417320"/>
          </a:xfrm>
          <a:prstGeom prst="roundRect">
            <a:avLst>
              <a:gd name="adj" fmla="val 7742"/>
            </a:avLst>
          </a:prstGeom>
          <a:solidFill>
            <a:srgbClr val="EEF0F7"/>
          </a:solidFill>
          <a:ln w="12700">
            <a:solidFill>
              <a:srgbClr val="EEF0F7"/>
            </a:solidFill>
            <a:prstDash val="solid"/>
          </a:ln>
        </p:spPr>
      </p:sp>
      <p:sp>
        <p:nvSpPr>
          <p:cNvPr id="14" name="Text 12"/>
          <p:cNvSpPr txBox="1"/>
          <p:nvPr/>
        </p:nvSpPr>
        <p:spPr>
          <a:xfrm>
            <a:off x="594360" y="4462272"/>
            <a:ext cx="3017520" cy="685800"/>
          </a:xfrm>
          <a:prstGeom prst="rect">
            <a:avLst/>
          </a:prstGeom>
          <a:noFill/>
          <a:ln/>
        </p:spPr>
        <p:txBody>
          <a:bodyPr wrap="square" lIns="0" tIns="0" rIns="0" bIns="0" rtlCol="0" anchor="ctr"/>
          <a:lstStyle/>
          <a:p>
            <a:pPr indent="0" marL="0">
              <a:buNone/>
            </a:pPr>
            <a:r>
              <a:rPr lang="en-US" sz="2400" b="1" dirty="0">
                <a:solidFill>
                  <a:srgbClr val="1B1F3B"/>
                </a:solidFill>
              </a:rPr>
              <a:t>0.976</a:t>
            </a:r>
            <a:endParaRPr lang="en-US" sz="2400" dirty="0"/>
          </a:p>
        </p:txBody>
      </p:sp>
      <p:sp>
        <p:nvSpPr>
          <p:cNvPr id="15" name="Text 13"/>
          <p:cNvSpPr txBox="1"/>
          <p:nvPr/>
        </p:nvSpPr>
        <p:spPr>
          <a:xfrm>
            <a:off x="594360" y="5129784"/>
            <a:ext cx="3017520" cy="566928"/>
          </a:xfrm>
          <a:prstGeom prst="rect">
            <a:avLst/>
          </a:prstGeom>
          <a:noFill/>
          <a:ln/>
        </p:spPr>
        <p:txBody>
          <a:bodyPr wrap="square" lIns="0" tIns="0" rIns="0" bIns="0" rtlCol="0" anchor="t"/>
          <a:lstStyle/>
          <a:p>
            <a:pPr indent="0" marL="0">
              <a:buNone/>
            </a:pPr>
            <a:r>
              <a:rPr lang="en-US" sz="1400" dirty="0">
                <a:solidFill>
                  <a:srgbClr val="5B6178"/>
                </a:solidFill>
              </a:rPr>
              <a:t>t-SNE trustworthiness (best)</a:t>
            </a:r>
            <a:endParaRPr lang="en-US" sz="1400" dirty="0"/>
          </a:p>
        </p:txBody>
      </p:sp>
      <p:sp>
        <p:nvSpPr>
          <p:cNvPr id="16" name="Shape 14"/>
          <p:cNvSpPr/>
          <p:nvPr/>
        </p:nvSpPr>
        <p:spPr>
          <a:xfrm>
            <a:off x="457200" y="5330952"/>
            <a:ext cx="3291840" cy="1417320"/>
          </a:xfrm>
          <a:prstGeom prst="roundRect">
            <a:avLst>
              <a:gd name="adj" fmla="val 7742"/>
            </a:avLst>
          </a:prstGeom>
          <a:solidFill>
            <a:srgbClr val="EEF0F7"/>
          </a:solidFill>
          <a:ln w="12700">
            <a:solidFill>
              <a:srgbClr val="EEF0F7"/>
            </a:solidFill>
            <a:prstDash val="solid"/>
          </a:ln>
        </p:spPr>
      </p:sp>
      <p:sp>
        <p:nvSpPr>
          <p:cNvPr id="17" name="Text 15"/>
          <p:cNvSpPr txBox="1"/>
          <p:nvPr/>
        </p:nvSpPr>
        <p:spPr>
          <a:xfrm>
            <a:off x="594360" y="5440680"/>
            <a:ext cx="3017520" cy="685800"/>
          </a:xfrm>
          <a:prstGeom prst="rect">
            <a:avLst/>
          </a:prstGeom>
          <a:noFill/>
          <a:ln/>
        </p:spPr>
        <p:txBody>
          <a:bodyPr wrap="square" lIns="0" tIns="0" rIns="0" bIns="0" rtlCol="0" anchor="ctr"/>
          <a:lstStyle/>
          <a:p>
            <a:pPr indent="0" marL="0">
              <a:buNone/>
            </a:pPr>
            <a:r>
              <a:rPr lang="en-US" sz="2400" b="1" dirty="0">
                <a:solidFill>
                  <a:srgbClr val="1B1F3B"/>
                </a:solidFill>
              </a:rPr>
              <a:t>r = 0.06</a:t>
            </a:r>
            <a:endParaRPr lang="en-US" sz="2400" dirty="0"/>
          </a:p>
        </p:txBody>
      </p:sp>
      <p:sp>
        <p:nvSpPr>
          <p:cNvPr id="18" name="Text 16"/>
          <p:cNvSpPr txBox="1"/>
          <p:nvPr/>
        </p:nvSpPr>
        <p:spPr>
          <a:xfrm>
            <a:off x="594360" y="6108192"/>
            <a:ext cx="3017520" cy="566928"/>
          </a:xfrm>
          <a:prstGeom prst="rect">
            <a:avLst/>
          </a:prstGeom>
          <a:noFill/>
          <a:ln/>
        </p:spPr>
        <p:txBody>
          <a:bodyPr wrap="square" lIns="0" tIns="0" rIns="0" bIns="0" rtlCol="0" anchor="t"/>
          <a:lstStyle/>
          <a:p>
            <a:pPr indent="0" marL="0">
              <a:buNone/>
            </a:pPr>
            <a:r>
              <a:rPr lang="en-US" sz="1400" dirty="0">
                <a:solidFill>
                  <a:srgbClr val="5B6178"/>
                </a:solidFill>
              </a:rPr>
              <a:t>lyric sentiment vs audio valence</a:t>
            </a:r>
            <a:endParaRPr lang="en-US" sz="1400" dirty="0"/>
          </a:p>
        </p:txBody>
      </p:sp>
      <p:pic>
        <p:nvPicPr>
          <p:cNvPr id="19" name="Image 0" descr="fig_06_06_decade_story.png">    </p:cNvPr>
          <p:cNvPicPr>
            <a:picLocks noChangeAspect="1"/>
          </p:cNvPicPr>
          <p:nvPr/>
        </p:nvPicPr>
        <p:blipFill>
          <a:blip r:embed="rId1"/>
          <a:stretch>
            <a:fillRect/>
          </a:stretch>
        </p:blipFill>
        <p:spPr>
          <a:xfrm>
            <a:off x="5240812" y="1417320"/>
            <a:ext cx="5246056" cy="2377440"/>
          </a:xfrm>
          <a:prstGeom prst="rect">
            <a:avLst/>
          </a:prstGeom>
        </p:spPr>
      </p:pic>
      <p:pic>
        <p:nvPicPr>
          <p:cNvPr id="20" name="Image 1" descr="fig_04_01_correlation_heatmaps.png">    </p:cNvPr>
          <p:cNvPicPr>
            <a:picLocks noChangeAspect="1"/>
          </p:cNvPicPr>
          <p:nvPr/>
        </p:nvPicPr>
        <p:blipFill>
          <a:blip r:embed="rId2"/>
          <a:stretch>
            <a:fillRect/>
          </a:stretch>
        </p:blipFill>
        <p:spPr>
          <a:xfrm>
            <a:off x="5183483" y="3931920"/>
            <a:ext cx="5360714" cy="2377440"/>
          </a:xfrm>
          <a:prstGeom prst="rect">
            <a:avLst/>
          </a:prstGeom>
        </p:spPr>
      </p:pic>
      <p:sp>
        <p:nvSpPr>
          <p:cNvPr id="25" name="Slide Number Placeholder 0"/>
          <p:cNvSpPr>
            <a:spLocks noGrp="1"/>
          </p:cNvSpPr>
          <p:nvPr>
            <p:ph type="sldNum" sz="quarter" idx="4294967295"/>
          </p:nvPr>
        </p:nvSpPr>
        <p:spPr>
          <a:xfrm>
            <a:off x="11247120" y="6400800"/>
            <a:ext cx="548640" cy="320040"/>
          </a:xfrm>
          <a:prstGeom prst="rect">
            <a:avLst/>
          </a:prstGeom>
          <a:extLst>
            <a:ext uri="{C572A759-6A51-4108-AA02-DFA0A04FC94B}">
              <ma14:wrappingTextBoxFlag xmlns:ma14="http://schemas.microsoft.com/office/mac/drawingml/2011/main" val="0"/>
            </a:ext>
          </a:extLst>
        </p:spPr>
        <p:txBody>
          <a:bodyPr/>
          <a:lstStyle>
            <a:lvl1pPr>
              <a:defRPr sz="1100">
                <a:solidFill>
                  <a:srgbClr val="5B6178"/>
                </a:solidFill>
                <a:latin typeface="Calibri"/>
                <a:ea typeface="Calibri"/>
                <a:cs typeface="Calibri"/>
              </a:defRPr>
            </a:lvl1pPr>
          </a:lstStyle>
          <a:p>
            <a:pPr algn="l"/>
            <a:fld id="{F7021451-1387-4CA6-816F-3879F97B5CBC}" type="slidenum">
              <a:rPr b="0" lang="en-US"/>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0"/>
          <p:cNvSpPr txBox="1"/>
          <p:nvPr/>
        </p:nvSpPr>
        <p:spPr>
          <a:xfrm>
            <a:off x="457200" y="274320"/>
            <a:ext cx="10972800" cy="320040"/>
          </a:xfrm>
          <a:prstGeom prst="rect">
            <a:avLst/>
          </a:prstGeom>
          <a:noFill/>
          <a:ln/>
        </p:spPr>
        <p:txBody>
          <a:bodyPr wrap="square" lIns="0" tIns="0" rIns="0" bIns="0" rtlCol="0" anchor="ctr"/>
          <a:lstStyle/>
          <a:p>
            <a:pPr indent="0" marL="0">
              <a:buNone/>
            </a:pPr>
            <a:r>
              <a:rPr lang="en-US" sz="1300" b="1" spc="200" kern="0" dirty="0">
                <a:solidFill>
                  <a:srgbClr val="B7791F"/>
                </a:solidFill>
              </a:rPr>
              <a:t>LIVE DEMO AND OUTCOME</a:t>
            </a:r>
            <a:endParaRPr lang="en-US" sz="1300" dirty="0"/>
          </a:p>
        </p:txBody>
      </p:sp>
      <p:sp>
        <p:nvSpPr>
          <p:cNvPr id="3" name="Text 1"/>
          <p:cNvSpPr txBox="1"/>
          <p:nvPr/>
        </p:nvSpPr>
        <p:spPr>
          <a:xfrm>
            <a:off x="457200" y="566928"/>
            <a:ext cx="11247120" cy="777240"/>
          </a:xfrm>
          <a:prstGeom prst="rect">
            <a:avLst/>
          </a:prstGeom>
          <a:noFill/>
          <a:ln/>
        </p:spPr>
        <p:txBody>
          <a:bodyPr wrap="square" lIns="0" tIns="0" rIns="0" bIns="0" rtlCol="0" anchor="t"/>
          <a:lstStyle/>
          <a:p>
            <a:pPr indent="0" marL="0">
              <a:buNone/>
            </a:pPr>
            <a:r>
              <a:rPr lang="en-US" sz="3000" b="1" dirty="0">
                <a:solidFill>
                  <a:srgbClr val="1B1F3B"/>
                </a:solidFill>
              </a:rPr>
              <a:t>SonicAtlas live, plus an IEEE paper prepared for submission</a:t>
            </a:r>
            <a:endParaRPr lang="en-US" sz="3000" dirty="0"/>
          </a:p>
        </p:txBody>
      </p:sp>
      <p:sp>
        <p:nvSpPr>
          <p:cNvPr id="4" name="Shape 2"/>
          <p:cNvSpPr/>
          <p:nvPr/>
        </p:nvSpPr>
        <p:spPr>
          <a:xfrm>
            <a:off x="704088" y="1389888"/>
            <a:ext cx="2249424" cy="1426464"/>
          </a:xfrm>
          <a:prstGeom prst="rect">
            <a:avLst/>
          </a:prstGeom>
          <a:solidFill>
            <a:srgbClr val="FFFFFF"/>
          </a:solidFill>
          <a:ln w="9525">
            <a:solidFill>
              <a:srgbClr val="C9CDDB"/>
            </a:solidFill>
            <a:prstDash val="solid"/>
          </a:ln>
        </p:spPr>
      </p:sp>
      <p:pic>
        <p:nvPicPr>
          <p:cNvPr id="5" name="Image 0" descr="web_02b_query_studio_sql_light.png">    </p:cNvPr>
          <p:cNvPicPr>
            <a:picLocks noChangeAspect="1"/>
          </p:cNvPicPr>
          <p:nvPr/>
        </p:nvPicPr>
        <p:blipFill>
          <a:blip r:embed="rId1"/>
          <a:stretch>
            <a:fillRect/>
          </a:stretch>
        </p:blipFill>
        <p:spPr>
          <a:xfrm>
            <a:off x="731520" y="1417320"/>
            <a:ext cx="2194560" cy="1371600"/>
          </a:xfrm>
          <a:prstGeom prst="rect">
            <a:avLst/>
          </a:prstGeom>
        </p:spPr>
      </p:pic>
      <p:sp>
        <p:nvSpPr>
          <p:cNvPr id="6" name="Text 3"/>
          <p:cNvSpPr txBox="1"/>
          <p:nvPr/>
        </p:nvSpPr>
        <p:spPr>
          <a:xfrm>
            <a:off x="3337560" y="1874520"/>
            <a:ext cx="2011680" cy="457200"/>
          </a:xfrm>
          <a:prstGeom prst="rect">
            <a:avLst/>
          </a:prstGeom>
          <a:noFill/>
          <a:ln/>
        </p:spPr>
        <p:txBody>
          <a:bodyPr wrap="square" lIns="0" tIns="0" rIns="0" bIns="0" rtlCol="0" anchor="ctr"/>
          <a:lstStyle/>
          <a:p>
            <a:pPr indent="0" marL="0">
              <a:buNone/>
            </a:pPr>
            <a:r>
              <a:rPr lang="en-US" sz="1500" b="1" dirty="0">
                <a:solidFill>
                  <a:srgbClr val="1B1F3B"/>
                </a:solidFill>
              </a:rPr>
              <a:t>Query Studio</a:t>
            </a:r>
            <a:endParaRPr lang="en-US" sz="1500" dirty="0"/>
          </a:p>
        </p:txBody>
      </p:sp>
      <p:sp>
        <p:nvSpPr>
          <p:cNvPr id="7" name="Shape 4"/>
          <p:cNvSpPr/>
          <p:nvPr/>
        </p:nvSpPr>
        <p:spPr>
          <a:xfrm>
            <a:off x="704088" y="2990088"/>
            <a:ext cx="2249424" cy="1426464"/>
          </a:xfrm>
          <a:prstGeom prst="rect">
            <a:avLst/>
          </a:prstGeom>
          <a:solidFill>
            <a:srgbClr val="FFFFFF"/>
          </a:solidFill>
          <a:ln w="9525">
            <a:solidFill>
              <a:srgbClr val="C9CDDB"/>
            </a:solidFill>
            <a:prstDash val="solid"/>
          </a:ln>
        </p:spPr>
      </p:sp>
      <p:pic>
        <p:nvPicPr>
          <p:cNvPr id="8" name="Image 1" descr="web_03_acoustic_map_light.png">    </p:cNvPr>
          <p:cNvPicPr>
            <a:picLocks noChangeAspect="1"/>
          </p:cNvPicPr>
          <p:nvPr/>
        </p:nvPicPr>
        <p:blipFill>
          <a:blip r:embed="rId2"/>
          <a:stretch>
            <a:fillRect/>
          </a:stretch>
        </p:blipFill>
        <p:spPr>
          <a:xfrm>
            <a:off x="731520" y="3017520"/>
            <a:ext cx="2194560" cy="1371600"/>
          </a:xfrm>
          <a:prstGeom prst="rect">
            <a:avLst/>
          </a:prstGeom>
        </p:spPr>
      </p:pic>
      <p:sp>
        <p:nvSpPr>
          <p:cNvPr id="9" name="Text 5"/>
          <p:cNvSpPr txBox="1"/>
          <p:nvPr/>
        </p:nvSpPr>
        <p:spPr>
          <a:xfrm>
            <a:off x="3337560" y="3474720"/>
            <a:ext cx="2011680" cy="457200"/>
          </a:xfrm>
          <a:prstGeom prst="rect">
            <a:avLst/>
          </a:prstGeom>
          <a:noFill/>
          <a:ln/>
        </p:spPr>
        <p:txBody>
          <a:bodyPr wrap="square" lIns="0" tIns="0" rIns="0" bIns="0" rtlCol="0" anchor="ctr"/>
          <a:lstStyle/>
          <a:p>
            <a:pPr indent="0" marL="0">
              <a:buNone/>
            </a:pPr>
            <a:r>
              <a:rPr lang="en-US" sz="1500" b="1" dirty="0">
                <a:solidFill>
                  <a:srgbClr val="1B1F3B"/>
                </a:solidFill>
              </a:rPr>
              <a:t>Acoustic Map</a:t>
            </a:r>
            <a:endParaRPr lang="en-US" sz="1500" dirty="0"/>
          </a:p>
        </p:txBody>
      </p:sp>
      <p:sp>
        <p:nvSpPr>
          <p:cNvPr id="10" name="Shape 6"/>
          <p:cNvSpPr/>
          <p:nvPr/>
        </p:nvSpPr>
        <p:spPr>
          <a:xfrm>
            <a:off x="704088" y="4590288"/>
            <a:ext cx="2249424" cy="1426464"/>
          </a:xfrm>
          <a:prstGeom prst="rect">
            <a:avLst/>
          </a:prstGeom>
          <a:solidFill>
            <a:srgbClr val="FFFFFF"/>
          </a:solidFill>
          <a:ln w="9525">
            <a:solidFill>
              <a:srgbClr val="C9CDDB"/>
            </a:solidFill>
            <a:prstDash val="solid"/>
          </a:ln>
        </p:spPr>
      </p:sp>
      <p:pic>
        <p:nvPicPr>
          <p:cNvPr id="11" name="Image 2" descr="web_05_compare_light.png">    </p:cNvPr>
          <p:cNvPicPr>
            <a:picLocks noChangeAspect="1"/>
          </p:cNvPicPr>
          <p:nvPr/>
        </p:nvPicPr>
        <p:blipFill>
          <a:blip r:embed="rId3"/>
          <a:stretch>
            <a:fillRect/>
          </a:stretch>
        </p:blipFill>
        <p:spPr>
          <a:xfrm>
            <a:off x="731520" y="4617720"/>
            <a:ext cx="2194560" cy="1371600"/>
          </a:xfrm>
          <a:prstGeom prst="rect">
            <a:avLst/>
          </a:prstGeom>
        </p:spPr>
      </p:pic>
      <p:sp>
        <p:nvSpPr>
          <p:cNvPr id="12" name="Text 7"/>
          <p:cNvSpPr txBox="1"/>
          <p:nvPr/>
        </p:nvSpPr>
        <p:spPr>
          <a:xfrm>
            <a:off x="3337560" y="5074920"/>
            <a:ext cx="2011680" cy="457200"/>
          </a:xfrm>
          <a:prstGeom prst="rect">
            <a:avLst/>
          </a:prstGeom>
          <a:noFill/>
          <a:ln/>
        </p:spPr>
        <p:txBody>
          <a:bodyPr wrap="square" lIns="0" tIns="0" rIns="0" bIns="0" rtlCol="0" anchor="ctr"/>
          <a:lstStyle/>
          <a:p>
            <a:pPr indent="0" marL="0">
              <a:buNone/>
            </a:pPr>
            <a:r>
              <a:rPr lang="en-US" sz="1500" b="1" dirty="0">
                <a:solidFill>
                  <a:srgbClr val="1B1F3B"/>
                </a:solidFill>
              </a:rPr>
              <a:t>Compare</a:t>
            </a:r>
            <a:endParaRPr lang="en-US" sz="1500" dirty="0"/>
          </a:p>
        </p:txBody>
      </p:sp>
      <p:sp>
        <p:nvSpPr>
          <p:cNvPr id="13" name="Shape 8"/>
          <p:cNvSpPr/>
          <p:nvPr/>
        </p:nvSpPr>
        <p:spPr>
          <a:xfrm>
            <a:off x="5458968" y="1389888"/>
            <a:ext cx="2798064" cy="3934533"/>
          </a:xfrm>
          <a:prstGeom prst="rect">
            <a:avLst/>
          </a:prstGeom>
          <a:solidFill>
            <a:srgbClr val="FFFFFF"/>
          </a:solidFill>
          <a:ln w="9525">
            <a:solidFill>
              <a:srgbClr val="C9CDDB"/>
            </a:solidFill>
            <a:prstDash val="solid"/>
          </a:ln>
        </p:spPr>
      </p:sp>
      <p:pic>
        <p:nvPicPr>
          <p:cNvPr id="14" name="Image 3" descr="paper_page1.png">    </p:cNvPr>
          <p:cNvPicPr>
            <a:picLocks noChangeAspect="1"/>
          </p:cNvPicPr>
          <p:nvPr/>
        </p:nvPicPr>
        <p:blipFill>
          <a:blip r:embed="rId4"/>
          <a:stretch>
            <a:fillRect/>
          </a:stretch>
        </p:blipFill>
        <p:spPr>
          <a:xfrm>
            <a:off x="5486400" y="1417320"/>
            <a:ext cx="2743200" cy="3879669"/>
          </a:xfrm>
          <a:prstGeom prst="rect">
            <a:avLst/>
          </a:prstGeom>
        </p:spPr>
      </p:pic>
      <p:sp>
        <p:nvSpPr>
          <p:cNvPr id="15" name="Text 9"/>
          <p:cNvSpPr txBox="1"/>
          <p:nvPr/>
        </p:nvSpPr>
        <p:spPr>
          <a:xfrm>
            <a:off x="8503920" y="1417320"/>
            <a:ext cx="3200400" cy="3291840"/>
          </a:xfrm>
          <a:prstGeom prst="rect">
            <a:avLst/>
          </a:prstGeom>
          <a:noFill/>
          <a:ln/>
        </p:spPr>
        <p:txBody>
          <a:bodyPr wrap="square" lIns="0" tIns="0" rIns="0" bIns="0" rtlCol="0" anchor="t"/>
          <a:lstStyle/>
          <a:p>
            <a:pPr marL="228600" indent="-228600">
              <a:spcAft>
                <a:spcPts val="800"/>
              </a:spcAft>
              <a:buSzPct val="100000"/>
              <a:buChar char="•"/>
            </a:pPr>
            <a:r>
              <a:rPr lang="en-US" sz="1400" dirty="0">
                <a:solidFill>
                  <a:srgbClr val="1B1F3B"/>
                </a:solidFill>
              </a:rPr>
              <a:t>IEEE-format paper, 6 pages: prepared for submission</a:t>
            </a:r>
            <a:endParaRPr lang="en-US" sz="1400" dirty="0"/>
          </a:p>
          <a:p>
            <a:pPr marL="228600" indent="-228600">
              <a:spcAft>
                <a:spcPts val="800"/>
              </a:spcAft>
              <a:buSzPct val="100000"/>
              <a:buChar char="•"/>
            </a:pPr>
            <a:r>
              <a:rPr lang="en-US" sz="1400" dirty="0">
                <a:solidFill>
                  <a:srgbClr val="1B1F3B"/>
                </a:solidFill>
              </a:rPr>
              <a:t>Targets: IEEE CONECCT 2027, ISMIR, IEEE VIS</a:t>
            </a:r>
            <a:endParaRPr lang="en-US" sz="1400" dirty="0"/>
          </a:p>
          <a:p>
            <a:pPr marL="228600" indent="-228600">
              <a:spcAft>
                <a:spcPts val="800"/>
              </a:spcAft>
              <a:buSzPct val="100000"/>
              <a:buChar char="•"/>
            </a:pPr>
            <a:r>
              <a:rPr lang="en-US" sz="1400" dirty="0">
                <a:solidFill>
                  <a:srgbClr val="1B1F3B"/>
                </a:solidFill>
              </a:rPr>
              <a:t>GitHub: [GitHub Link]</a:t>
            </a:r>
            <a:endParaRPr lang="en-US" sz="1400" dirty="0"/>
          </a:p>
          <a:p>
            <a:pPr marL="228600" indent="-228600">
              <a:spcAft>
                <a:spcPts val="800"/>
              </a:spcAft>
              <a:buSzPct val="100000"/>
              <a:buChar char="•"/>
            </a:pPr>
            <a:r>
              <a:rPr lang="en-US" sz="1400" dirty="0">
                <a:solidFill>
                  <a:srgbClr val="1B1F3B"/>
                </a:solidFill>
              </a:rPr>
              <a:t>Live: [Live Website Link]</a:t>
            </a:r>
            <a:endParaRPr lang="en-US" sz="1400" dirty="0"/>
          </a:p>
        </p:txBody>
      </p:sp>
      <p:sp>
        <p:nvSpPr>
          <p:cNvPr id="25" name="Slide Number Placeholder 0"/>
          <p:cNvSpPr>
            <a:spLocks noGrp="1"/>
          </p:cNvSpPr>
          <p:nvPr>
            <p:ph type="sldNum" sz="quarter" idx="4294967295"/>
          </p:nvPr>
        </p:nvSpPr>
        <p:spPr>
          <a:xfrm>
            <a:off x="11247120" y="6400800"/>
            <a:ext cx="548640" cy="320040"/>
          </a:xfrm>
          <a:prstGeom prst="rect">
            <a:avLst/>
          </a:prstGeom>
          <a:extLst>
            <a:ext uri="{C572A759-6A51-4108-AA02-DFA0A04FC94B}">
              <ma14:wrappingTextBoxFlag xmlns:ma14="http://schemas.microsoft.com/office/mac/drawingml/2011/main" val="0"/>
            </a:ext>
          </a:extLst>
        </p:spPr>
        <p:txBody>
          <a:bodyPr/>
          <a:lstStyle>
            <a:lvl1pPr>
              <a:defRPr sz="1100">
                <a:solidFill>
                  <a:srgbClr val="5B6178"/>
                </a:solidFill>
                <a:latin typeface="Calibri"/>
                <a:ea typeface="Calibri"/>
                <a:cs typeface="Calibri"/>
              </a:defRPr>
            </a:lvl1pPr>
          </a:lstStyle>
          <a:p>
            <a:pPr algn="l"/>
            <a:fld id="{F7021451-1387-4CA6-816F-3879F97B5CBC}" type="slidenum">
              <a:rPr b="0" lang="en-US"/>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0"/>
          <p:cNvSpPr txBox="1"/>
          <p:nvPr/>
        </p:nvSpPr>
        <p:spPr>
          <a:xfrm>
            <a:off x="457200" y="274320"/>
            <a:ext cx="10972800" cy="320040"/>
          </a:xfrm>
          <a:prstGeom prst="rect">
            <a:avLst/>
          </a:prstGeom>
          <a:noFill/>
          <a:ln/>
        </p:spPr>
        <p:txBody>
          <a:bodyPr wrap="square" lIns="0" tIns="0" rIns="0" bIns="0" rtlCol="0" anchor="ctr"/>
          <a:lstStyle/>
          <a:p>
            <a:pPr indent="0" marL="0">
              <a:buNone/>
            </a:pPr>
            <a:r>
              <a:rPr lang="en-US" sz="1300" b="1" spc="200" kern="0" dirty="0">
                <a:solidFill>
                  <a:srgbClr val="B7791F"/>
                </a:solidFill>
              </a:rPr>
              <a:t>CONCLUSION, FUTURE WORK AND REFERENCES</a:t>
            </a:r>
            <a:endParaRPr lang="en-US" sz="1300" dirty="0"/>
          </a:p>
        </p:txBody>
      </p:sp>
      <p:sp>
        <p:nvSpPr>
          <p:cNvPr id="3" name="Text 1"/>
          <p:cNvSpPr txBox="1"/>
          <p:nvPr/>
        </p:nvSpPr>
        <p:spPr>
          <a:xfrm>
            <a:off x="457200" y="566928"/>
            <a:ext cx="11247120" cy="777240"/>
          </a:xfrm>
          <a:prstGeom prst="rect">
            <a:avLst/>
          </a:prstGeom>
          <a:noFill/>
          <a:ln/>
        </p:spPr>
        <p:txBody>
          <a:bodyPr wrap="square" lIns="0" tIns="0" rIns="0" bIns="0" rtlCol="0" anchor="t"/>
          <a:lstStyle/>
          <a:p>
            <a:pPr indent="0" marL="0">
              <a:buNone/>
            </a:pPr>
            <a:r>
              <a:rPr lang="en-US" sz="3000" b="1" dirty="0">
                <a:solidFill>
                  <a:srgbClr val="1B1F3B"/>
                </a:solidFill>
              </a:rPr>
              <a:t>Louder, less acoustic, and more than genre alone</a:t>
            </a:r>
            <a:endParaRPr lang="en-US" sz="3000" dirty="0"/>
          </a:p>
        </p:txBody>
      </p:sp>
      <p:sp>
        <p:nvSpPr>
          <p:cNvPr id="4" name="Shape 2"/>
          <p:cNvSpPr/>
          <p:nvPr/>
        </p:nvSpPr>
        <p:spPr>
          <a:xfrm>
            <a:off x="457200" y="1554480"/>
            <a:ext cx="3657600" cy="4480560"/>
          </a:xfrm>
          <a:prstGeom prst="roundRect">
            <a:avLst>
              <a:gd name="adj" fmla="val 3000"/>
            </a:avLst>
          </a:prstGeom>
          <a:solidFill>
            <a:srgbClr val="EEF0F7"/>
          </a:solidFill>
          <a:ln w="12700">
            <a:solidFill>
              <a:srgbClr val="EEF0F7"/>
            </a:solidFill>
            <a:prstDash val="solid"/>
          </a:ln>
        </p:spPr>
      </p:sp>
      <p:sp>
        <p:nvSpPr>
          <p:cNvPr id="5" name="Text 3"/>
          <p:cNvSpPr txBox="1"/>
          <p:nvPr/>
        </p:nvSpPr>
        <p:spPr>
          <a:xfrm>
            <a:off x="640080" y="1664208"/>
            <a:ext cx="3291840" cy="411480"/>
          </a:xfrm>
          <a:prstGeom prst="rect">
            <a:avLst/>
          </a:prstGeom>
          <a:noFill/>
          <a:ln/>
        </p:spPr>
        <p:txBody>
          <a:bodyPr wrap="square" lIns="0" tIns="0" rIns="0" bIns="0" rtlCol="0" anchor="ctr"/>
          <a:lstStyle/>
          <a:p>
            <a:pPr indent="0" marL="0">
              <a:buNone/>
            </a:pPr>
            <a:r>
              <a:rPr lang="en-US" sz="1800" b="1" dirty="0">
                <a:solidFill>
                  <a:srgbClr val="1B1F3B"/>
                </a:solidFill>
              </a:rPr>
              <a:t>Conclusion</a:t>
            </a:r>
            <a:endParaRPr lang="en-US" sz="1800" dirty="0"/>
          </a:p>
        </p:txBody>
      </p:sp>
      <p:sp>
        <p:nvSpPr>
          <p:cNvPr id="6" name="Text 4"/>
          <p:cNvSpPr txBox="1"/>
          <p:nvPr/>
        </p:nvSpPr>
        <p:spPr>
          <a:xfrm>
            <a:off x="640080" y="2103120"/>
            <a:ext cx="3291840" cy="3840480"/>
          </a:xfrm>
          <a:prstGeom prst="rect">
            <a:avLst/>
          </a:prstGeom>
          <a:noFill/>
          <a:ln/>
        </p:spPr>
        <p:txBody>
          <a:bodyPr wrap="square" lIns="0" tIns="0" rIns="0" bIns="0" rtlCol="0" anchor="t"/>
          <a:lstStyle/>
          <a:p>
            <a:pPr indent="0" marL="0">
              <a:spcAft>
                <a:spcPts val="400"/>
              </a:spcAft>
              <a:buNone/>
            </a:pPr>
            <a:r>
              <a:rPr lang="en-US" sz="1600" dirty="0">
                <a:solidFill>
                  <a:srgbClr val="1B1F3B"/>
                </a:solidFill>
              </a:rPr>
              <a:t>Careful cleaning matters; music got louder and less acoustic; genre explains 42% of danceability but overlaps in every map; lyrics and sound carry different moods.</a:t>
            </a:r>
            <a:endParaRPr lang="en-US" sz="1600" dirty="0"/>
          </a:p>
        </p:txBody>
      </p:sp>
      <p:sp>
        <p:nvSpPr>
          <p:cNvPr id="7" name="Shape 5"/>
          <p:cNvSpPr/>
          <p:nvPr/>
        </p:nvSpPr>
        <p:spPr>
          <a:xfrm>
            <a:off x="4297680" y="1554480"/>
            <a:ext cx="3657600" cy="4480560"/>
          </a:xfrm>
          <a:prstGeom prst="roundRect">
            <a:avLst>
              <a:gd name="adj" fmla="val 3000"/>
            </a:avLst>
          </a:prstGeom>
          <a:solidFill>
            <a:srgbClr val="EEF0F7"/>
          </a:solidFill>
          <a:ln w="12700">
            <a:solidFill>
              <a:srgbClr val="EEF0F7"/>
            </a:solidFill>
            <a:prstDash val="solid"/>
          </a:ln>
        </p:spPr>
      </p:sp>
      <p:sp>
        <p:nvSpPr>
          <p:cNvPr id="8" name="Text 6"/>
          <p:cNvSpPr txBox="1"/>
          <p:nvPr/>
        </p:nvSpPr>
        <p:spPr>
          <a:xfrm>
            <a:off x="4480560" y="1664208"/>
            <a:ext cx="3291840" cy="411480"/>
          </a:xfrm>
          <a:prstGeom prst="rect">
            <a:avLst/>
          </a:prstGeom>
          <a:noFill/>
          <a:ln/>
        </p:spPr>
        <p:txBody>
          <a:bodyPr wrap="square" lIns="0" tIns="0" rIns="0" bIns="0" rtlCol="0" anchor="ctr"/>
          <a:lstStyle/>
          <a:p>
            <a:pPr indent="0" marL="0">
              <a:buNone/>
            </a:pPr>
            <a:r>
              <a:rPr lang="en-US" sz="1800" b="1" dirty="0">
                <a:solidFill>
                  <a:srgbClr val="1B1F3B"/>
                </a:solidFill>
              </a:rPr>
              <a:t>Limitations</a:t>
            </a:r>
            <a:endParaRPr lang="en-US" sz="1800" dirty="0"/>
          </a:p>
        </p:txBody>
      </p:sp>
      <p:sp>
        <p:nvSpPr>
          <p:cNvPr id="9" name="Text 7"/>
          <p:cNvSpPr txBox="1"/>
          <p:nvPr/>
        </p:nvSpPr>
        <p:spPr>
          <a:xfrm>
            <a:off x="4480560" y="2103120"/>
            <a:ext cx="3291840" cy="3840480"/>
          </a:xfrm>
          <a:prstGeom prst="rect">
            <a:avLst/>
          </a:prstGeom>
          <a:noFill/>
          <a:ln/>
        </p:spPr>
        <p:txBody>
          <a:bodyPr wrap="square" lIns="0" tIns="0" rIns="0" bIns="0" rtlCol="0" anchor="t"/>
          <a:lstStyle/>
          <a:p>
            <a:pPr indent="0" marL="0">
              <a:spcAft>
                <a:spcPts val="400"/>
              </a:spcAft>
              <a:buNone/>
            </a:pPr>
            <a:r>
              <a:rPr lang="en-US" sz="1600" dirty="0">
                <a:solidFill>
                  <a:srgbClr val="1B1F3B"/>
                </a:solidFill>
              </a:rPr>
              <a:t>Spotify features are model-derived; catalogue favours recent years; genre join only 10.7%; English-only lyrics; the 2020s have one year.</a:t>
            </a:r>
            <a:endParaRPr lang="en-US" sz="1600" dirty="0"/>
          </a:p>
        </p:txBody>
      </p:sp>
      <p:sp>
        <p:nvSpPr>
          <p:cNvPr id="10" name="Shape 8"/>
          <p:cNvSpPr/>
          <p:nvPr/>
        </p:nvSpPr>
        <p:spPr>
          <a:xfrm>
            <a:off x="8138160" y="1554480"/>
            <a:ext cx="3566160" cy="2103120"/>
          </a:xfrm>
          <a:prstGeom prst="roundRect">
            <a:avLst>
              <a:gd name="adj" fmla="val 5217"/>
            </a:avLst>
          </a:prstGeom>
          <a:solidFill>
            <a:srgbClr val="EEF0F7"/>
          </a:solidFill>
          <a:ln w="12700">
            <a:solidFill>
              <a:srgbClr val="EEF0F7"/>
            </a:solidFill>
            <a:prstDash val="solid"/>
          </a:ln>
        </p:spPr>
      </p:sp>
      <p:sp>
        <p:nvSpPr>
          <p:cNvPr id="11" name="Text 9"/>
          <p:cNvSpPr txBox="1"/>
          <p:nvPr/>
        </p:nvSpPr>
        <p:spPr>
          <a:xfrm>
            <a:off x="8321040" y="1664208"/>
            <a:ext cx="3200400" cy="411480"/>
          </a:xfrm>
          <a:prstGeom prst="rect">
            <a:avLst/>
          </a:prstGeom>
          <a:noFill/>
          <a:ln/>
        </p:spPr>
        <p:txBody>
          <a:bodyPr wrap="square" lIns="0" tIns="0" rIns="0" bIns="0" rtlCol="0" anchor="ctr"/>
          <a:lstStyle/>
          <a:p>
            <a:pPr indent="0" marL="0">
              <a:buNone/>
            </a:pPr>
            <a:r>
              <a:rPr lang="en-US" sz="1800" b="1" dirty="0">
                <a:solidFill>
                  <a:srgbClr val="1B1F3B"/>
                </a:solidFill>
              </a:rPr>
              <a:t>Future work</a:t>
            </a:r>
            <a:endParaRPr lang="en-US" sz="1800" dirty="0"/>
          </a:p>
        </p:txBody>
      </p:sp>
      <p:sp>
        <p:nvSpPr>
          <p:cNvPr id="12" name="Text 10"/>
          <p:cNvSpPr txBox="1"/>
          <p:nvPr/>
        </p:nvSpPr>
        <p:spPr>
          <a:xfrm>
            <a:off x="8321040" y="2103120"/>
            <a:ext cx="3200400" cy="1463040"/>
          </a:xfrm>
          <a:prstGeom prst="rect">
            <a:avLst/>
          </a:prstGeom>
          <a:noFill/>
          <a:ln/>
        </p:spPr>
        <p:txBody>
          <a:bodyPr wrap="square" lIns="0" tIns="0" rIns="0" bIns="0" rtlCol="0" anchor="t"/>
          <a:lstStyle/>
          <a:p>
            <a:pPr indent="0" marL="0">
              <a:spcAft>
                <a:spcPts val="400"/>
              </a:spcAft>
              <a:buNone/>
            </a:pPr>
            <a:r>
              <a:rPr lang="en-US" sz="1600" dirty="0">
                <a:solidFill>
                  <a:srgbClr val="1B1F3B"/>
                </a:solidFill>
              </a:rPr>
              <a:t>Open audio features, multilingual lyrics, user study.</a:t>
            </a:r>
            <a:endParaRPr lang="en-US" sz="1600" dirty="0"/>
          </a:p>
        </p:txBody>
      </p:sp>
      <p:sp>
        <p:nvSpPr>
          <p:cNvPr id="13" name="Text 11"/>
          <p:cNvSpPr txBox="1"/>
          <p:nvPr/>
        </p:nvSpPr>
        <p:spPr>
          <a:xfrm>
            <a:off x="8138160" y="3840480"/>
            <a:ext cx="3566160" cy="2286000"/>
          </a:xfrm>
          <a:prstGeom prst="rect">
            <a:avLst/>
          </a:prstGeom>
          <a:noFill/>
          <a:ln/>
        </p:spPr>
        <p:txBody>
          <a:bodyPr wrap="square" lIns="0" tIns="0" rIns="0" bIns="0" rtlCol="0" anchor="t"/>
          <a:lstStyle/>
          <a:p>
            <a:pPr indent="0" marL="0">
              <a:buNone/>
            </a:pPr>
            <a:r>
              <a:rPr lang="en-US" sz="1100" dirty="0">
                <a:solidFill>
                  <a:srgbClr val="5B6178"/>
                </a:solidFill>
              </a:rPr>
              <a:t>[9] J. Serrà et al. (2012), Measuring the Evolution of Contemporary Western Popular Music</a:t>
            </a:r>
            <a:endParaRPr lang="en-US" sz="1100" dirty="0"/>
          </a:p>
          <a:p>
            <a:pPr indent="0" marL="0">
              <a:buNone/>
            </a:pPr>
            <a:r>
              <a:rPr lang="en-US" sz="1100" dirty="0">
                <a:solidFill>
                  <a:srgbClr val="5B6178"/>
                </a:solidFill>
              </a:rPr>
              <a:t>[11] C. Hutto et al. (2014), VADER: A Parsimonious Rule-Based Model for Sentiment Analysis of Social Media Text</a:t>
            </a:r>
            <a:endParaRPr lang="en-US" sz="1100" dirty="0"/>
          </a:p>
          <a:p>
            <a:pPr indent="0" marL="0">
              <a:buNone/>
            </a:pPr>
            <a:r>
              <a:rPr lang="en-US" sz="1100" dirty="0">
                <a:solidFill>
                  <a:srgbClr val="5B6178"/>
                </a:solidFill>
              </a:rPr>
              <a:t>[16] L. van der Maaten et al. (2008), Visualizing Data using t-SNE</a:t>
            </a:r>
            <a:endParaRPr lang="en-US" sz="1100" dirty="0"/>
          </a:p>
          <a:p>
            <a:pPr indent="0" marL="0">
              <a:buNone/>
            </a:pPr>
            <a:r>
              <a:rPr lang="en-US" sz="1100" dirty="0">
                <a:solidFill>
                  <a:srgbClr val="5B6178"/>
                </a:solidFill>
              </a:rPr>
              <a:t>[25] D. H. da Silva et al. (2025), A Web Application for exploratory data analysis and classification of Parkinson's Disease patients using machine learning models on different datasets</a:t>
            </a:r>
            <a:endParaRPr lang="en-US" sz="1100" dirty="0"/>
          </a:p>
        </p:txBody>
      </p:sp>
      <p:sp>
        <p:nvSpPr>
          <p:cNvPr id="25" name="Slide Number Placeholder 0"/>
          <p:cNvSpPr>
            <a:spLocks noGrp="1"/>
          </p:cNvSpPr>
          <p:nvPr>
            <p:ph type="sldNum" sz="quarter" idx="4294967295"/>
          </p:nvPr>
        </p:nvSpPr>
        <p:spPr>
          <a:xfrm>
            <a:off x="11247120" y="6400800"/>
            <a:ext cx="548640" cy="320040"/>
          </a:xfrm>
          <a:prstGeom prst="rect">
            <a:avLst/>
          </a:prstGeom>
          <a:extLst>
            <a:ext uri="{C572A759-6A51-4108-AA02-DFA0A04FC94B}">
              <ma14:wrappingTextBoxFlag xmlns:ma14="http://schemas.microsoft.com/office/mac/drawingml/2011/main" val="0"/>
            </a:ext>
          </a:extLst>
        </p:spPr>
        <p:txBody>
          <a:bodyPr/>
          <a:lstStyle>
            <a:lvl1pPr>
              <a:defRPr sz="1100">
                <a:solidFill>
                  <a:srgbClr val="5B6178"/>
                </a:solidFill>
                <a:latin typeface="Calibri"/>
                <a:ea typeface="Calibri"/>
                <a:cs typeface="Calibri"/>
              </a:defRPr>
            </a:lvl1pPr>
          </a:lstStyle>
          <a:p>
            <a:pPr algn="l"/>
            <a:fld id="{F7021451-1387-4CA6-816F-3879F97B5CBC}" type="slidenum">
              <a:rPr b="0" lang="en-US"/>
              <a:t>10</a:t>
            </a:fld>
            <a:endParaRPr lang="en-US"/>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10</Slides>
  <Notes>10</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10</vt:i4>
      </vt:variant>
    </vt:vector>
  </HeadingPairs>
  <TitlesOfParts>
    <vt:vector size="13"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vector>
  </TitlesOfParts>
  <Company>Vellore Institute of Technology, Vellore</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SonicAtlas: An Interactive In-Browser EDA Platform for Spotify Audio Features and Lyrics Across Genres and Eras</dc:title>
  <dc:subject>BACSE301 EDA - Final presentation, Team 05</dc:subject>
  <dc:creator>Sharvesh Prabhu (25BDS0318), Nithin S (25BDS0308)</dc:creator>
  <cp:lastModifiedBy>Sharvesh Prabhu (25BDS0318), Nithin S (25BDS0308)</cp:lastModifiedBy>
  <cp:revision>1</cp:revision>
  <dcterms:created xsi:type="dcterms:W3CDTF">2026-10-20T11:40:24Z</dcterms:created>
  <dcterms:modified xsi:type="dcterms:W3CDTF">2026-10-20T11:40:24Z</dcterms:modified>
</cp:coreProperties>
</file>