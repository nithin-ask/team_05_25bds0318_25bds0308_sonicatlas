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Team 05 and this is the complete story of SonicAtlas.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SonicAtlas studies how musical characteristics change across genres and decades using public Spotify data and lyrics. We cleaned over a million tracks, applied the methods from our syllabus, and built a website so anyone can explore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reviewed 25 verified papers. The main gaps: results are static, audio and lyrics are studied separately, data quality is rarely discussed, and generic EDA tools are not music-aware and need 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public but noisy: impossible tempos, duplicates and sources without common keys. Results in the literature are static, sound and lyrics are studied separately, and interactive tools cost money to host. Our objectives address each problem with a measurable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Spotify's own tools are closed, notebooks are static, the Streamlit application from our faculty reading needs a Python server and is not music-aware, and automated EDA tools are generic. SonicAtlas covers all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notebooks clean the data and compute statistics, embeddings and clusters, and export compact Parquet files. In the browser, DuckDB compiled to WebAssembly runs in a Web Worker and answers SQL queries locally. The React interface has eleven modules and keeps its state in the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methodology moves from acquisition and cleaning through statistics, multivariate views, dimensionality reduction, clustering, time series and tests to deployment. Every number in our documents is generated from a single results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five headline findings: music became louder; energy is almost a restatement of loudness; genre strongly shapes danceability; t-SNE keeps local structure best; and lyric sentiment is nearly independent of musical mood.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SonicAtlas live: the Query Studio, the Acoustic Map and the Compare page, all running in the browser. On the right is the first page of our IEEE-format paper, prepared for submission, and links to the repository and live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careful cleaning changes the conclusions, music has become louder and less acoustic, genre matters but genres overlap, and lyrics add independent information. Our main limitations are the proprietary features and data bias.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1F3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CDDB"/>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5B6178"/>
                </a:solidFill>
                <a:latin typeface="Calibri" pitchFamily="34" charset="0"/>
                <a:ea typeface="Calibri" pitchFamily="34" charset="-122"/>
                <a:cs typeface="Calibri" pitchFamily="34" charset="-120"/>
              </a:rPr>
              <a:t>Team 05  |  SonicAtlas  |  BACSE301 Exploratory Data Analysis</a:t>
            </a:r>
            <a:endParaRPr lang="en-US" sz="10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CDDB"/>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5486400" cy="457200"/>
          </a:xfrm>
          <a:prstGeom prst="rect">
            <a:avLst/>
          </a:prstGeom>
          <a:noFill/>
          <a:ln/>
        </p:spPr>
        <p:txBody>
          <a:bodyPr wrap="square" lIns="0" tIns="0" rIns="0" bIns="0" rtlCol="0" anchor="ctr"/>
          <a:lstStyle/>
          <a:p>
            <a:pPr indent="0" marL="0">
              <a:buNone/>
            </a:pPr>
            <a:r>
              <a:rPr lang="en-US" sz="1800" b="1" spc="600" kern="0" dirty="0">
                <a:solidFill>
                  <a:srgbClr val="F2A541"/>
                </a:solidFill>
              </a:rPr>
              <a:t>SONICATLAS</a:t>
            </a:r>
            <a:endParaRPr lang="en-US" sz="1800" dirty="0"/>
          </a:p>
        </p:txBody>
      </p:sp>
      <p:sp>
        <p:nvSpPr>
          <p:cNvPr id="3" name="Text 1"/>
          <p:cNvSpPr txBox="1"/>
          <p:nvPr/>
        </p:nvSpPr>
        <p:spPr>
          <a:xfrm>
            <a:off x="640080" y="1097280"/>
            <a:ext cx="7498080" cy="1828800"/>
          </a:xfrm>
          <a:prstGeom prst="rect">
            <a:avLst/>
          </a:prstGeom>
          <a:noFill/>
          <a:ln/>
        </p:spPr>
        <p:txBody>
          <a:bodyPr wrap="square" lIns="0" tIns="0" rIns="0" bIns="0" rtlCol="0" anchor="t"/>
          <a:lstStyle/>
          <a:p>
            <a:pPr indent="0" marL="0">
              <a:buNone/>
            </a:pPr>
            <a:r>
              <a:rPr lang="en-US" sz="3200" b="1" dirty="0">
                <a:solidFill>
                  <a:srgbClr val="FFFFFF"/>
                </a:solidFill>
              </a:rPr>
              <a:t>An Interactive In-Browser EDA Platform for Spotify Audio Features and Lyrics Across Genres and Eras</a:t>
            </a:r>
            <a:endParaRPr lang="en-US" sz="3200" dirty="0"/>
          </a:p>
        </p:txBody>
      </p:sp>
      <p:sp>
        <p:nvSpPr>
          <p:cNvPr id="4" name="Text 2"/>
          <p:cNvSpPr txBox="1"/>
          <p:nvPr/>
        </p:nvSpPr>
        <p:spPr>
          <a:xfrm>
            <a:off x="640080" y="3108960"/>
            <a:ext cx="7589520" cy="457200"/>
          </a:xfrm>
          <a:prstGeom prst="rect">
            <a:avLst/>
          </a:prstGeom>
          <a:noFill/>
          <a:ln/>
        </p:spPr>
        <p:txBody>
          <a:bodyPr wrap="square" lIns="0" tIns="0" rIns="0" bIns="0" rtlCol="0" anchor="ctr"/>
          <a:lstStyle/>
          <a:p>
            <a:pPr indent="0" marL="0">
              <a:buNone/>
            </a:pPr>
            <a:r>
              <a:rPr lang="en-US" sz="2200" b="1" dirty="0">
                <a:solidFill>
                  <a:srgbClr val="F2A541"/>
                </a:solidFill>
              </a:rPr>
              <a:t>Final Review  |  Complete project</a:t>
            </a:r>
            <a:endParaRPr lang="en-US" sz="2200" dirty="0"/>
          </a:p>
        </p:txBody>
      </p:sp>
      <p:sp>
        <p:nvSpPr>
          <p:cNvPr id="5" name="Text 3"/>
          <p:cNvSpPr txBox="1"/>
          <p:nvPr/>
        </p:nvSpPr>
        <p:spPr>
          <a:xfrm>
            <a:off x="640080" y="3749040"/>
            <a:ext cx="5486400" cy="1188720"/>
          </a:xfrm>
          <a:prstGeom prst="rect">
            <a:avLst/>
          </a:prstGeom>
          <a:noFill/>
          <a:ln/>
        </p:spPr>
        <p:txBody>
          <a:bodyPr wrap="square" lIns="0" tIns="0" rIns="0" bIns="0" rtlCol="0" anchor="t"/>
          <a:lstStyle/>
          <a:p>
            <a:pPr indent="0" marL="0">
              <a:buNone/>
            </a:pPr>
            <a:r>
              <a:rPr lang="en-US" sz="1800" b="1" dirty="0">
                <a:solidFill>
                  <a:srgbClr val="FFFFFF"/>
                </a:solidFill>
              </a:rPr>
              <a:t>Team 05</a:t>
            </a:r>
            <a:endParaRPr lang="en-US" sz="1800" dirty="0"/>
          </a:p>
          <a:p>
            <a:pPr indent="0" marL="0">
              <a:buNone/>
            </a:pPr>
            <a:r>
              <a:rPr lang="en-US" sz="1800" dirty="0">
                <a:solidFill>
                  <a:srgbClr val="FFFFFF"/>
                </a:solidFill>
              </a:rPr>
              <a:t>25BDS0318  Sharvesh Prabhu</a:t>
            </a:r>
            <a:endParaRPr lang="en-US" sz="1800" dirty="0"/>
          </a:p>
          <a:p>
            <a:pPr indent="0" marL="0">
              <a:buNone/>
            </a:pPr>
            <a:r>
              <a:rPr lang="en-US" sz="1800" dirty="0">
                <a:solidFill>
                  <a:srgbClr val="FFFFFF"/>
                </a:solidFill>
              </a:rPr>
              <a:t>25BDS0308  Nithin S</a:t>
            </a:r>
            <a:endParaRPr lang="en-US" sz="1800" dirty="0"/>
          </a:p>
        </p:txBody>
      </p:sp>
      <p:sp>
        <p:nvSpPr>
          <p:cNvPr id="6" name="Text 4"/>
          <p:cNvSpPr txBox="1"/>
          <p:nvPr/>
        </p:nvSpPr>
        <p:spPr>
          <a:xfrm>
            <a:off x="640080" y="5120640"/>
            <a:ext cx="8229600" cy="1005840"/>
          </a:xfrm>
          <a:prstGeom prst="rect">
            <a:avLst/>
          </a:prstGeom>
          <a:noFill/>
          <a:ln/>
        </p:spPr>
        <p:txBody>
          <a:bodyPr wrap="square" lIns="0" tIns="0" rIns="0" bIns="0" rtlCol="0" anchor="t"/>
          <a:lstStyle/>
          <a:p>
            <a:pPr indent="0" marL="0">
              <a:buNone/>
            </a:pPr>
            <a:r>
              <a:rPr lang="en-US" sz="1500" dirty="0">
                <a:solidFill>
                  <a:srgbClr val="C9CDDB"/>
                </a:solidFill>
              </a:rPr>
              <a:t>BACSE301 Exploratory Data Analysis (Project-based Course)</a:t>
            </a:r>
            <a:endParaRPr lang="en-US" sz="1500" dirty="0"/>
          </a:p>
          <a:p>
            <a:pPr indent="0" marL="0">
              <a:buNone/>
            </a:pPr>
            <a:r>
              <a:rPr lang="en-US" sz="1500" dirty="0">
                <a:solidFill>
                  <a:srgbClr val="C9CDDB"/>
                </a:solidFill>
              </a:rPr>
              <a:t>Faculty: ____________</a:t>
            </a:r>
            <a:endParaRPr lang="en-US" sz="1500" dirty="0"/>
          </a:p>
          <a:p>
            <a:pPr indent="0" marL="0">
              <a:buNone/>
            </a:pPr>
            <a:r>
              <a:rPr lang="en-US" sz="1500" dirty="0">
                <a:solidFill>
                  <a:srgbClr val="C9CDDB"/>
                </a:solidFill>
              </a:rPr>
              <a:t>School of Computer Science and Engineering, VIT Vellore  |  October 2026</a:t>
            </a:r>
            <a:endParaRPr lang="en-US" sz="1500" dirty="0"/>
          </a:p>
        </p:txBody>
      </p:sp>
      <p:sp>
        <p:nvSpPr>
          <p:cNvPr id="7" name="Shape 5"/>
          <p:cNvSpPr/>
          <p:nvPr/>
        </p:nvSpPr>
        <p:spPr>
          <a:xfrm>
            <a:off x="8412480" y="1097280"/>
            <a:ext cx="3291840" cy="3291840"/>
          </a:xfrm>
          <a:prstGeom prst="roundRect">
            <a:avLst>
              <a:gd name="adj" fmla="val 4167"/>
            </a:avLst>
          </a:prstGeom>
          <a:solidFill>
            <a:srgbClr val="FFFFFF"/>
          </a:solidFill>
          <a:ln w="12700">
            <a:solidFill>
              <a:srgbClr val="FFFFFF"/>
            </a:solidFill>
            <a:prstDash val="solid"/>
          </a:ln>
        </p:spPr>
      </p:sp>
      <p:pic>
        <p:nvPicPr>
          <p:cNvPr id="8" name="Image 0" descr="Acoustic cluster map">    </p:cNvPr>
          <p:cNvPicPr>
            <a:picLocks noChangeAspect="1"/>
          </p:cNvPicPr>
          <p:nvPr/>
        </p:nvPicPr>
        <p:blipFill>
          <a:blip r:embed="rId1"/>
          <a:stretch>
            <a:fillRect/>
          </a:stretch>
        </p:blipFill>
        <p:spPr>
          <a:xfrm>
            <a:off x="8549640" y="1234440"/>
            <a:ext cx="3017520" cy="2665759"/>
          </a:xfrm>
          <a:prstGeom prst="rect">
            <a:avLst/>
          </a:prstGeom>
        </p:spPr>
      </p:pic>
      <p:sp>
        <p:nvSpPr>
          <p:cNvPr id="9" name="Text 6"/>
          <p:cNvSpPr txBox="1"/>
          <p:nvPr/>
        </p:nvSpPr>
        <p:spPr>
          <a:xfrm>
            <a:off x="8412480" y="4480560"/>
            <a:ext cx="3291840" cy="365760"/>
          </a:xfrm>
          <a:prstGeom prst="rect">
            <a:avLst/>
          </a:prstGeom>
          <a:noFill/>
          <a:ln/>
        </p:spPr>
        <p:txBody>
          <a:bodyPr wrap="square" lIns="0" tIns="0" rIns="0" bIns="0" rtlCol="0" anchor="ctr"/>
          <a:lstStyle/>
          <a:p>
            <a:pPr algn="ctr" indent="0" marL="0">
              <a:buNone/>
            </a:pPr>
            <a:r>
              <a:rPr lang="en-US" sz="1200" dirty="0">
                <a:solidFill>
                  <a:srgbClr val="C9CDDB"/>
                </a:solidFill>
              </a:rPr>
              <a:t>Real acoustic map of 10,000 tracks (t-SNE)</a:t>
            </a:r>
            <a:endParaRPr lang="en-US" sz="12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CDDB"/>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ABSTRACT</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Mapping how the sound of music changes across genres and eras</a:t>
            </a:r>
            <a:endParaRPr lang="en-US" sz="3000" dirty="0"/>
          </a:p>
        </p:txBody>
      </p:sp>
      <p:sp>
        <p:nvSpPr>
          <p:cNvPr id="4" name="Shape 2"/>
          <p:cNvSpPr/>
          <p:nvPr/>
        </p:nvSpPr>
        <p:spPr>
          <a:xfrm>
            <a:off x="457200" y="1554480"/>
            <a:ext cx="6949440" cy="4480560"/>
          </a:xfrm>
          <a:prstGeom prst="roundRect">
            <a:avLst>
              <a:gd name="adj" fmla="val 2449"/>
            </a:avLst>
          </a:prstGeom>
          <a:solidFill>
            <a:srgbClr val="EEF0F7"/>
          </a:solidFill>
          <a:ln w="12700">
            <a:solidFill>
              <a:srgbClr val="EEF0F7"/>
            </a:solidFill>
            <a:prstDash val="solid"/>
          </a:ln>
        </p:spPr>
      </p:sp>
      <p:sp>
        <p:nvSpPr>
          <p:cNvPr id="5" name="Text 3"/>
          <p:cNvSpPr txBox="1"/>
          <p:nvPr/>
        </p:nvSpPr>
        <p:spPr>
          <a:xfrm>
            <a:off x="640080" y="1691640"/>
            <a:ext cx="6583680" cy="4206240"/>
          </a:xfrm>
          <a:prstGeom prst="rect">
            <a:avLst/>
          </a:prstGeom>
          <a:noFill/>
          <a:ln/>
        </p:spPr>
        <p:txBody>
          <a:bodyPr wrap="square" lIns="0" tIns="0" rIns="0" bIns="0" rtlCol="0" anchor="t"/>
          <a:lstStyle/>
          <a:p>
            <a:pPr indent="0" marL="0">
              <a:spcAft>
                <a:spcPts val="400"/>
              </a:spcAft>
              <a:buNone/>
            </a:pPr>
            <a:r>
              <a:rPr lang="en-US" sz="1800" dirty="0">
                <a:solidFill>
                  <a:srgbClr val="1B1F3B"/>
                </a:solidFill>
              </a:rPr>
              <a:t>Spotify's archived audio descriptors (energy, valence, danceability, acousticness and more) are rarely explored beyond static charts. SonicAtlas cleans 1,204,025 tracks released 1900-2020, a genre table of 89,740 tracks in 114 genres and 161,401 English lyrics, explores them with the course methods (descriptive statistics, correlation, PCA/t-SNE/LLE, time series, hypothesis tests, text mining), and publishes everything in a website that runs SQL inside the browser with DuckDB-WASM.</a:t>
            </a:r>
            <a:endParaRPr lang="en-US" sz="1800" dirty="0"/>
          </a:p>
        </p:txBody>
      </p:sp>
      <p:sp>
        <p:nvSpPr>
          <p:cNvPr id="6" name="Shape 4"/>
          <p:cNvSpPr/>
          <p:nvPr/>
        </p:nvSpPr>
        <p:spPr>
          <a:xfrm>
            <a:off x="7772400" y="1554480"/>
            <a:ext cx="3931920" cy="1417320"/>
          </a:xfrm>
          <a:prstGeom prst="roundRect">
            <a:avLst>
              <a:gd name="adj" fmla="val 7742"/>
            </a:avLst>
          </a:prstGeom>
          <a:solidFill>
            <a:srgbClr val="EEF0F7"/>
          </a:solidFill>
          <a:ln w="12700">
            <a:solidFill>
              <a:srgbClr val="EEF0F7"/>
            </a:solidFill>
            <a:prstDash val="solid"/>
          </a:ln>
        </p:spPr>
      </p:sp>
      <p:sp>
        <p:nvSpPr>
          <p:cNvPr id="7" name="Text 5"/>
          <p:cNvSpPr txBox="1"/>
          <p:nvPr/>
        </p:nvSpPr>
        <p:spPr>
          <a:xfrm>
            <a:off x="7909560" y="1664208"/>
            <a:ext cx="3657600" cy="685800"/>
          </a:xfrm>
          <a:prstGeom prst="rect">
            <a:avLst/>
          </a:prstGeom>
          <a:noFill/>
          <a:ln/>
        </p:spPr>
        <p:txBody>
          <a:bodyPr wrap="square" lIns="0" tIns="0" rIns="0" bIns="0" rtlCol="0" anchor="ctr"/>
          <a:lstStyle/>
          <a:p>
            <a:pPr indent="0" marL="0">
              <a:buNone/>
            </a:pPr>
            <a:r>
              <a:rPr lang="en-US" sz="3200" b="1" dirty="0">
                <a:solidFill>
                  <a:srgbClr val="1B1F3B"/>
                </a:solidFill>
              </a:rPr>
              <a:t>1,204,025</a:t>
            </a:r>
            <a:endParaRPr lang="en-US" sz="3200" dirty="0"/>
          </a:p>
        </p:txBody>
      </p:sp>
      <p:sp>
        <p:nvSpPr>
          <p:cNvPr id="8" name="Text 6"/>
          <p:cNvSpPr txBox="1"/>
          <p:nvPr/>
        </p:nvSpPr>
        <p:spPr>
          <a:xfrm>
            <a:off x="7909560" y="2331720"/>
            <a:ext cx="3657600" cy="566928"/>
          </a:xfrm>
          <a:prstGeom prst="rect">
            <a:avLst/>
          </a:prstGeom>
          <a:noFill/>
          <a:ln/>
        </p:spPr>
        <p:txBody>
          <a:bodyPr wrap="square" lIns="0" tIns="0" rIns="0" bIns="0" rtlCol="0" anchor="t"/>
          <a:lstStyle/>
          <a:p>
            <a:pPr indent="0" marL="0">
              <a:buNone/>
            </a:pPr>
            <a:r>
              <a:rPr lang="en-US" sz="1400" dirty="0">
                <a:solidFill>
                  <a:srgbClr val="5B6178"/>
                </a:solidFill>
              </a:rPr>
              <a:t>tracks analysed</a:t>
            </a:r>
            <a:endParaRPr lang="en-US" sz="1400" dirty="0"/>
          </a:p>
        </p:txBody>
      </p:sp>
      <p:sp>
        <p:nvSpPr>
          <p:cNvPr id="9" name="Shape 7"/>
          <p:cNvSpPr/>
          <p:nvPr/>
        </p:nvSpPr>
        <p:spPr>
          <a:xfrm>
            <a:off x="7772400" y="3108960"/>
            <a:ext cx="3931920" cy="1417320"/>
          </a:xfrm>
          <a:prstGeom prst="roundRect">
            <a:avLst>
              <a:gd name="adj" fmla="val 7742"/>
            </a:avLst>
          </a:prstGeom>
          <a:solidFill>
            <a:srgbClr val="EEF0F7"/>
          </a:solidFill>
          <a:ln w="12700">
            <a:solidFill>
              <a:srgbClr val="EEF0F7"/>
            </a:solidFill>
            <a:prstDash val="solid"/>
          </a:ln>
        </p:spPr>
      </p:sp>
      <p:sp>
        <p:nvSpPr>
          <p:cNvPr id="10" name="Text 8"/>
          <p:cNvSpPr txBox="1"/>
          <p:nvPr/>
        </p:nvSpPr>
        <p:spPr>
          <a:xfrm>
            <a:off x="7909560" y="3218688"/>
            <a:ext cx="3657600" cy="685800"/>
          </a:xfrm>
          <a:prstGeom prst="rect">
            <a:avLst/>
          </a:prstGeom>
          <a:noFill/>
          <a:ln/>
        </p:spPr>
        <p:txBody>
          <a:bodyPr wrap="square" lIns="0" tIns="0" rIns="0" bIns="0" rtlCol="0" anchor="ctr"/>
          <a:lstStyle/>
          <a:p>
            <a:pPr indent="0" marL="0">
              <a:buNone/>
            </a:pPr>
            <a:r>
              <a:rPr lang="en-US" sz="3200" b="1" dirty="0">
                <a:solidFill>
                  <a:srgbClr val="1B1F3B"/>
                </a:solidFill>
              </a:rPr>
              <a:t>114</a:t>
            </a:r>
            <a:endParaRPr lang="en-US" sz="3200" dirty="0"/>
          </a:p>
        </p:txBody>
      </p:sp>
      <p:sp>
        <p:nvSpPr>
          <p:cNvPr id="11" name="Text 9"/>
          <p:cNvSpPr txBox="1"/>
          <p:nvPr/>
        </p:nvSpPr>
        <p:spPr>
          <a:xfrm>
            <a:off x="7909560" y="3886200"/>
            <a:ext cx="3657600" cy="566928"/>
          </a:xfrm>
          <a:prstGeom prst="rect">
            <a:avLst/>
          </a:prstGeom>
          <a:noFill/>
          <a:ln/>
        </p:spPr>
        <p:txBody>
          <a:bodyPr wrap="square" lIns="0" tIns="0" rIns="0" bIns="0" rtlCol="0" anchor="t"/>
          <a:lstStyle/>
          <a:p>
            <a:pPr indent="0" marL="0">
              <a:buNone/>
            </a:pPr>
            <a:r>
              <a:rPr lang="en-US" sz="1400" dirty="0">
                <a:solidFill>
                  <a:srgbClr val="5B6178"/>
                </a:solidFill>
              </a:rPr>
              <a:t>genres compared</a:t>
            </a:r>
            <a:endParaRPr lang="en-US" sz="1400" dirty="0"/>
          </a:p>
        </p:txBody>
      </p:sp>
      <p:sp>
        <p:nvSpPr>
          <p:cNvPr id="12" name="Shape 10"/>
          <p:cNvSpPr/>
          <p:nvPr/>
        </p:nvSpPr>
        <p:spPr>
          <a:xfrm>
            <a:off x="7772400" y="4663440"/>
            <a:ext cx="3931920" cy="1417320"/>
          </a:xfrm>
          <a:prstGeom prst="roundRect">
            <a:avLst>
              <a:gd name="adj" fmla="val 7742"/>
            </a:avLst>
          </a:prstGeom>
          <a:solidFill>
            <a:srgbClr val="EEF0F7"/>
          </a:solidFill>
          <a:ln w="12700">
            <a:solidFill>
              <a:srgbClr val="EEF0F7"/>
            </a:solidFill>
            <a:prstDash val="solid"/>
          </a:ln>
        </p:spPr>
      </p:sp>
      <p:sp>
        <p:nvSpPr>
          <p:cNvPr id="13" name="Text 11"/>
          <p:cNvSpPr txBox="1"/>
          <p:nvPr/>
        </p:nvSpPr>
        <p:spPr>
          <a:xfrm>
            <a:off x="7909560" y="4773168"/>
            <a:ext cx="3657600" cy="685800"/>
          </a:xfrm>
          <a:prstGeom prst="rect">
            <a:avLst/>
          </a:prstGeom>
          <a:noFill/>
          <a:ln/>
        </p:spPr>
        <p:txBody>
          <a:bodyPr wrap="square" lIns="0" tIns="0" rIns="0" bIns="0" rtlCol="0" anchor="ctr"/>
          <a:lstStyle/>
          <a:p>
            <a:pPr indent="0" marL="0">
              <a:buNone/>
            </a:pPr>
            <a:r>
              <a:rPr lang="en-US" sz="3200" b="1" dirty="0">
                <a:solidFill>
                  <a:srgbClr val="1B1F3B"/>
                </a:solidFill>
              </a:rPr>
              <a:t>1959-2020</a:t>
            </a:r>
            <a:endParaRPr lang="en-US" sz="3200" dirty="0"/>
          </a:p>
        </p:txBody>
      </p:sp>
      <p:sp>
        <p:nvSpPr>
          <p:cNvPr id="14" name="Text 12"/>
          <p:cNvSpPr txBox="1"/>
          <p:nvPr/>
        </p:nvSpPr>
        <p:spPr>
          <a:xfrm>
            <a:off x="7909560" y="5440680"/>
            <a:ext cx="3657600" cy="566928"/>
          </a:xfrm>
          <a:prstGeom prst="rect">
            <a:avLst/>
          </a:prstGeom>
          <a:noFill/>
          <a:ln/>
        </p:spPr>
        <p:txBody>
          <a:bodyPr wrap="square" lIns="0" tIns="0" rIns="0" bIns="0" rtlCol="0" anchor="t"/>
          <a:lstStyle/>
          <a:p>
            <a:pPr indent="0" marL="0">
              <a:buNone/>
            </a:pPr>
            <a:r>
              <a:rPr lang="en-US" sz="1400" dirty="0">
                <a:solidFill>
                  <a:srgbClr val="5B6178"/>
                </a:solidFill>
              </a:rPr>
              <a:t>years of trends</a:t>
            </a:r>
            <a:endParaRPr lang="en-US" sz="14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LITERATURE SURVEY AND GAPS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Prior work is static and studies sound and words apart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47120" cy="914400"/>
        </p:xfrm>
        <a:graphic>
          <a:graphicData uri="http://schemas.openxmlformats.org/drawingml/2006/table">
            <a:tbl>
              <a:tblPr/>
              <a:tblGrid>
                <a:gridCol w="2651760"/>
                <a:gridCol w="4572000"/>
                <a:gridCol w="4023360"/>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Study</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they did</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Gap SonicAtlas addresses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J. Serrà et al. (2012)</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Tracked pitch, timbre and loudness of Western pop over 50+ years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Static figures; no genre-level or interactive view</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M. Interiano et al. (2018)</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Linked audio features of 500k UK releases to chart success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No lyrics; results cannot be re-sliced by readers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C. O. Brand et al. (2019)</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Measured rising negativity in song lyrics over 50 years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Lyrics only; audio mood not compared</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L. van der Maaten et al. (2008)</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Introduced t-SNE for 2-D maps of high-dimensional data</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Global distances unreliable; no music benchmark</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D. H. da Silva et al. (2025)</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Streamlit web app for EDA and ML on medical data</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Needs a server; not music-aware</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bl>
          </a:graphicData>
        </a:graphic>
      </p:graphicFrame>
      <p:sp>
        <p:nvSpPr>
          <p:cNvPr id="5" name="Shape 2"/>
          <p:cNvSpPr/>
          <p:nvPr/>
        </p:nvSpPr>
        <p:spPr>
          <a:xfrm>
            <a:off x="457200" y="4160520"/>
            <a:ext cx="2651760" cy="1463040"/>
          </a:xfrm>
          <a:prstGeom prst="roundRect">
            <a:avLst>
              <a:gd name="adj" fmla="val 7500"/>
            </a:avLst>
          </a:prstGeom>
          <a:solidFill>
            <a:srgbClr val="EEF0F7"/>
          </a:solidFill>
          <a:ln w="12700">
            <a:solidFill>
              <a:srgbClr val="EEF0F7"/>
            </a:solidFill>
            <a:prstDash val="solid"/>
          </a:ln>
        </p:spPr>
      </p:sp>
      <p:sp>
        <p:nvSpPr>
          <p:cNvPr id="6" name="Text 3"/>
          <p:cNvSpPr txBox="1"/>
          <p:nvPr/>
        </p:nvSpPr>
        <p:spPr>
          <a:xfrm>
            <a:off x="640080" y="4270248"/>
            <a:ext cx="2286000" cy="411480"/>
          </a:xfrm>
          <a:prstGeom prst="rect">
            <a:avLst/>
          </a:prstGeom>
          <a:noFill/>
          <a:ln/>
        </p:spPr>
        <p:txBody>
          <a:bodyPr wrap="square" lIns="0" tIns="0" rIns="0" bIns="0" rtlCol="0" anchor="ctr"/>
          <a:lstStyle/>
          <a:p>
            <a:pPr indent="0" marL="0">
              <a:buNone/>
            </a:pPr>
            <a:r>
              <a:rPr lang="en-US" sz="1800" b="1" dirty="0">
                <a:solidFill>
                  <a:srgbClr val="1B1F3B"/>
                </a:solidFill>
              </a:rPr>
              <a:t>Static results</a:t>
            </a:r>
            <a:endParaRPr lang="en-US" sz="1800" dirty="0"/>
          </a:p>
        </p:txBody>
      </p:sp>
      <p:sp>
        <p:nvSpPr>
          <p:cNvPr id="7" name="Text 4"/>
          <p:cNvSpPr txBox="1"/>
          <p:nvPr/>
        </p:nvSpPr>
        <p:spPr>
          <a:xfrm>
            <a:off x="640080" y="4709160"/>
            <a:ext cx="2286000" cy="82296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fixed figures, no re-slicing</a:t>
            </a:r>
            <a:endParaRPr lang="en-US" sz="1600" dirty="0"/>
          </a:p>
        </p:txBody>
      </p:sp>
      <p:sp>
        <p:nvSpPr>
          <p:cNvPr id="8" name="Shape 5"/>
          <p:cNvSpPr/>
          <p:nvPr/>
        </p:nvSpPr>
        <p:spPr>
          <a:xfrm>
            <a:off x="3291840" y="4160520"/>
            <a:ext cx="2651760" cy="1463040"/>
          </a:xfrm>
          <a:prstGeom prst="roundRect">
            <a:avLst>
              <a:gd name="adj" fmla="val 7500"/>
            </a:avLst>
          </a:prstGeom>
          <a:solidFill>
            <a:srgbClr val="EEF0F7"/>
          </a:solidFill>
          <a:ln w="12700">
            <a:solidFill>
              <a:srgbClr val="EEF0F7"/>
            </a:solidFill>
            <a:prstDash val="solid"/>
          </a:ln>
        </p:spPr>
      </p:sp>
      <p:sp>
        <p:nvSpPr>
          <p:cNvPr id="9" name="Text 6"/>
          <p:cNvSpPr txBox="1"/>
          <p:nvPr/>
        </p:nvSpPr>
        <p:spPr>
          <a:xfrm>
            <a:off x="3474720" y="4270248"/>
            <a:ext cx="2286000" cy="411480"/>
          </a:xfrm>
          <a:prstGeom prst="rect">
            <a:avLst/>
          </a:prstGeom>
          <a:noFill/>
          <a:ln/>
        </p:spPr>
        <p:txBody>
          <a:bodyPr wrap="square" lIns="0" tIns="0" rIns="0" bIns="0" rtlCol="0" anchor="ctr"/>
          <a:lstStyle/>
          <a:p>
            <a:pPr indent="0" marL="0">
              <a:buNone/>
            </a:pPr>
            <a:r>
              <a:rPr lang="en-US" sz="1800" b="1" dirty="0">
                <a:solidFill>
                  <a:srgbClr val="1B1F3B"/>
                </a:solidFill>
              </a:rPr>
              <a:t>Sound vs words</a:t>
            </a:r>
            <a:endParaRPr lang="en-US" sz="1800" dirty="0"/>
          </a:p>
        </p:txBody>
      </p:sp>
      <p:sp>
        <p:nvSpPr>
          <p:cNvPr id="10" name="Text 7"/>
          <p:cNvSpPr txBox="1"/>
          <p:nvPr/>
        </p:nvSpPr>
        <p:spPr>
          <a:xfrm>
            <a:off x="3474720" y="4709160"/>
            <a:ext cx="2286000" cy="82296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audio and lyrics never compared</a:t>
            </a:r>
            <a:endParaRPr lang="en-US" sz="1600" dirty="0"/>
          </a:p>
        </p:txBody>
      </p:sp>
      <p:sp>
        <p:nvSpPr>
          <p:cNvPr id="11" name="Shape 8"/>
          <p:cNvSpPr/>
          <p:nvPr/>
        </p:nvSpPr>
        <p:spPr>
          <a:xfrm>
            <a:off x="6126480" y="4160520"/>
            <a:ext cx="2651760" cy="1463040"/>
          </a:xfrm>
          <a:prstGeom prst="roundRect">
            <a:avLst>
              <a:gd name="adj" fmla="val 7500"/>
            </a:avLst>
          </a:prstGeom>
          <a:solidFill>
            <a:srgbClr val="EEF0F7"/>
          </a:solidFill>
          <a:ln w="12700">
            <a:solidFill>
              <a:srgbClr val="EEF0F7"/>
            </a:solidFill>
            <a:prstDash val="solid"/>
          </a:ln>
        </p:spPr>
      </p:sp>
      <p:sp>
        <p:nvSpPr>
          <p:cNvPr id="12" name="Text 9"/>
          <p:cNvSpPr txBox="1"/>
          <p:nvPr/>
        </p:nvSpPr>
        <p:spPr>
          <a:xfrm>
            <a:off x="6309360" y="4270248"/>
            <a:ext cx="2286000" cy="411480"/>
          </a:xfrm>
          <a:prstGeom prst="rect">
            <a:avLst/>
          </a:prstGeom>
          <a:noFill/>
          <a:ln/>
        </p:spPr>
        <p:txBody>
          <a:bodyPr wrap="square" lIns="0" tIns="0" rIns="0" bIns="0" rtlCol="0" anchor="ctr"/>
          <a:lstStyle/>
          <a:p>
            <a:pPr indent="0" marL="0">
              <a:buNone/>
            </a:pPr>
            <a:r>
              <a:rPr lang="en-US" sz="1800" b="1" dirty="0">
                <a:solidFill>
                  <a:srgbClr val="1B1F3B"/>
                </a:solidFill>
              </a:rPr>
              <a:t>Data quality</a:t>
            </a:r>
            <a:endParaRPr lang="en-US" sz="1800" dirty="0"/>
          </a:p>
        </p:txBody>
      </p:sp>
      <p:sp>
        <p:nvSpPr>
          <p:cNvPr id="13" name="Text 10"/>
          <p:cNvSpPr txBox="1"/>
          <p:nvPr/>
        </p:nvSpPr>
        <p:spPr>
          <a:xfrm>
            <a:off x="6309360" y="4709160"/>
            <a:ext cx="2286000" cy="82296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zero tempos, re-issues ignored</a:t>
            </a:r>
            <a:endParaRPr lang="en-US" sz="1600" dirty="0"/>
          </a:p>
        </p:txBody>
      </p:sp>
      <p:sp>
        <p:nvSpPr>
          <p:cNvPr id="14" name="Shape 11"/>
          <p:cNvSpPr/>
          <p:nvPr/>
        </p:nvSpPr>
        <p:spPr>
          <a:xfrm>
            <a:off x="8961120" y="4160520"/>
            <a:ext cx="2651760" cy="1463040"/>
          </a:xfrm>
          <a:prstGeom prst="roundRect">
            <a:avLst>
              <a:gd name="adj" fmla="val 7500"/>
            </a:avLst>
          </a:prstGeom>
          <a:solidFill>
            <a:srgbClr val="EEF0F7"/>
          </a:solidFill>
          <a:ln w="12700">
            <a:solidFill>
              <a:srgbClr val="EEF0F7"/>
            </a:solidFill>
            <a:prstDash val="solid"/>
          </a:ln>
        </p:spPr>
      </p:sp>
      <p:sp>
        <p:nvSpPr>
          <p:cNvPr id="15" name="Text 12"/>
          <p:cNvSpPr txBox="1"/>
          <p:nvPr/>
        </p:nvSpPr>
        <p:spPr>
          <a:xfrm>
            <a:off x="9144000" y="4270248"/>
            <a:ext cx="2286000" cy="411480"/>
          </a:xfrm>
          <a:prstGeom prst="rect">
            <a:avLst/>
          </a:prstGeom>
          <a:noFill/>
          <a:ln/>
        </p:spPr>
        <p:txBody>
          <a:bodyPr wrap="square" lIns="0" tIns="0" rIns="0" bIns="0" rtlCol="0" anchor="ctr"/>
          <a:lstStyle/>
          <a:p>
            <a:pPr indent="0" marL="0">
              <a:buNone/>
            </a:pPr>
            <a:r>
              <a:rPr lang="en-US" sz="1800" b="1" dirty="0">
                <a:solidFill>
                  <a:srgbClr val="1B1F3B"/>
                </a:solidFill>
              </a:rPr>
              <a:t>Generic tools</a:t>
            </a:r>
            <a:endParaRPr lang="en-US" sz="1800" dirty="0"/>
          </a:p>
        </p:txBody>
      </p:sp>
      <p:sp>
        <p:nvSpPr>
          <p:cNvPr id="16" name="Text 13"/>
          <p:cNvSpPr txBox="1"/>
          <p:nvPr/>
        </p:nvSpPr>
        <p:spPr>
          <a:xfrm>
            <a:off x="9144000" y="4709160"/>
            <a:ext cx="2286000" cy="82296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not music-aware, need a server</a:t>
            </a:r>
            <a:endParaRPr lang="en-US" sz="1600" dirty="0"/>
          </a:p>
        </p:txBody>
      </p:sp>
      <p:sp>
        <p:nvSpPr>
          <p:cNvPr id="17" name="Text 14"/>
          <p:cNvSpPr txBox="1"/>
          <p:nvPr/>
        </p:nvSpPr>
        <p:spPr>
          <a:xfrm>
            <a:off x="457200" y="5897880"/>
            <a:ext cx="10972800" cy="365760"/>
          </a:xfrm>
          <a:prstGeom prst="rect">
            <a:avLst/>
          </a:prstGeom>
          <a:noFill/>
          <a:ln/>
        </p:spPr>
        <p:txBody>
          <a:bodyPr wrap="square" lIns="0" tIns="0" rIns="0" bIns="0" rtlCol="0" anchor="ctr"/>
          <a:lstStyle/>
          <a:p>
            <a:pPr indent="0" marL="0">
              <a:buNone/>
            </a:pPr>
            <a:r>
              <a:rPr lang="en-US" sz="1400" i="1" dirty="0">
                <a:solidFill>
                  <a:srgbClr val="5B6178"/>
                </a:solidFill>
              </a:rPr>
              <a:t>25 verified papers reviewed in the report (Table I).</a:t>
            </a:r>
            <a:endParaRPr lang="en-US" sz="14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PROBLEM IDENTIFICATION AND OBJECTIVES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Open music data exists, but it is messy and locked in static charts</a:t>
            </a:r>
            <a:endParaRPr lang="en-US" sz="3000" dirty="0"/>
          </a:p>
        </p:txBody>
      </p:sp>
      <p:sp>
        <p:nvSpPr>
          <p:cNvPr id="4" name="Shape 2"/>
          <p:cNvSpPr/>
          <p:nvPr/>
        </p:nvSpPr>
        <p:spPr>
          <a:xfrm>
            <a:off x="457200" y="1554480"/>
            <a:ext cx="5120640" cy="1005840"/>
          </a:xfrm>
          <a:prstGeom prst="roundRect">
            <a:avLst>
              <a:gd name="adj" fmla="val 10909"/>
            </a:avLst>
          </a:prstGeom>
          <a:solidFill>
            <a:srgbClr val="EEF0F7"/>
          </a:solidFill>
          <a:ln w="12700">
            <a:solidFill>
              <a:srgbClr val="EEF0F7"/>
            </a:solidFill>
            <a:prstDash val="solid"/>
          </a:ln>
        </p:spPr>
      </p:sp>
      <p:sp>
        <p:nvSpPr>
          <p:cNvPr id="5" name="Text 3"/>
          <p:cNvSpPr txBox="1"/>
          <p:nvPr/>
        </p:nvSpPr>
        <p:spPr>
          <a:xfrm>
            <a:off x="640080" y="1664208"/>
            <a:ext cx="4754880" cy="411480"/>
          </a:xfrm>
          <a:prstGeom prst="rect">
            <a:avLst/>
          </a:prstGeom>
          <a:noFill/>
          <a:ln/>
        </p:spPr>
        <p:txBody>
          <a:bodyPr wrap="square" lIns="0" tIns="0" rIns="0" bIns="0" rtlCol="0" anchor="ctr"/>
          <a:lstStyle/>
          <a:p>
            <a:pPr indent="0" marL="0">
              <a:buNone/>
            </a:pPr>
            <a:r>
              <a:rPr lang="en-US" sz="1700" b="1" dirty="0">
                <a:solidFill>
                  <a:srgbClr val="1B1F3B"/>
                </a:solidFill>
              </a:rPr>
              <a:t>Messy data</a:t>
            </a:r>
            <a:endParaRPr lang="en-US" sz="1700" dirty="0"/>
          </a:p>
        </p:txBody>
      </p:sp>
      <p:sp>
        <p:nvSpPr>
          <p:cNvPr id="6" name="Text 4"/>
          <p:cNvSpPr txBox="1"/>
          <p:nvPr/>
        </p:nvSpPr>
        <p:spPr>
          <a:xfrm>
            <a:off x="640080" y="2103120"/>
            <a:ext cx="4754880" cy="365760"/>
          </a:xfrm>
          <a:prstGeom prst="rect">
            <a:avLst/>
          </a:prstGeom>
          <a:noFill/>
          <a:ln/>
        </p:spPr>
        <p:txBody>
          <a:bodyPr wrap="square" lIns="0" tIns="0" rIns="0" bIns="0" rtlCol="0" anchor="t"/>
          <a:lstStyle/>
          <a:p>
            <a:pPr indent="0" marL="0">
              <a:spcAft>
                <a:spcPts val="400"/>
              </a:spcAft>
              <a:buNone/>
            </a:pPr>
            <a:r>
              <a:rPr lang="en-US" sz="1500" dirty="0">
                <a:solidFill>
                  <a:srgbClr val="1B1F3B"/>
                </a:solidFill>
              </a:rPr>
              <a:t>2,777 zero-BPM tempos, 71,694 duplicate title+artist rows, no shared keys</a:t>
            </a:r>
            <a:endParaRPr lang="en-US" sz="1500" dirty="0"/>
          </a:p>
        </p:txBody>
      </p:sp>
      <p:sp>
        <p:nvSpPr>
          <p:cNvPr id="7" name="Shape 5"/>
          <p:cNvSpPr/>
          <p:nvPr/>
        </p:nvSpPr>
        <p:spPr>
          <a:xfrm>
            <a:off x="457200" y="2670048"/>
            <a:ext cx="5120640" cy="1005840"/>
          </a:xfrm>
          <a:prstGeom prst="roundRect">
            <a:avLst>
              <a:gd name="adj" fmla="val 10909"/>
            </a:avLst>
          </a:prstGeom>
          <a:solidFill>
            <a:srgbClr val="EEF0F7"/>
          </a:solidFill>
          <a:ln w="12700">
            <a:solidFill>
              <a:srgbClr val="EEF0F7"/>
            </a:solidFill>
            <a:prstDash val="solid"/>
          </a:ln>
        </p:spPr>
      </p:sp>
      <p:sp>
        <p:nvSpPr>
          <p:cNvPr id="8" name="Text 6"/>
          <p:cNvSpPr txBox="1"/>
          <p:nvPr/>
        </p:nvSpPr>
        <p:spPr>
          <a:xfrm>
            <a:off x="640080" y="2779776"/>
            <a:ext cx="4754880" cy="411480"/>
          </a:xfrm>
          <a:prstGeom prst="rect">
            <a:avLst/>
          </a:prstGeom>
          <a:noFill/>
          <a:ln/>
        </p:spPr>
        <p:txBody>
          <a:bodyPr wrap="square" lIns="0" tIns="0" rIns="0" bIns="0" rtlCol="0" anchor="ctr"/>
          <a:lstStyle/>
          <a:p>
            <a:pPr indent="0" marL="0">
              <a:buNone/>
            </a:pPr>
            <a:r>
              <a:rPr lang="en-US" sz="1700" b="1" dirty="0">
                <a:solidFill>
                  <a:srgbClr val="1B1F3B"/>
                </a:solidFill>
              </a:rPr>
              <a:t>Frozen results</a:t>
            </a:r>
            <a:endParaRPr lang="en-US" sz="1700" dirty="0"/>
          </a:p>
        </p:txBody>
      </p:sp>
      <p:sp>
        <p:nvSpPr>
          <p:cNvPr id="9" name="Text 7"/>
          <p:cNvSpPr txBox="1"/>
          <p:nvPr/>
        </p:nvSpPr>
        <p:spPr>
          <a:xfrm>
            <a:off x="640080" y="3218688"/>
            <a:ext cx="4754880" cy="365760"/>
          </a:xfrm>
          <a:prstGeom prst="rect">
            <a:avLst/>
          </a:prstGeom>
          <a:noFill/>
          <a:ln/>
        </p:spPr>
        <p:txBody>
          <a:bodyPr wrap="square" lIns="0" tIns="0" rIns="0" bIns="0" rtlCol="0" anchor="t"/>
          <a:lstStyle/>
          <a:p>
            <a:pPr indent="0" marL="0">
              <a:spcAft>
                <a:spcPts val="400"/>
              </a:spcAft>
              <a:buNone/>
            </a:pPr>
            <a:r>
              <a:rPr lang="en-US" sz="1500" dirty="0">
                <a:solidFill>
                  <a:srgbClr val="1B1F3B"/>
                </a:solidFill>
              </a:rPr>
              <a:t>papers and notebooks show fixed figures; readers cannot ask new questions</a:t>
            </a:r>
            <a:endParaRPr lang="en-US" sz="1500" dirty="0"/>
          </a:p>
        </p:txBody>
      </p:sp>
      <p:sp>
        <p:nvSpPr>
          <p:cNvPr id="10" name="Shape 8"/>
          <p:cNvSpPr/>
          <p:nvPr/>
        </p:nvSpPr>
        <p:spPr>
          <a:xfrm>
            <a:off x="457200" y="3785616"/>
            <a:ext cx="5120640" cy="1005840"/>
          </a:xfrm>
          <a:prstGeom prst="roundRect">
            <a:avLst>
              <a:gd name="adj" fmla="val 10909"/>
            </a:avLst>
          </a:prstGeom>
          <a:solidFill>
            <a:srgbClr val="EEF0F7"/>
          </a:solidFill>
          <a:ln w="12700">
            <a:solidFill>
              <a:srgbClr val="EEF0F7"/>
            </a:solidFill>
            <a:prstDash val="solid"/>
          </a:ln>
        </p:spPr>
      </p:sp>
      <p:sp>
        <p:nvSpPr>
          <p:cNvPr id="11" name="Text 9"/>
          <p:cNvSpPr txBox="1"/>
          <p:nvPr/>
        </p:nvSpPr>
        <p:spPr>
          <a:xfrm>
            <a:off x="640080" y="3895344"/>
            <a:ext cx="4754880" cy="411480"/>
          </a:xfrm>
          <a:prstGeom prst="rect">
            <a:avLst/>
          </a:prstGeom>
          <a:noFill/>
          <a:ln/>
        </p:spPr>
        <p:txBody>
          <a:bodyPr wrap="square" lIns="0" tIns="0" rIns="0" bIns="0" rtlCol="0" anchor="ctr"/>
          <a:lstStyle/>
          <a:p>
            <a:pPr indent="0" marL="0">
              <a:buNone/>
            </a:pPr>
            <a:r>
              <a:rPr lang="en-US" sz="1700" b="1" dirty="0">
                <a:solidFill>
                  <a:srgbClr val="1B1F3B"/>
                </a:solidFill>
              </a:rPr>
              <a:t>Split modalities</a:t>
            </a:r>
            <a:endParaRPr lang="en-US" sz="1700" dirty="0"/>
          </a:p>
        </p:txBody>
      </p:sp>
      <p:sp>
        <p:nvSpPr>
          <p:cNvPr id="12" name="Text 10"/>
          <p:cNvSpPr txBox="1"/>
          <p:nvPr/>
        </p:nvSpPr>
        <p:spPr>
          <a:xfrm>
            <a:off x="640080" y="4334256"/>
            <a:ext cx="4754880" cy="365760"/>
          </a:xfrm>
          <a:prstGeom prst="rect">
            <a:avLst/>
          </a:prstGeom>
          <a:noFill/>
          <a:ln/>
        </p:spPr>
        <p:txBody>
          <a:bodyPr wrap="square" lIns="0" tIns="0" rIns="0" bIns="0" rtlCol="0" anchor="t"/>
          <a:lstStyle/>
          <a:p>
            <a:pPr indent="0" marL="0">
              <a:spcAft>
                <a:spcPts val="400"/>
              </a:spcAft>
              <a:buNone/>
            </a:pPr>
            <a:r>
              <a:rPr lang="en-US" sz="1500" dirty="0">
                <a:solidFill>
                  <a:srgbClr val="1B1F3B"/>
                </a:solidFill>
              </a:rPr>
              <a:t>audio features and lyrics are analysed in isolation</a:t>
            </a:r>
            <a:endParaRPr lang="en-US" sz="1500" dirty="0"/>
          </a:p>
        </p:txBody>
      </p:sp>
      <p:sp>
        <p:nvSpPr>
          <p:cNvPr id="13" name="Shape 11"/>
          <p:cNvSpPr/>
          <p:nvPr/>
        </p:nvSpPr>
        <p:spPr>
          <a:xfrm>
            <a:off x="457200" y="4901184"/>
            <a:ext cx="5120640" cy="1005840"/>
          </a:xfrm>
          <a:prstGeom prst="roundRect">
            <a:avLst>
              <a:gd name="adj" fmla="val 10909"/>
            </a:avLst>
          </a:prstGeom>
          <a:solidFill>
            <a:srgbClr val="EEF0F7"/>
          </a:solidFill>
          <a:ln w="12700">
            <a:solidFill>
              <a:srgbClr val="EEF0F7"/>
            </a:solidFill>
            <a:prstDash val="solid"/>
          </a:ln>
        </p:spPr>
      </p:sp>
      <p:sp>
        <p:nvSpPr>
          <p:cNvPr id="14" name="Text 12"/>
          <p:cNvSpPr txBox="1"/>
          <p:nvPr/>
        </p:nvSpPr>
        <p:spPr>
          <a:xfrm>
            <a:off x="640080" y="5010912"/>
            <a:ext cx="4754880" cy="411480"/>
          </a:xfrm>
          <a:prstGeom prst="rect">
            <a:avLst/>
          </a:prstGeom>
          <a:noFill/>
          <a:ln/>
        </p:spPr>
        <p:txBody>
          <a:bodyPr wrap="square" lIns="0" tIns="0" rIns="0" bIns="0" rtlCol="0" anchor="ctr"/>
          <a:lstStyle/>
          <a:p>
            <a:pPr indent="0" marL="0">
              <a:buNone/>
            </a:pPr>
            <a:r>
              <a:rPr lang="en-US" sz="1700" b="1" dirty="0">
                <a:solidFill>
                  <a:srgbClr val="1B1F3B"/>
                </a:solidFill>
              </a:rPr>
              <a:t>Hosting cost</a:t>
            </a:r>
            <a:endParaRPr lang="en-US" sz="1700" dirty="0"/>
          </a:p>
        </p:txBody>
      </p:sp>
      <p:sp>
        <p:nvSpPr>
          <p:cNvPr id="15" name="Text 13"/>
          <p:cNvSpPr txBox="1"/>
          <p:nvPr/>
        </p:nvSpPr>
        <p:spPr>
          <a:xfrm>
            <a:off x="640080" y="5449824"/>
            <a:ext cx="4754880" cy="365760"/>
          </a:xfrm>
          <a:prstGeom prst="rect">
            <a:avLst/>
          </a:prstGeom>
          <a:noFill/>
          <a:ln/>
        </p:spPr>
        <p:txBody>
          <a:bodyPr wrap="square" lIns="0" tIns="0" rIns="0" bIns="0" rtlCol="0" anchor="t"/>
          <a:lstStyle/>
          <a:p>
            <a:pPr indent="0" marL="0">
              <a:spcAft>
                <a:spcPts val="400"/>
              </a:spcAft>
              <a:buNone/>
            </a:pPr>
            <a:r>
              <a:rPr lang="en-US" sz="1500" dirty="0">
                <a:solidFill>
                  <a:srgbClr val="1B1F3B"/>
                </a:solidFill>
              </a:rPr>
              <a:t>interactive tools usually need a running server</a:t>
            </a:r>
            <a:endParaRPr lang="en-US" sz="1500" dirty="0"/>
          </a:p>
        </p:txBody>
      </p:sp>
      <p:sp>
        <p:nvSpPr>
          <p:cNvPr id="16" name="Text 14"/>
          <p:cNvSpPr txBox="1"/>
          <p:nvPr/>
        </p:nvSpPr>
        <p:spPr>
          <a:xfrm>
            <a:off x="6035040" y="1554480"/>
            <a:ext cx="5486400" cy="411480"/>
          </a:xfrm>
          <a:prstGeom prst="rect">
            <a:avLst/>
          </a:prstGeom>
          <a:noFill/>
          <a:ln/>
        </p:spPr>
        <p:txBody>
          <a:bodyPr wrap="square" lIns="0" tIns="0" rIns="0" bIns="0" rtlCol="0" anchor="ctr"/>
          <a:lstStyle/>
          <a:p>
            <a:pPr indent="0" marL="0">
              <a:buNone/>
            </a:pPr>
            <a:r>
              <a:rPr lang="en-US" sz="2000" b="1" dirty="0">
                <a:solidFill>
                  <a:srgbClr val="1B1F3B"/>
                </a:solidFill>
              </a:rPr>
              <a:t>Objectives</a:t>
            </a:r>
            <a:endParaRPr lang="en-US" sz="2000" dirty="0"/>
          </a:p>
        </p:txBody>
      </p:sp>
      <p:sp>
        <p:nvSpPr>
          <p:cNvPr id="17" name="Text 15"/>
          <p:cNvSpPr txBox="1"/>
          <p:nvPr/>
        </p:nvSpPr>
        <p:spPr>
          <a:xfrm>
            <a:off x="6035040" y="2057400"/>
            <a:ext cx="5669280" cy="40233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rgbClr val="1B1F3B"/>
                </a:solidFill>
              </a:rPr>
              <a:t>Clean 1M+ tracks; validate MICE by masking 5% of values</a:t>
            </a:r>
            <a:endParaRPr lang="en-US" sz="1600" dirty="0"/>
          </a:p>
          <a:p>
            <a:pPr marL="342900" indent="-342900">
              <a:spcAft>
                <a:spcPts val="600"/>
              </a:spcAft>
              <a:buSzPct val="100000"/>
              <a:buFont typeface="+mj-lt"/>
              <a:buAutoNum type="arabicPeriod" startAt="1"/>
            </a:pPr>
            <a:r>
              <a:rPr lang="en-US" sz="1600" dirty="0">
                <a:solidFill>
                  <a:srgbClr val="1B1F3B"/>
                </a:solidFill>
              </a:rPr>
              <a:t>Descriptive stats in course conventions (n-1, Tukey IQR, G1, G2)</a:t>
            </a:r>
            <a:endParaRPr lang="en-US" sz="1600" dirty="0"/>
          </a:p>
          <a:p>
            <a:pPr marL="342900" indent="-342900">
              <a:spcAft>
                <a:spcPts val="600"/>
              </a:spcAft>
              <a:buSzPct val="100000"/>
              <a:buFont typeface="+mj-lt"/>
              <a:buAutoNum type="arabicPeriod" startAt="1"/>
            </a:pPr>
            <a:r>
              <a:rPr lang="en-US" sz="1600" dirty="0">
                <a:solidFill>
                  <a:srgbClr val="1B1F3B"/>
                </a:solidFill>
              </a:rPr>
              <a:t>Correlation and multivariate genre fingerprints</a:t>
            </a:r>
            <a:endParaRPr lang="en-US" sz="1600" dirty="0"/>
          </a:p>
          <a:p>
            <a:pPr marL="342900" indent="-342900">
              <a:spcAft>
                <a:spcPts val="600"/>
              </a:spcAft>
              <a:buSzPct val="100000"/>
              <a:buFont typeface="+mj-lt"/>
              <a:buAutoNum type="arabicPeriod" startAt="1"/>
            </a:pPr>
            <a:r>
              <a:rPr lang="en-US" sz="1600" dirty="0">
                <a:solidFill>
                  <a:srgbClr val="1B1F3B"/>
                </a:solidFill>
              </a:rPr>
              <a:t>Compare PCA, t-SNE, LLE, UMAP; name acoustic clusters</a:t>
            </a:r>
            <a:endParaRPr lang="en-US" sz="1600" dirty="0"/>
          </a:p>
          <a:p>
            <a:pPr marL="342900" indent="-342900">
              <a:spcAft>
                <a:spcPts val="600"/>
              </a:spcAft>
              <a:buSzPct val="100000"/>
              <a:buFont typeface="+mj-lt"/>
              <a:buAutoNum type="arabicPeriod" startAt="1"/>
            </a:pPr>
            <a:r>
              <a:rPr lang="en-US" sz="1600" dirty="0">
                <a:solidFill>
                  <a:srgbClr val="1B1F3B"/>
                </a:solidFill>
              </a:rPr>
              <a:t>Trends, STL seasonality, change points, forecast</a:t>
            </a:r>
            <a:endParaRPr lang="en-US" sz="1600" dirty="0"/>
          </a:p>
          <a:p>
            <a:pPr marL="342900" indent="-342900">
              <a:spcAft>
                <a:spcPts val="600"/>
              </a:spcAft>
              <a:buSzPct val="100000"/>
              <a:buFont typeface="+mj-lt"/>
              <a:buAutoNum type="arabicPeriod" startAt="1"/>
            </a:pPr>
            <a:r>
              <a:rPr lang="en-US" sz="1600" dirty="0">
                <a:solidFill>
                  <a:srgbClr val="1B1F3B"/>
                </a:solidFill>
              </a:rPr>
              <a:t>ANOVA, chi-square, feature selection; lyrics sentiment</a:t>
            </a:r>
            <a:endParaRPr lang="en-US" sz="1600" dirty="0"/>
          </a:p>
          <a:p>
            <a:pPr marL="342900" indent="-342900">
              <a:spcAft>
                <a:spcPts val="600"/>
              </a:spcAft>
              <a:buSzPct val="100000"/>
              <a:buFont typeface="+mj-lt"/>
              <a:buAutoNum type="arabicPeriod" startAt="1"/>
            </a:pPr>
            <a:r>
              <a:rPr lang="en-US" sz="1600" dirty="0">
                <a:solidFill>
                  <a:srgbClr val="1B1F3B"/>
                </a:solidFill>
              </a:rPr>
              <a:t>In-browser SQL with lite-data queries under 1 second</a:t>
            </a:r>
            <a:endParaRPr lang="en-US" sz="16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EXISTING SYSTEMS VS PROPOSED SYSTEM</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SonicAtlas combines what existing tools offer separately</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47120" cy="914400"/>
        </p:xfrm>
        <a:graphic>
          <a:graphicData uri="http://schemas.openxmlformats.org/drawingml/2006/table">
            <a:tbl>
              <a:tblPr/>
              <a:tblGrid>
                <a:gridCol w="3108960"/>
                <a:gridCol w="1463040"/>
                <a:gridCol w="2011680"/>
                <a:gridCol w="1645920"/>
                <a:gridCol w="1463040"/>
                <a:gridCol w="155448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System</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Open data</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Music-specific EDA</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Audio + lyrics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Interactive</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Serverless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r>
              <a:tr h="0">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Spotify app / Web API</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 (closed)</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Yes (app)</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Static notebooks / papers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Partly</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Rarely</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Streamlit EDA app [25]</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Generic</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 (server)</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YData / Sweetviz / D-Tale</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Generic</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Partly</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No (server for D-Tale)</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SonicAtlas (ours)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bl>
          </a:graphicData>
        </a:graphic>
      </p:graphicFrame>
      <p:sp>
        <p:nvSpPr>
          <p:cNvPr id="5" name="Text 2"/>
          <p:cNvSpPr txBox="1"/>
          <p:nvPr/>
        </p:nvSpPr>
        <p:spPr>
          <a:xfrm>
            <a:off x="457200" y="5120640"/>
            <a:ext cx="11247120" cy="731520"/>
          </a:xfrm>
          <a:prstGeom prst="rect">
            <a:avLst/>
          </a:prstGeom>
          <a:noFill/>
          <a:ln/>
        </p:spPr>
        <p:txBody>
          <a:bodyPr wrap="square" lIns="0" tIns="0" rIns="0" bIns="0" rtlCol="0" anchor="ctr"/>
          <a:lstStyle/>
          <a:p>
            <a:pPr indent="0" marL="0">
              <a:buNone/>
            </a:pPr>
            <a:r>
              <a:rPr lang="en-US" sz="1800" b="1" dirty="0">
                <a:solidFill>
                  <a:srgbClr val="1B1F3B"/>
                </a:solidFill>
              </a:rPr>
              <a:t>Only SonicAtlas is open, music-aware, combines sound with words, and runs entirely in the browser.</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ARCHITECTURE / SYSTEM FLOW / MODULES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Heavy maths runs offline; querying runs in the user's browser</a:t>
            </a:r>
            <a:endParaRPr lang="en-US" sz="3000" dirty="0"/>
          </a:p>
        </p:txBody>
      </p:sp>
      <p:pic>
        <p:nvPicPr>
          <p:cNvPr id="4" name="Image 0" descr="fig_00_01_system_architecture.png">    </p:cNvPr>
          <p:cNvPicPr>
            <a:picLocks noChangeAspect="1"/>
          </p:cNvPicPr>
          <p:nvPr/>
        </p:nvPicPr>
        <p:blipFill>
          <a:blip r:embed="rId1"/>
          <a:stretch>
            <a:fillRect/>
          </a:stretch>
        </p:blipFill>
        <p:spPr>
          <a:xfrm>
            <a:off x="1812567" y="1463040"/>
            <a:ext cx="8536386" cy="4846320"/>
          </a:xfrm>
          <a:prstGeom prst="rect">
            <a:avLst/>
          </a:prstGeom>
        </p:spPr>
      </p:pic>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METHODOLOGY</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From raw public files to an interactive in-browser tool</a:t>
            </a:r>
            <a:endParaRPr lang="en-US" sz="3000" dirty="0"/>
          </a:p>
        </p:txBody>
      </p:sp>
      <p:pic>
        <p:nvPicPr>
          <p:cNvPr id="4" name="Image 0" descr="fig_00_02_methodology_flow.png">    </p:cNvPr>
          <p:cNvPicPr>
            <a:picLocks noChangeAspect="1"/>
          </p:cNvPicPr>
          <p:nvPr/>
        </p:nvPicPr>
        <p:blipFill>
          <a:blip r:embed="rId1"/>
          <a:stretch>
            <a:fillRect/>
          </a:stretch>
        </p:blipFill>
        <p:spPr>
          <a:xfrm>
            <a:off x="1422226" y="1554480"/>
            <a:ext cx="9317068" cy="2377440"/>
          </a:xfrm>
          <a:prstGeom prst="rect">
            <a:avLst/>
          </a:prstGeom>
        </p:spPr>
      </p:pic>
      <p:sp>
        <p:nvSpPr>
          <p:cNvPr id="5" name="Text 2"/>
          <p:cNvSpPr txBox="1"/>
          <p:nvPr/>
        </p:nvSpPr>
        <p:spPr>
          <a:xfrm>
            <a:off x="457200" y="4206240"/>
            <a:ext cx="11247120" cy="20116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1B1F3B"/>
                </a:solidFill>
              </a:rPr>
              <a:t>Course conventions: n-1 variance, Tukey quartiles, adjusted G1, bias-corrected G2</a:t>
            </a:r>
            <a:endParaRPr lang="en-US" sz="1700" dirty="0"/>
          </a:p>
          <a:p>
            <a:pPr marL="228600" indent="-228600">
              <a:spcAft>
                <a:spcPts val="800"/>
              </a:spcAft>
              <a:buSzPct val="100000"/>
              <a:buChar char="•"/>
            </a:pPr>
            <a:r>
              <a:rPr lang="en-US" sz="1700" dirty="0">
                <a:solidFill>
                  <a:srgbClr val="1B1F3B"/>
                </a:solidFill>
              </a:rPr>
              <a:t>Validated MICE (energy error -58% vs mean); outliers flagged, never dropped</a:t>
            </a:r>
            <a:endParaRPr lang="en-US" sz="1700" dirty="0"/>
          </a:p>
          <a:p>
            <a:pPr marL="228600" indent="-228600">
              <a:spcAft>
                <a:spcPts val="800"/>
              </a:spcAft>
              <a:buSzPct val="100000"/>
              <a:buChar char="•"/>
            </a:pPr>
            <a:r>
              <a:rPr lang="en-US" sz="1700" dirty="0">
                <a:solidFill>
                  <a:srgbClr val="1B1F3B"/>
                </a:solidFill>
              </a:rPr>
              <a:t>Embeddings on a 10,000-track genre-stratified sample; trends on canonical releases only</a:t>
            </a:r>
            <a:endParaRPr lang="en-US" sz="1700" dirty="0"/>
          </a:p>
          <a:p>
            <a:pPr marL="228600" indent="-228600">
              <a:spcAft>
                <a:spcPts val="800"/>
              </a:spcAft>
              <a:buSzPct val="100000"/>
              <a:buChar char="•"/>
            </a:pPr>
            <a:r>
              <a:rPr lang="en-US" sz="1700" dirty="0">
                <a:solidFill>
                  <a:srgbClr val="1B1F3B"/>
                </a:solidFill>
              </a:rPr>
              <a:t>Every number in documents comes from results.json (cross-checked by script)</a:t>
            </a:r>
            <a:endParaRPr lang="en-US" sz="17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KEY FINDINGS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Five findings, all measured</a:t>
            </a:r>
            <a:endParaRPr lang="en-US" sz="3000" dirty="0"/>
          </a:p>
        </p:txBody>
      </p:sp>
      <p:sp>
        <p:nvSpPr>
          <p:cNvPr id="4" name="Shape 2"/>
          <p:cNvSpPr/>
          <p:nvPr/>
        </p:nvSpPr>
        <p:spPr>
          <a:xfrm>
            <a:off x="457200" y="1417320"/>
            <a:ext cx="3291840" cy="1417320"/>
          </a:xfrm>
          <a:prstGeom prst="roundRect">
            <a:avLst>
              <a:gd name="adj" fmla="val 7742"/>
            </a:avLst>
          </a:prstGeom>
          <a:solidFill>
            <a:srgbClr val="EEF0F7"/>
          </a:solidFill>
          <a:ln w="12700">
            <a:solidFill>
              <a:srgbClr val="EEF0F7"/>
            </a:solidFill>
            <a:prstDash val="solid"/>
          </a:ln>
        </p:spPr>
      </p:sp>
      <p:sp>
        <p:nvSpPr>
          <p:cNvPr id="5" name="Text 3"/>
          <p:cNvSpPr txBox="1"/>
          <p:nvPr/>
        </p:nvSpPr>
        <p:spPr>
          <a:xfrm>
            <a:off x="594360" y="1527048"/>
            <a:ext cx="3017520" cy="685800"/>
          </a:xfrm>
          <a:prstGeom prst="rect">
            <a:avLst/>
          </a:prstGeom>
          <a:noFill/>
          <a:ln/>
        </p:spPr>
        <p:txBody>
          <a:bodyPr wrap="square" lIns="0" tIns="0" rIns="0" bIns="0" rtlCol="0" anchor="ctr"/>
          <a:lstStyle/>
          <a:p>
            <a:pPr indent="0" marL="0">
              <a:buNone/>
            </a:pPr>
            <a:r>
              <a:rPr lang="en-US" sz="2400" b="1" dirty="0">
                <a:solidFill>
                  <a:srgbClr val="1B1F3B"/>
                </a:solidFill>
              </a:rPr>
              <a:t>+7.8 dB</a:t>
            </a:r>
            <a:endParaRPr lang="en-US" sz="2400" dirty="0"/>
          </a:p>
        </p:txBody>
      </p:sp>
      <p:sp>
        <p:nvSpPr>
          <p:cNvPr id="6" name="Text 4"/>
          <p:cNvSpPr txBox="1"/>
          <p:nvPr/>
        </p:nvSpPr>
        <p:spPr>
          <a:xfrm>
            <a:off x="594360" y="2194560"/>
            <a:ext cx="3017520" cy="566928"/>
          </a:xfrm>
          <a:prstGeom prst="rect">
            <a:avLst/>
          </a:prstGeom>
          <a:noFill/>
          <a:ln/>
        </p:spPr>
        <p:txBody>
          <a:bodyPr wrap="square" lIns="0" tIns="0" rIns="0" bIns="0" rtlCol="0" anchor="t"/>
          <a:lstStyle/>
          <a:p>
            <a:pPr indent="0" marL="0">
              <a:buNone/>
            </a:pPr>
            <a:r>
              <a:rPr lang="en-US" sz="1400" dirty="0">
                <a:solidFill>
                  <a:srgbClr val="5B6178"/>
                </a:solidFill>
              </a:rPr>
              <a:t>louder music 1959-2020</a:t>
            </a:r>
            <a:endParaRPr lang="en-US" sz="1400" dirty="0"/>
          </a:p>
        </p:txBody>
      </p:sp>
      <p:sp>
        <p:nvSpPr>
          <p:cNvPr id="7" name="Shape 5"/>
          <p:cNvSpPr/>
          <p:nvPr/>
        </p:nvSpPr>
        <p:spPr>
          <a:xfrm>
            <a:off x="457200" y="2395728"/>
            <a:ext cx="3291840" cy="1417320"/>
          </a:xfrm>
          <a:prstGeom prst="roundRect">
            <a:avLst>
              <a:gd name="adj" fmla="val 7742"/>
            </a:avLst>
          </a:prstGeom>
          <a:solidFill>
            <a:srgbClr val="EEF0F7"/>
          </a:solidFill>
          <a:ln w="12700">
            <a:solidFill>
              <a:srgbClr val="EEF0F7"/>
            </a:solidFill>
            <a:prstDash val="solid"/>
          </a:ln>
        </p:spPr>
      </p:sp>
      <p:sp>
        <p:nvSpPr>
          <p:cNvPr id="8" name="Text 6"/>
          <p:cNvSpPr txBox="1"/>
          <p:nvPr/>
        </p:nvSpPr>
        <p:spPr>
          <a:xfrm>
            <a:off x="594360" y="2505456"/>
            <a:ext cx="3017520" cy="685800"/>
          </a:xfrm>
          <a:prstGeom prst="rect">
            <a:avLst/>
          </a:prstGeom>
          <a:noFill/>
          <a:ln/>
        </p:spPr>
        <p:txBody>
          <a:bodyPr wrap="square" lIns="0" tIns="0" rIns="0" bIns="0" rtlCol="0" anchor="ctr"/>
          <a:lstStyle/>
          <a:p>
            <a:pPr indent="0" marL="0">
              <a:buNone/>
            </a:pPr>
            <a:r>
              <a:rPr lang="en-US" sz="2400" b="1" dirty="0">
                <a:solidFill>
                  <a:srgbClr val="1B1F3B"/>
                </a:solidFill>
              </a:rPr>
              <a:t>r = 0.82</a:t>
            </a:r>
            <a:endParaRPr lang="en-US" sz="2400" dirty="0"/>
          </a:p>
        </p:txBody>
      </p:sp>
      <p:sp>
        <p:nvSpPr>
          <p:cNvPr id="9" name="Text 7"/>
          <p:cNvSpPr txBox="1"/>
          <p:nvPr/>
        </p:nvSpPr>
        <p:spPr>
          <a:xfrm>
            <a:off x="594360" y="3172968"/>
            <a:ext cx="3017520" cy="566928"/>
          </a:xfrm>
          <a:prstGeom prst="rect">
            <a:avLst/>
          </a:prstGeom>
          <a:noFill/>
          <a:ln/>
        </p:spPr>
        <p:txBody>
          <a:bodyPr wrap="square" lIns="0" tIns="0" rIns="0" bIns="0" rtlCol="0" anchor="t"/>
          <a:lstStyle/>
          <a:p>
            <a:pPr indent="0" marL="0">
              <a:buNone/>
            </a:pPr>
            <a:r>
              <a:rPr lang="en-US" sz="1400" dirty="0">
                <a:solidFill>
                  <a:srgbClr val="5B6178"/>
                </a:solidFill>
              </a:rPr>
              <a:t>loudness vs energy</a:t>
            </a:r>
            <a:endParaRPr lang="en-US" sz="1400" dirty="0"/>
          </a:p>
        </p:txBody>
      </p:sp>
      <p:sp>
        <p:nvSpPr>
          <p:cNvPr id="10" name="Shape 8"/>
          <p:cNvSpPr/>
          <p:nvPr/>
        </p:nvSpPr>
        <p:spPr>
          <a:xfrm>
            <a:off x="457200" y="3374136"/>
            <a:ext cx="3291840" cy="1417320"/>
          </a:xfrm>
          <a:prstGeom prst="roundRect">
            <a:avLst>
              <a:gd name="adj" fmla="val 7742"/>
            </a:avLst>
          </a:prstGeom>
          <a:solidFill>
            <a:srgbClr val="EEF0F7"/>
          </a:solidFill>
          <a:ln w="12700">
            <a:solidFill>
              <a:srgbClr val="EEF0F7"/>
            </a:solidFill>
            <a:prstDash val="solid"/>
          </a:ln>
        </p:spPr>
      </p:sp>
      <p:sp>
        <p:nvSpPr>
          <p:cNvPr id="11" name="Text 9"/>
          <p:cNvSpPr txBox="1"/>
          <p:nvPr/>
        </p:nvSpPr>
        <p:spPr>
          <a:xfrm>
            <a:off x="594360" y="3483864"/>
            <a:ext cx="3017520" cy="685800"/>
          </a:xfrm>
          <a:prstGeom prst="rect">
            <a:avLst/>
          </a:prstGeom>
          <a:noFill/>
          <a:ln/>
        </p:spPr>
        <p:txBody>
          <a:bodyPr wrap="square" lIns="0" tIns="0" rIns="0" bIns="0" rtlCol="0" anchor="ctr"/>
          <a:lstStyle/>
          <a:p>
            <a:pPr indent="0" marL="0">
              <a:buNone/>
            </a:pPr>
            <a:r>
              <a:rPr lang="en-US" sz="2400" b="1" dirty="0">
                <a:solidFill>
                  <a:srgbClr val="1B1F3B"/>
                </a:solidFill>
              </a:rPr>
              <a:t>42%</a:t>
            </a:r>
            <a:endParaRPr lang="en-US" sz="2400" dirty="0"/>
          </a:p>
        </p:txBody>
      </p:sp>
      <p:sp>
        <p:nvSpPr>
          <p:cNvPr id="12" name="Text 10"/>
          <p:cNvSpPr txBox="1"/>
          <p:nvPr/>
        </p:nvSpPr>
        <p:spPr>
          <a:xfrm>
            <a:off x="594360" y="4151376"/>
            <a:ext cx="3017520" cy="566928"/>
          </a:xfrm>
          <a:prstGeom prst="rect">
            <a:avLst/>
          </a:prstGeom>
          <a:noFill/>
          <a:ln/>
        </p:spPr>
        <p:txBody>
          <a:bodyPr wrap="square" lIns="0" tIns="0" rIns="0" bIns="0" rtlCol="0" anchor="t"/>
          <a:lstStyle/>
          <a:p>
            <a:pPr indent="0" marL="0">
              <a:buNone/>
            </a:pPr>
            <a:r>
              <a:rPr lang="en-US" sz="1400" dirty="0">
                <a:solidFill>
                  <a:srgbClr val="5B6178"/>
                </a:solidFill>
              </a:rPr>
              <a:t>of danceability explained by genre</a:t>
            </a:r>
            <a:endParaRPr lang="en-US" sz="1400" dirty="0"/>
          </a:p>
        </p:txBody>
      </p:sp>
      <p:sp>
        <p:nvSpPr>
          <p:cNvPr id="13" name="Shape 11"/>
          <p:cNvSpPr/>
          <p:nvPr/>
        </p:nvSpPr>
        <p:spPr>
          <a:xfrm>
            <a:off x="457200" y="4352544"/>
            <a:ext cx="3291840" cy="1417320"/>
          </a:xfrm>
          <a:prstGeom prst="roundRect">
            <a:avLst>
              <a:gd name="adj" fmla="val 7742"/>
            </a:avLst>
          </a:prstGeom>
          <a:solidFill>
            <a:srgbClr val="EEF0F7"/>
          </a:solidFill>
          <a:ln w="12700">
            <a:solidFill>
              <a:srgbClr val="EEF0F7"/>
            </a:solidFill>
            <a:prstDash val="solid"/>
          </a:ln>
        </p:spPr>
      </p:sp>
      <p:sp>
        <p:nvSpPr>
          <p:cNvPr id="14" name="Text 12"/>
          <p:cNvSpPr txBox="1"/>
          <p:nvPr/>
        </p:nvSpPr>
        <p:spPr>
          <a:xfrm>
            <a:off x="594360" y="4462272"/>
            <a:ext cx="3017520" cy="685800"/>
          </a:xfrm>
          <a:prstGeom prst="rect">
            <a:avLst/>
          </a:prstGeom>
          <a:noFill/>
          <a:ln/>
        </p:spPr>
        <p:txBody>
          <a:bodyPr wrap="square" lIns="0" tIns="0" rIns="0" bIns="0" rtlCol="0" anchor="ctr"/>
          <a:lstStyle/>
          <a:p>
            <a:pPr indent="0" marL="0">
              <a:buNone/>
            </a:pPr>
            <a:r>
              <a:rPr lang="en-US" sz="2400" b="1" dirty="0">
                <a:solidFill>
                  <a:srgbClr val="1B1F3B"/>
                </a:solidFill>
              </a:rPr>
              <a:t>0.976</a:t>
            </a:r>
            <a:endParaRPr lang="en-US" sz="2400" dirty="0"/>
          </a:p>
        </p:txBody>
      </p:sp>
      <p:sp>
        <p:nvSpPr>
          <p:cNvPr id="15" name="Text 13"/>
          <p:cNvSpPr txBox="1"/>
          <p:nvPr/>
        </p:nvSpPr>
        <p:spPr>
          <a:xfrm>
            <a:off x="594360" y="5129784"/>
            <a:ext cx="3017520" cy="566928"/>
          </a:xfrm>
          <a:prstGeom prst="rect">
            <a:avLst/>
          </a:prstGeom>
          <a:noFill/>
          <a:ln/>
        </p:spPr>
        <p:txBody>
          <a:bodyPr wrap="square" lIns="0" tIns="0" rIns="0" bIns="0" rtlCol="0" anchor="t"/>
          <a:lstStyle/>
          <a:p>
            <a:pPr indent="0" marL="0">
              <a:buNone/>
            </a:pPr>
            <a:r>
              <a:rPr lang="en-US" sz="1400" dirty="0">
                <a:solidFill>
                  <a:srgbClr val="5B6178"/>
                </a:solidFill>
              </a:rPr>
              <a:t>t-SNE trustworthiness (best)</a:t>
            </a:r>
            <a:endParaRPr lang="en-US" sz="1400" dirty="0"/>
          </a:p>
        </p:txBody>
      </p:sp>
      <p:sp>
        <p:nvSpPr>
          <p:cNvPr id="16" name="Shape 14"/>
          <p:cNvSpPr/>
          <p:nvPr/>
        </p:nvSpPr>
        <p:spPr>
          <a:xfrm>
            <a:off x="457200" y="5330952"/>
            <a:ext cx="3291840" cy="1417320"/>
          </a:xfrm>
          <a:prstGeom prst="roundRect">
            <a:avLst>
              <a:gd name="adj" fmla="val 7742"/>
            </a:avLst>
          </a:prstGeom>
          <a:solidFill>
            <a:srgbClr val="EEF0F7"/>
          </a:solidFill>
          <a:ln w="12700">
            <a:solidFill>
              <a:srgbClr val="EEF0F7"/>
            </a:solidFill>
            <a:prstDash val="solid"/>
          </a:ln>
        </p:spPr>
      </p:sp>
      <p:sp>
        <p:nvSpPr>
          <p:cNvPr id="17" name="Text 15"/>
          <p:cNvSpPr txBox="1"/>
          <p:nvPr/>
        </p:nvSpPr>
        <p:spPr>
          <a:xfrm>
            <a:off x="594360" y="5440680"/>
            <a:ext cx="3017520" cy="685800"/>
          </a:xfrm>
          <a:prstGeom prst="rect">
            <a:avLst/>
          </a:prstGeom>
          <a:noFill/>
          <a:ln/>
        </p:spPr>
        <p:txBody>
          <a:bodyPr wrap="square" lIns="0" tIns="0" rIns="0" bIns="0" rtlCol="0" anchor="ctr"/>
          <a:lstStyle/>
          <a:p>
            <a:pPr indent="0" marL="0">
              <a:buNone/>
            </a:pPr>
            <a:r>
              <a:rPr lang="en-US" sz="2400" b="1" dirty="0">
                <a:solidFill>
                  <a:srgbClr val="1B1F3B"/>
                </a:solidFill>
              </a:rPr>
              <a:t>r = 0.06</a:t>
            </a:r>
            <a:endParaRPr lang="en-US" sz="2400" dirty="0"/>
          </a:p>
        </p:txBody>
      </p:sp>
      <p:sp>
        <p:nvSpPr>
          <p:cNvPr id="18" name="Text 16"/>
          <p:cNvSpPr txBox="1"/>
          <p:nvPr/>
        </p:nvSpPr>
        <p:spPr>
          <a:xfrm>
            <a:off x="594360" y="6108192"/>
            <a:ext cx="3017520" cy="566928"/>
          </a:xfrm>
          <a:prstGeom prst="rect">
            <a:avLst/>
          </a:prstGeom>
          <a:noFill/>
          <a:ln/>
        </p:spPr>
        <p:txBody>
          <a:bodyPr wrap="square" lIns="0" tIns="0" rIns="0" bIns="0" rtlCol="0" anchor="t"/>
          <a:lstStyle/>
          <a:p>
            <a:pPr indent="0" marL="0">
              <a:buNone/>
            </a:pPr>
            <a:r>
              <a:rPr lang="en-US" sz="1400" dirty="0">
                <a:solidFill>
                  <a:srgbClr val="5B6178"/>
                </a:solidFill>
              </a:rPr>
              <a:t>lyric sentiment vs audio valence</a:t>
            </a:r>
            <a:endParaRPr lang="en-US" sz="1400" dirty="0"/>
          </a:p>
        </p:txBody>
      </p:sp>
      <p:pic>
        <p:nvPicPr>
          <p:cNvPr id="19" name="Image 0" descr="fig_06_06_decade_story.png">    </p:cNvPr>
          <p:cNvPicPr>
            <a:picLocks noChangeAspect="1"/>
          </p:cNvPicPr>
          <p:nvPr/>
        </p:nvPicPr>
        <p:blipFill>
          <a:blip r:embed="rId1"/>
          <a:stretch>
            <a:fillRect/>
          </a:stretch>
        </p:blipFill>
        <p:spPr>
          <a:xfrm>
            <a:off x="5240812" y="1417320"/>
            <a:ext cx="5246056" cy="2377440"/>
          </a:xfrm>
          <a:prstGeom prst="rect">
            <a:avLst/>
          </a:prstGeom>
        </p:spPr>
      </p:pic>
      <p:pic>
        <p:nvPicPr>
          <p:cNvPr id="20" name="Image 1" descr="fig_04_01_correlation_heatmaps.png">    </p:cNvPr>
          <p:cNvPicPr>
            <a:picLocks noChangeAspect="1"/>
          </p:cNvPicPr>
          <p:nvPr/>
        </p:nvPicPr>
        <p:blipFill>
          <a:blip r:embed="rId2"/>
          <a:stretch>
            <a:fillRect/>
          </a:stretch>
        </p:blipFill>
        <p:spPr>
          <a:xfrm>
            <a:off x="5183483" y="3931920"/>
            <a:ext cx="5360714" cy="2377440"/>
          </a:xfrm>
          <a:prstGeom prst="rect">
            <a:avLst/>
          </a:prstGeom>
        </p:spPr>
      </p:pic>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LIVE DEMO AND OUTCOME</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SonicAtlas live, plus an IEEE paper prepared for submission</a:t>
            </a:r>
            <a:endParaRPr lang="en-US" sz="3000" dirty="0"/>
          </a:p>
        </p:txBody>
      </p:sp>
      <p:sp>
        <p:nvSpPr>
          <p:cNvPr id="4" name="Shape 2"/>
          <p:cNvSpPr/>
          <p:nvPr/>
        </p:nvSpPr>
        <p:spPr>
          <a:xfrm>
            <a:off x="704088" y="1389888"/>
            <a:ext cx="2249424" cy="1426464"/>
          </a:xfrm>
          <a:prstGeom prst="rect">
            <a:avLst/>
          </a:prstGeom>
          <a:solidFill>
            <a:srgbClr val="FFFFFF"/>
          </a:solidFill>
          <a:ln w="9525">
            <a:solidFill>
              <a:srgbClr val="C9CDDB"/>
            </a:solidFill>
            <a:prstDash val="solid"/>
          </a:ln>
        </p:spPr>
      </p:sp>
      <p:pic>
        <p:nvPicPr>
          <p:cNvPr id="5" name="Image 0" descr="web_02b_query_studio_sql_light.png">    </p:cNvPr>
          <p:cNvPicPr>
            <a:picLocks noChangeAspect="1"/>
          </p:cNvPicPr>
          <p:nvPr/>
        </p:nvPicPr>
        <p:blipFill>
          <a:blip r:embed="rId1"/>
          <a:stretch>
            <a:fillRect/>
          </a:stretch>
        </p:blipFill>
        <p:spPr>
          <a:xfrm>
            <a:off x="731520" y="1417320"/>
            <a:ext cx="2194560" cy="1371600"/>
          </a:xfrm>
          <a:prstGeom prst="rect">
            <a:avLst/>
          </a:prstGeom>
        </p:spPr>
      </p:pic>
      <p:sp>
        <p:nvSpPr>
          <p:cNvPr id="6" name="Text 3"/>
          <p:cNvSpPr txBox="1"/>
          <p:nvPr/>
        </p:nvSpPr>
        <p:spPr>
          <a:xfrm>
            <a:off x="3337560" y="1874520"/>
            <a:ext cx="2011680" cy="457200"/>
          </a:xfrm>
          <a:prstGeom prst="rect">
            <a:avLst/>
          </a:prstGeom>
          <a:noFill/>
          <a:ln/>
        </p:spPr>
        <p:txBody>
          <a:bodyPr wrap="square" lIns="0" tIns="0" rIns="0" bIns="0" rtlCol="0" anchor="ctr"/>
          <a:lstStyle/>
          <a:p>
            <a:pPr indent="0" marL="0">
              <a:buNone/>
            </a:pPr>
            <a:r>
              <a:rPr lang="en-US" sz="1500" b="1" dirty="0">
                <a:solidFill>
                  <a:srgbClr val="1B1F3B"/>
                </a:solidFill>
              </a:rPr>
              <a:t>Query Studio</a:t>
            </a:r>
            <a:endParaRPr lang="en-US" sz="1500" dirty="0"/>
          </a:p>
        </p:txBody>
      </p:sp>
      <p:sp>
        <p:nvSpPr>
          <p:cNvPr id="7" name="Shape 4"/>
          <p:cNvSpPr/>
          <p:nvPr/>
        </p:nvSpPr>
        <p:spPr>
          <a:xfrm>
            <a:off x="704088" y="2990088"/>
            <a:ext cx="2249424" cy="1426464"/>
          </a:xfrm>
          <a:prstGeom prst="rect">
            <a:avLst/>
          </a:prstGeom>
          <a:solidFill>
            <a:srgbClr val="FFFFFF"/>
          </a:solidFill>
          <a:ln w="9525">
            <a:solidFill>
              <a:srgbClr val="C9CDDB"/>
            </a:solidFill>
            <a:prstDash val="solid"/>
          </a:ln>
        </p:spPr>
      </p:sp>
      <p:pic>
        <p:nvPicPr>
          <p:cNvPr id="8" name="Image 1" descr="web_03_acoustic_map_light.png">    </p:cNvPr>
          <p:cNvPicPr>
            <a:picLocks noChangeAspect="1"/>
          </p:cNvPicPr>
          <p:nvPr/>
        </p:nvPicPr>
        <p:blipFill>
          <a:blip r:embed="rId2"/>
          <a:stretch>
            <a:fillRect/>
          </a:stretch>
        </p:blipFill>
        <p:spPr>
          <a:xfrm>
            <a:off x="731520" y="3017520"/>
            <a:ext cx="2194560" cy="1371600"/>
          </a:xfrm>
          <a:prstGeom prst="rect">
            <a:avLst/>
          </a:prstGeom>
        </p:spPr>
      </p:pic>
      <p:sp>
        <p:nvSpPr>
          <p:cNvPr id="9" name="Text 5"/>
          <p:cNvSpPr txBox="1"/>
          <p:nvPr/>
        </p:nvSpPr>
        <p:spPr>
          <a:xfrm>
            <a:off x="3337560" y="3474720"/>
            <a:ext cx="2011680" cy="457200"/>
          </a:xfrm>
          <a:prstGeom prst="rect">
            <a:avLst/>
          </a:prstGeom>
          <a:noFill/>
          <a:ln/>
        </p:spPr>
        <p:txBody>
          <a:bodyPr wrap="square" lIns="0" tIns="0" rIns="0" bIns="0" rtlCol="0" anchor="ctr"/>
          <a:lstStyle/>
          <a:p>
            <a:pPr indent="0" marL="0">
              <a:buNone/>
            </a:pPr>
            <a:r>
              <a:rPr lang="en-US" sz="1500" b="1" dirty="0">
                <a:solidFill>
                  <a:srgbClr val="1B1F3B"/>
                </a:solidFill>
              </a:rPr>
              <a:t>Acoustic Map</a:t>
            </a:r>
            <a:endParaRPr lang="en-US" sz="1500" dirty="0"/>
          </a:p>
        </p:txBody>
      </p:sp>
      <p:sp>
        <p:nvSpPr>
          <p:cNvPr id="10" name="Shape 6"/>
          <p:cNvSpPr/>
          <p:nvPr/>
        </p:nvSpPr>
        <p:spPr>
          <a:xfrm>
            <a:off x="704088" y="4590288"/>
            <a:ext cx="2249424" cy="1426464"/>
          </a:xfrm>
          <a:prstGeom prst="rect">
            <a:avLst/>
          </a:prstGeom>
          <a:solidFill>
            <a:srgbClr val="FFFFFF"/>
          </a:solidFill>
          <a:ln w="9525">
            <a:solidFill>
              <a:srgbClr val="C9CDDB"/>
            </a:solidFill>
            <a:prstDash val="solid"/>
          </a:ln>
        </p:spPr>
      </p:sp>
      <p:pic>
        <p:nvPicPr>
          <p:cNvPr id="11" name="Image 2" descr="web_05_compare_light.png">    </p:cNvPr>
          <p:cNvPicPr>
            <a:picLocks noChangeAspect="1"/>
          </p:cNvPicPr>
          <p:nvPr/>
        </p:nvPicPr>
        <p:blipFill>
          <a:blip r:embed="rId3"/>
          <a:stretch>
            <a:fillRect/>
          </a:stretch>
        </p:blipFill>
        <p:spPr>
          <a:xfrm>
            <a:off x="731520" y="4617720"/>
            <a:ext cx="2194560" cy="1371600"/>
          </a:xfrm>
          <a:prstGeom prst="rect">
            <a:avLst/>
          </a:prstGeom>
        </p:spPr>
      </p:pic>
      <p:sp>
        <p:nvSpPr>
          <p:cNvPr id="12" name="Text 7"/>
          <p:cNvSpPr txBox="1"/>
          <p:nvPr/>
        </p:nvSpPr>
        <p:spPr>
          <a:xfrm>
            <a:off x="3337560" y="5074920"/>
            <a:ext cx="2011680" cy="457200"/>
          </a:xfrm>
          <a:prstGeom prst="rect">
            <a:avLst/>
          </a:prstGeom>
          <a:noFill/>
          <a:ln/>
        </p:spPr>
        <p:txBody>
          <a:bodyPr wrap="square" lIns="0" tIns="0" rIns="0" bIns="0" rtlCol="0" anchor="ctr"/>
          <a:lstStyle/>
          <a:p>
            <a:pPr indent="0" marL="0">
              <a:buNone/>
            </a:pPr>
            <a:r>
              <a:rPr lang="en-US" sz="1500" b="1" dirty="0">
                <a:solidFill>
                  <a:srgbClr val="1B1F3B"/>
                </a:solidFill>
              </a:rPr>
              <a:t>Compare</a:t>
            </a:r>
            <a:endParaRPr lang="en-US" sz="1500" dirty="0"/>
          </a:p>
        </p:txBody>
      </p:sp>
      <p:sp>
        <p:nvSpPr>
          <p:cNvPr id="13" name="Shape 8"/>
          <p:cNvSpPr/>
          <p:nvPr/>
        </p:nvSpPr>
        <p:spPr>
          <a:xfrm>
            <a:off x="5458968" y="1389888"/>
            <a:ext cx="2798064" cy="3934533"/>
          </a:xfrm>
          <a:prstGeom prst="rect">
            <a:avLst/>
          </a:prstGeom>
          <a:solidFill>
            <a:srgbClr val="FFFFFF"/>
          </a:solidFill>
          <a:ln w="9525">
            <a:solidFill>
              <a:srgbClr val="C9CDDB"/>
            </a:solidFill>
            <a:prstDash val="solid"/>
          </a:ln>
        </p:spPr>
      </p:sp>
      <p:pic>
        <p:nvPicPr>
          <p:cNvPr id="14" name="Image 3" descr="paper_page1.png">    </p:cNvPr>
          <p:cNvPicPr>
            <a:picLocks noChangeAspect="1"/>
          </p:cNvPicPr>
          <p:nvPr/>
        </p:nvPicPr>
        <p:blipFill>
          <a:blip r:embed="rId4"/>
          <a:stretch>
            <a:fillRect/>
          </a:stretch>
        </p:blipFill>
        <p:spPr>
          <a:xfrm>
            <a:off x="5486400" y="1417320"/>
            <a:ext cx="2743200" cy="3879669"/>
          </a:xfrm>
          <a:prstGeom prst="rect">
            <a:avLst/>
          </a:prstGeom>
        </p:spPr>
      </p:pic>
      <p:sp>
        <p:nvSpPr>
          <p:cNvPr id="15" name="Text 9"/>
          <p:cNvSpPr txBox="1"/>
          <p:nvPr/>
        </p:nvSpPr>
        <p:spPr>
          <a:xfrm>
            <a:off x="8503920" y="1417320"/>
            <a:ext cx="3200400" cy="32918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B1F3B"/>
                </a:solidFill>
              </a:rPr>
              <a:t>IEEE-format paper, 6 pages: prepared for submission</a:t>
            </a:r>
            <a:endParaRPr lang="en-US" sz="1400" dirty="0"/>
          </a:p>
          <a:p>
            <a:pPr marL="228600" indent="-228600">
              <a:spcAft>
                <a:spcPts val="800"/>
              </a:spcAft>
              <a:buSzPct val="100000"/>
              <a:buChar char="•"/>
            </a:pPr>
            <a:r>
              <a:rPr lang="en-US" sz="1400" dirty="0">
                <a:solidFill>
                  <a:srgbClr val="1B1F3B"/>
                </a:solidFill>
              </a:rPr>
              <a:t>Targets: IEEE CONECCT 2027, ISMIR, IEEE VIS</a:t>
            </a:r>
            <a:endParaRPr lang="en-US" sz="1400" dirty="0"/>
          </a:p>
          <a:p>
            <a:pPr marL="228600" indent="-228600">
              <a:spcAft>
                <a:spcPts val="800"/>
              </a:spcAft>
              <a:buSzPct val="100000"/>
              <a:buChar char="•"/>
            </a:pPr>
            <a:r>
              <a:rPr lang="en-US" sz="1400" dirty="0">
                <a:solidFill>
                  <a:srgbClr val="1B1F3B"/>
                </a:solidFill>
              </a:rPr>
              <a:t>GitHub: [GitHub Link]</a:t>
            </a:r>
            <a:endParaRPr lang="en-US" sz="1400" dirty="0"/>
          </a:p>
          <a:p>
            <a:pPr marL="228600" indent="-228600">
              <a:spcAft>
                <a:spcPts val="800"/>
              </a:spcAft>
              <a:buSzPct val="100000"/>
              <a:buChar char="•"/>
            </a:pPr>
            <a:r>
              <a:rPr lang="en-US" sz="1400" dirty="0">
                <a:solidFill>
                  <a:srgbClr val="1B1F3B"/>
                </a:solidFill>
              </a:rPr>
              <a:t>Live: [Live Website Link]</a:t>
            </a:r>
            <a:endParaRPr lang="en-US" sz="14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CONCLUSION, FUTURE WORK AND REFERENCES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Louder, less acoustic, and more than genre alone</a:t>
            </a:r>
            <a:endParaRPr lang="en-US" sz="3000" dirty="0"/>
          </a:p>
        </p:txBody>
      </p:sp>
      <p:sp>
        <p:nvSpPr>
          <p:cNvPr id="4" name="Shape 2"/>
          <p:cNvSpPr/>
          <p:nvPr/>
        </p:nvSpPr>
        <p:spPr>
          <a:xfrm>
            <a:off x="457200" y="1554480"/>
            <a:ext cx="3657600" cy="4480560"/>
          </a:xfrm>
          <a:prstGeom prst="roundRect">
            <a:avLst>
              <a:gd name="adj" fmla="val 3000"/>
            </a:avLst>
          </a:prstGeom>
          <a:solidFill>
            <a:srgbClr val="EEF0F7"/>
          </a:solidFill>
          <a:ln w="12700">
            <a:solidFill>
              <a:srgbClr val="EEF0F7"/>
            </a:solidFill>
            <a:prstDash val="solid"/>
          </a:ln>
        </p:spPr>
      </p:sp>
      <p:sp>
        <p:nvSpPr>
          <p:cNvPr id="5" name="Text 3"/>
          <p:cNvSpPr txBox="1"/>
          <p:nvPr/>
        </p:nvSpPr>
        <p:spPr>
          <a:xfrm>
            <a:off x="640080" y="1664208"/>
            <a:ext cx="3291840" cy="411480"/>
          </a:xfrm>
          <a:prstGeom prst="rect">
            <a:avLst/>
          </a:prstGeom>
          <a:noFill/>
          <a:ln/>
        </p:spPr>
        <p:txBody>
          <a:bodyPr wrap="square" lIns="0" tIns="0" rIns="0" bIns="0" rtlCol="0" anchor="ctr"/>
          <a:lstStyle/>
          <a:p>
            <a:pPr indent="0" marL="0">
              <a:buNone/>
            </a:pPr>
            <a:r>
              <a:rPr lang="en-US" sz="1800" b="1" dirty="0">
                <a:solidFill>
                  <a:srgbClr val="1B1F3B"/>
                </a:solidFill>
              </a:rPr>
              <a:t>Conclusion</a:t>
            </a:r>
            <a:endParaRPr lang="en-US" sz="1800" dirty="0"/>
          </a:p>
        </p:txBody>
      </p:sp>
      <p:sp>
        <p:nvSpPr>
          <p:cNvPr id="6" name="Text 4"/>
          <p:cNvSpPr txBox="1"/>
          <p:nvPr/>
        </p:nvSpPr>
        <p:spPr>
          <a:xfrm>
            <a:off x="640080" y="2103120"/>
            <a:ext cx="3291840" cy="384048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Careful cleaning matters; music got louder and less acoustic; genre explains 42% of danceability but overlaps in every map; lyrics and sound carry different moods.</a:t>
            </a:r>
            <a:endParaRPr lang="en-US" sz="1600" dirty="0"/>
          </a:p>
        </p:txBody>
      </p:sp>
      <p:sp>
        <p:nvSpPr>
          <p:cNvPr id="7" name="Shape 5"/>
          <p:cNvSpPr/>
          <p:nvPr/>
        </p:nvSpPr>
        <p:spPr>
          <a:xfrm>
            <a:off x="4297680" y="1554480"/>
            <a:ext cx="3657600" cy="4480560"/>
          </a:xfrm>
          <a:prstGeom prst="roundRect">
            <a:avLst>
              <a:gd name="adj" fmla="val 3000"/>
            </a:avLst>
          </a:prstGeom>
          <a:solidFill>
            <a:srgbClr val="EEF0F7"/>
          </a:solidFill>
          <a:ln w="12700">
            <a:solidFill>
              <a:srgbClr val="EEF0F7"/>
            </a:solidFill>
            <a:prstDash val="solid"/>
          </a:ln>
        </p:spPr>
      </p:sp>
      <p:sp>
        <p:nvSpPr>
          <p:cNvPr id="8" name="Text 6"/>
          <p:cNvSpPr txBox="1"/>
          <p:nvPr/>
        </p:nvSpPr>
        <p:spPr>
          <a:xfrm>
            <a:off x="4480560" y="1664208"/>
            <a:ext cx="3291840" cy="411480"/>
          </a:xfrm>
          <a:prstGeom prst="rect">
            <a:avLst/>
          </a:prstGeom>
          <a:noFill/>
          <a:ln/>
        </p:spPr>
        <p:txBody>
          <a:bodyPr wrap="square" lIns="0" tIns="0" rIns="0" bIns="0" rtlCol="0" anchor="ctr"/>
          <a:lstStyle/>
          <a:p>
            <a:pPr indent="0" marL="0">
              <a:buNone/>
            </a:pPr>
            <a:r>
              <a:rPr lang="en-US" sz="1800" b="1" dirty="0">
                <a:solidFill>
                  <a:srgbClr val="1B1F3B"/>
                </a:solidFill>
              </a:rPr>
              <a:t>Limitations</a:t>
            </a:r>
            <a:endParaRPr lang="en-US" sz="1800" dirty="0"/>
          </a:p>
        </p:txBody>
      </p:sp>
      <p:sp>
        <p:nvSpPr>
          <p:cNvPr id="9" name="Text 7"/>
          <p:cNvSpPr txBox="1"/>
          <p:nvPr/>
        </p:nvSpPr>
        <p:spPr>
          <a:xfrm>
            <a:off x="4480560" y="2103120"/>
            <a:ext cx="3291840" cy="384048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Spotify features are model-derived; catalogue favours recent years; genre join only 10.7%; English-only lyrics; the 2020s have one year.</a:t>
            </a:r>
            <a:endParaRPr lang="en-US" sz="1600" dirty="0"/>
          </a:p>
        </p:txBody>
      </p:sp>
      <p:sp>
        <p:nvSpPr>
          <p:cNvPr id="10" name="Shape 8"/>
          <p:cNvSpPr/>
          <p:nvPr/>
        </p:nvSpPr>
        <p:spPr>
          <a:xfrm>
            <a:off x="8138160" y="1554480"/>
            <a:ext cx="3566160" cy="2103120"/>
          </a:xfrm>
          <a:prstGeom prst="roundRect">
            <a:avLst>
              <a:gd name="adj" fmla="val 5217"/>
            </a:avLst>
          </a:prstGeom>
          <a:solidFill>
            <a:srgbClr val="EEF0F7"/>
          </a:solidFill>
          <a:ln w="12700">
            <a:solidFill>
              <a:srgbClr val="EEF0F7"/>
            </a:solidFill>
            <a:prstDash val="solid"/>
          </a:ln>
        </p:spPr>
      </p:sp>
      <p:sp>
        <p:nvSpPr>
          <p:cNvPr id="11" name="Text 9"/>
          <p:cNvSpPr txBox="1"/>
          <p:nvPr/>
        </p:nvSpPr>
        <p:spPr>
          <a:xfrm>
            <a:off x="8321040" y="1664208"/>
            <a:ext cx="3200400" cy="411480"/>
          </a:xfrm>
          <a:prstGeom prst="rect">
            <a:avLst/>
          </a:prstGeom>
          <a:noFill/>
          <a:ln/>
        </p:spPr>
        <p:txBody>
          <a:bodyPr wrap="square" lIns="0" tIns="0" rIns="0" bIns="0" rtlCol="0" anchor="ctr"/>
          <a:lstStyle/>
          <a:p>
            <a:pPr indent="0" marL="0">
              <a:buNone/>
            </a:pPr>
            <a:r>
              <a:rPr lang="en-US" sz="1800" b="1" dirty="0">
                <a:solidFill>
                  <a:srgbClr val="1B1F3B"/>
                </a:solidFill>
              </a:rPr>
              <a:t>Future work</a:t>
            </a:r>
            <a:endParaRPr lang="en-US" sz="1800" dirty="0"/>
          </a:p>
        </p:txBody>
      </p:sp>
      <p:sp>
        <p:nvSpPr>
          <p:cNvPr id="12" name="Text 10"/>
          <p:cNvSpPr txBox="1"/>
          <p:nvPr/>
        </p:nvSpPr>
        <p:spPr>
          <a:xfrm>
            <a:off x="8321040" y="2103120"/>
            <a:ext cx="3200400" cy="146304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Open audio features, multilingual lyrics, user study.</a:t>
            </a:r>
            <a:endParaRPr lang="en-US" sz="1600" dirty="0"/>
          </a:p>
        </p:txBody>
      </p:sp>
      <p:sp>
        <p:nvSpPr>
          <p:cNvPr id="13" name="Text 11"/>
          <p:cNvSpPr txBox="1"/>
          <p:nvPr/>
        </p:nvSpPr>
        <p:spPr>
          <a:xfrm>
            <a:off x="8138160" y="3840480"/>
            <a:ext cx="3566160" cy="2286000"/>
          </a:xfrm>
          <a:prstGeom prst="rect">
            <a:avLst/>
          </a:prstGeom>
          <a:noFill/>
          <a:ln/>
        </p:spPr>
        <p:txBody>
          <a:bodyPr wrap="square" lIns="0" tIns="0" rIns="0" bIns="0" rtlCol="0" anchor="t"/>
          <a:lstStyle/>
          <a:p>
            <a:pPr indent="0" marL="0">
              <a:buNone/>
            </a:pPr>
            <a:r>
              <a:rPr lang="en-US" sz="1100" dirty="0">
                <a:solidFill>
                  <a:srgbClr val="5B6178"/>
                </a:solidFill>
              </a:rPr>
              <a:t>[9] J. Serrà et al. (2012), Measuring the Evolution of Contemporary Western Popular Music</a:t>
            </a:r>
            <a:endParaRPr lang="en-US" sz="1100" dirty="0"/>
          </a:p>
          <a:p>
            <a:pPr indent="0" marL="0">
              <a:buNone/>
            </a:pPr>
            <a:r>
              <a:rPr lang="en-US" sz="1100" dirty="0">
                <a:solidFill>
                  <a:srgbClr val="5B6178"/>
                </a:solidFill>
              </a:rPr>
              <a:t>[11] C. Hutto et al. (2014), VADER: A Parsimonious Rule-Based Model for Sentiment Analysis of Social Media Text</a:t>
            </a:r>
            <a:endParaRPr lang="en-US" sz="1100" dirty="0"/>
          </a:p>
          <a:p>
            <a:pPr indent="0" marL="0">
              <a:buNone/>
            </a:pPr>
            <a:r>
              <a:rPr lang="en-US" sz="1100" dirty="0">
                <a:solidFill>
                  <a:srgbClr val="5B6178"/>
                </a:solidFill>
              </a:rPr>
              <a:t>[16] L. van der Maaten et al. (2008), Visualizing Data using t-SNE</a:t>
            </a:r>
            <a:endParaRPr lang="en-US" sz="1100" dirty="0"/>
          </a:p>
          <a:p>
            <a:pPr indent="0" marL="0">
              <a:buNone/>
            </a:pPr>
            <a:r>
              <a:rPr lang="en-US" sz="1100" dirty="0">
                <a:solidFill>
                  <a:srgbClr val="5B6178"/>
                </a:solidFill>
              </a:rPr>
              <a:t>[25] D. H. da Silva et al. (2025), A Web Application for exploratory data analysis and classification of Parkinson's Disease patients using machine learning models on different datasets</a:t>
            </a:r>
            <a:endParaRPr lang="en-US" sz="11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Vellore Institute of Technology, Vellore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SonicAtlas: An Interactive In-Browser EDA Platform for Spotify Audio Features and Lyrics Across Genres and Eras</dc:title>
  <dc:subject>BACSE301 EDA - Final presentation, Team 05</dc:subject>
  <dc:creator>Sharvesh Prabhu (25BDS0318), Nithin S (25BDS0308)</dc:creator>
  <cp:lastModifiedBy>Sharvesh Prabhu (25BDS0318), Nithin S (25BDS0308)</cp:lastModifiedBy>
  <cp:revision>1</cp:revision>
  <dcterms:created xsi:type="dcterms:W3CDTF">2026-10-20T11:23:05Z</dcterms:created>
  <dcterms:modified xsi:type="dcterms:W3CDTF">2026-10-20T11:23:05Z</dcterms:modified>
</cp:coreProperties>
</file>